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D385_341AB173.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FFD39C_9A155456.xml" ContentType="application/vnd.ms-powerpoint.comments+xml"/>
  <Override PartName="/ppt/notesSlides/notesSlide7.xml" ContentType="application/vnd.openxmlformats-officedocument.presentationml.notesSlide+xml"/>
  <Override PartName="/ppt/comments/modernComment_7FFFD3A3_9D976FE6.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4"/>
  </p:sldMasterIdLst>
  <p:notesMasterIdLst>
    <p:notesMasterId r:id="rId22"/>
  </p:notesMasterIdLst>
  <p:sldIdLst>
    <p:sldId id="2147472210" r:id="rId5"/>
    <p:sldId id="2147472259" r:id="rId6"/>
    <p:sldId id="2147472260" r:id="rId7"/>
    <p:sldId id="2147472261" r:id="rId8"/>
    <p:sldId id="2147472338" r:id="rId9"/>
    <p:sldId id="2147472342" r:id="rId10"/>
    <p:sldId id="2147472341" r:id="rId11"/>
    <p:sldId id="2147472286" r:id="rId12"/>
    <p:sldId id="2147472284" r:id="rId13"/>
    <p:sldId id="2147472291" r:id="rId14"/>
    <p:sldId id="2147472339" r:id="rId15"/>
    <p:sldId id="2147472293" r:id="rId16"/>
    <p:sldId id="2147472340" r:id="rId17"/>
    <p:sldId id="2147472283" r:id="rId18"/>
    <p:sldId id="2147472337" r:id="rId19"/>
    <p:sldId id="276" r:id="rId20"/>
    <p:sldId id="2147472228" r:id="rId21"/>
  </p:sldIdLst>
  <p:sldSz cx="30967363" cy="17419638"/>
  <p:notesSz cx="7315200" cy="9601200"/>
  <p:embeddedFontLst>
    <p:embeddedFont>
      <p:font typeface="DM Sans" pitchFamily="2"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jbDex1aMjUatLrNIa8mM295FeS2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E273403-2BE3-1747-77D7-A4C9A485EA99}" name="Diem Vo Tuan Ngoc" initials="DV" userId="S::Diemvtn@vietsol.com.vn::d65346b3-b538-4dae-adff-45e543844127" providerId="AD"/>
  <p188:author id="{09580336-96F8-F825-AD44-41B0D817ECDA}" name="Tuan Nguyen Quoc" initials="" userId="S::bod@vietsol.com.vn::9a7b9901-240c-4eb5-99cd-9bce0c667eab" providerId="AD"/>
  <p188:author id="{3BD7A05E-4F22-348A-60CC-F08386C9C5AC}" name="Lam Nguyen Tung" initials="" userId="S::Lamnt@vietsol.com.vn::82e36837-873c-49e5-87dc-8edffde5ed9c" providerId="AD"/>
  <p188:author id="{994DAFA0-C63B-C3A3-6E24-E8195DADB6B3}" name="Diem Vo Tuan Ngoc" initials="DN" userId="S::diemvtn@vietsol.com.vn::d65346b3-b538-4dae-adff-45e543844127" providerId="AD"/>
  <p188:author id="{EE9E94AC-0CB9-D95E-861D-14FFE721E8A9}" name="Son Le" initials="SL" userId="S::Sonlq@vietsol.com.vn::6959afa5-ab9b-4bd6-ace1-edaa9d0db348" providerId="AD"/>
  <p188:author id="{2AB662D4-9F00-3943-46C2-8494C5AD5FD6}" name="Khanh Hoa Quoc" initials="KH" userId="S::Khanhhq@vietsol.com.vn::8bec4022-8824-460c-8234-fc206400f7f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91E28"/>
    <a:srgbClr val="BC182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D43D2E-AD72-4A2E-8A5C-4C8CC7A3D258}" v="222" dt="2026-03-16T12:57:16.583"/>
    <p1510:client id="{AA0CEA5E-A74B-87A8-6C93-9C1D3DF8FF30}" v="3" dt="2026-03-16T07:54:33.163"/>
    <p1510:client id="{AAA70578-7722-0297-7D1A-3ED75F4F79C7}" v="5" dt="2026-03-16T07:21:27.236"/>
  </p1510:revLst>
</p1510:revInfo>
</file>

<file path=ppt/tableStyles.xml><?xml version="1.0" encoding="utf-8"?>
<a:tblStyleLst xmlns:a="http://schemas.openxmlformats.org/drawingml/2006/main" def="{1CCD2887-DD57-4536-9D28-2682D5D80FA2}">
  <a:tblStyle styleId="{1CCD2887-DD57-4536-9D28-2682D5D80FA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 styleId="{3E93FC73-C9D8-4309-9950-21C27D8573AF}"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62" autoAdjust="0"/>
    <p:restoredTop sz="94660"/>
  </p:normalViewPr>
  <p:slideViewPr>
    <p:cSldViewPr snapToGrid="0">
      <p:cViewPr varScale="1">
        <p:scale>
          <a:sx n="30" d="100"/>
          <a:sy n="30" d="100"/>
        </p:scale>
        <p:origin x="19"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21" Type="http://schemas.openxmlformats.org/officeDocument/2006/relationships/slide" Target="slides/slide17.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53"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48" Type="http://customschemas.google.com/relationships/presentationmetadata" Target="metadata"/><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s>
</file>

<file path=ppt/comments/modernComment_7FFFD3A3_9D976FE6.xml><?xml version="1.0" encoding="utf-8"?>
<p188:cmLst xmlns:a="http://schemas.openxmlformats.org/drawingml/2006/main" xmlns:r="http://schemas.openxmlformats.org/officeDocument/2006/relationships" xmlns:p188="http://schemas.microsoft.com/office/powerpoint/2018/8/main">
  <p188:cm id="{3F27CDA5-B0D0-4BD1-BFD5-93388ADF2521}" authorId="{09580336-96F8-F825-AD44-41B0D817ECDA}" status="resolved" created="2026-01-15T03:00:08.041">
    <pc:sldMkLst xmlns:pc="http://schemas.microsoft.com/office/powerpoint/2013/main/command">
      <pc:docMk/>
      <pc:sldMk cId="2643947494" sldId="2147472291"/>
    </pc:sldMkLst>
    <p188:txBody>
      <a:bodyPr/>
      <a:lstStyle/>
      <a:p>
        <a:r>
          <a:rPr lang="en-US"/>
          <a:t>[@Lam Nguyen Tung] 
[@Diem Vo Tuan Ngoc]  bổ sung nếu thiếu</a:t>
        </a:r>
      </a:p>
    </p188:txBody>
  </p188:cm>
  <p188:cm id="{34972084-8FF9-4A4F-97EE-2B26A6E61AF2}" authorId="{EE9E94AC-0CB9-D95E-861D-14FFE721E8A9}" status="resolved" created="2026-03-11T15:34:38.485">
    <pc:sldMkLst xmlns:pc="http://schemas.microsoft.com/office/powerpoint/2013/main/command">
      <pc:docMk/>
      <pc:sldMk cId="2643947494" sldId="2147472291"/>
    </pc:sldMkLst>
    <p188:replyLst>
      <p188:reply id="{874CF985-A0BE-443B-A9AD-DF66A0D67479}" authorId="{994DAFA0-C63B-C3A3-6E24-E8195DADB6B3}" created="2026-03-11T15:57:03.361">
        <p188:txBody>
          <a:bodyPr/>
          <a:lstStyle/>
          <a:p>
            <a:r>
              <a:rPr lang="en-US"/>
              <a:t>em add thông tin vào slide 7 ạ</a:t>
            </a:r>
          </a:p>
        </p188:txBody>
      </p188:reply>
    </p188:replyLst>
    <p188:txBody>
      <a:bodyPr/>
      <a:lstStyle/>
      <a:p>
        <a:r>
          <a:rPr lang="en-VN"/>
          <a:t>như phản hồi của PP, Vietsol cần đưa rõ tốc độ của hệ thống bao gồm Automation để họ tính toán công suất, hiện tại bên họ đang tạm tính như sau:
Tốc độ: 20m/1' , chiều dài trung bình của khăn là 0,5m --&gt; 1' là 40 khăn. Tổng khăn = 40 x 60x 20=48,000 khăn /1 ngày/1 hệ
Vậy của Vietsol estimation thế nào add vào file cho anh nhé
[@Diem Vo Tuan Ngoc], [@Lam Nguyen Tung], [@Jolie Nguyen]; [@Tuan Nguyen Quoc]</a:t>
        </a:r>
      </a:p>
    </p188:txBody>
  </p188:cm>
</p188:cmLst>
</file>

<file path=ppt/comments/modernComment_7FFFD39C_9A155456.xml><?xml version="1.0" encoding="utf-8"?>
<p188:cmLst xmlns:a="http://schemas.openxmlformats.org/drawingml/2006/main" xmlns:r="http://schemas.openxmlformats.org/officeDocument/2006/relationships" xmlns:p188="http://schemas.microsoft.com/office/powerpoint/2018/8/main">
  <p188:cm id="{5107ED0C-99AE-4654-9083-02D3D3BC500C}" authorId="{9E273403-2BE3-1747-77D7-A4C9A485EA99}" created="2026-03-16T11:05:21.156">
    <pc:sldMkLst xmlns:pc="http://schemas.microsoft.com/office/powerpoint/2013/main/command">
      <pc:docMk/>
      <pc:sldMk cId="2585089110" sldId="2147472284"/>
    </pc:sldMkLst>
    <p188:txBody>
      <a:bodyPr/>
      <a:lstStyle/>
      <a:p>
        <a:r>
          <a:rPr lang="en-US"/>
          <a:t>[@Khanh Hoa Quoc] confirm thông tin sheet này nhé, add thêm dùm box size (estimated)</a:t>
        </a:r>
      </a:p>
    </p188:txBody>
  </p188:cm>
</p188:cmLst>
</file>

<file path=ppt/comments/modernComment_7FFFD385_341AB173.xml><?xml version="1.0" encoding="utf-8"?>
<p188:cmLst xmlns:a="http://schemas.openxmlformats.org/drawingml/2006/main" xmlns:r="http://schemas.openxmlformats.org/officeDocument/2006/relationships" xmlns:p188="http://schemas.microsoft.com/office/powerpoint/2018/8/main">
  <p188:cm id="{DE4FA398-A2AA-4F4B-B376-6E1A89C81C32}" authorId="{9E273403-2BE3-1747-77D7-A4C9A485EA99}" created="2026-03-16T12:51:13.634">
    <ac:deMkLst xmlns:ac="http://schemas.microsoft.com/office/drawing/2013/main/command">
      <pc:docMk xmlns:pc="http://schemas.microsoft.com/office/powerpoint/2013/main/command"/>
      <pc:sldMk xmlns:pc="http://schemas.microsoft.com/office/powerpoint/2013/main/command" cId="874164595" sldId="2147472261"/>
      <ac:graphicFrameMk id="3" creationId="{BBF1AE1C-A2B8-0866-4A18-4F3C1816B810}"/>
    </ac:deMkLst>
    <p188:txBody>
      <a:bodyPr/>
      <a:lstStyle/>
      <a:p>
        <a:r>
          <a:rPr lang="en-US"/>
          <a:t>[@Nguyen Thanh Trung] requirement này khách hàng không có tiêu chí cụ thể. Mình đặt internal target sao ạ? (Khách hàng ưu tiên Latency là 1st priority, Accuracy 2nd)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cdd8378a1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2cdd8378a1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cd193ef60f_0_3317: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1" name="Google Shape;291;g2cd193ef60f_0_331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4698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83B3ECF0-1911-076D-5A4D-C4E3A88CF5ED}"/>
            </a:ext>
          </a:extLst>
        </p:cNvPr>
        <p:cNvGrpSpPr/>
        <p:nvPr/>
      </p:nvGrpSpPr>
      <p:grpSpPr>
        <a:xfrm>
          <a:off x="0" y="0"/>
          <a:ext cx="0" cy="0"/>
          <a:chOff x="0" y="0"/>
          <a:chExt cx="0" cy="0"/>
        </a:xfrm>
      </p:grpSpPr>
      <p:sp>
        <p:nvSpPr>
          <p:cNvPr id="293" name="Google Shape;293;g2cdd8378a1b_0_42:notes">
            <a:extLst>
              <a:ext uri="{FF2B5EF4-FFF2-40B4-BE49-F238E27FC236}">
                <a16:creationId xmlns:a16="http://schemas.microsoft.com/office/drawing/2014/main" id="{5A947E62-7E78-9DB3-62EF-9C0EA7BF2D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2cdd8378a1b_0_42:notes">
            <a:extLst>
              <a:ext uri="{FF2B5EF4-FFF2-40B4-BE49-F238E27FC236}">
                <a16:creationId xmlns:a16="http://schemas.microsoft.com/office/drawing/2014/main" id="{29E85B69-C83C-060E-C781-CB95D09863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6385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A56A132A-71B1-1B4A-7458-6B837F1B8213}"/>
            </a:ext>
          </a:extLst>
        </p:cNvPr>
        <p:cNvGrpSpPr/>
        <p:nvPr/>
      </p:nvGrpSpPr>
      <p:grpSpPr>
        <a:xfrm>
          <a:off x="0" y="0"/>
          <a:ext cx="0" cy="0"/>
          <a:chOff x="0" y="0"/>
          <a:chExt cx="0" cy="0"/>
        </a:xfrm>
      </p:grpSpPr>
      <p:sp>
        <p:nvSpPr>
          <p:cNvPr id="293" name="Google Shape;293;g2cdd8378a1b_0_42:notes">
            <a:extLst>
              <a:ext uri="{FF2B5EF4-FFF2-40B4-BE49-F238E27FC236}">
                <a16:creationId xmlns:a16="http://schemas.microsoft.com/office/drawing/2014/main" id="{BE8306A9-CD3C-383D-8D37-981F30EC0F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2cdd8378a1b_0_42:notes">
            <a:extLst>
              <a:ext uri="{FF2B5EF4-FFF2-40B4-BE49-F238E27FC236}">
                <a16:creationId xmlns:a16="http://schemas.microsoft.com/office/drawing/2014/main" id="{92A1D092-574B-4CDD-6B6B-4C2D9A4D49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433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A3D50C2A-64B9-E13B-C17C-06BDB0501575}"/>
            </a:ext>
          </a:extLst>
        </p:cNvPr>
        <p:cNvGrpSpPr/>
        <p:nvPr/>
      </p:nvGrpSpPr>
      <p:grpSpPr>
        <a:xfrm>
          <a:off x="0" y="0"/>
          <a:ext cx="0" cy="0"/>
          <a:chOff x="0" y="0"/>
          <a:chExt cx="0" cy="0"/>
        </a:xfrm>
      </p:grpSpPr>
      <p:sp>
        <p:nvSpPr>
          <p:cNvPr id="290" name="Google Shape;290;g2cd193ef60f_0_3317:notes">
            <a:extLst>
              <a:ext uri="{FF2B5EF4-FFF2-40B4-BE49-F238E27FC236}">
                <a16:creationId xmlns:a16="http://schemas.microsoft.com/office/drawing/2014/main" id="{CC70364A-ED1F-B684-DD1D-6B0FBA65B353}"/>
              </a:ext>
            </a:extLst>
          </p:cNvPr>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1" name="Google Shape;291;g2cd193ef60f_0_3317:notes">
            <a:extLst>
              <a:ext uri="{FF2B5EF4-FFF2-40B4-BE49-F238E27FC236}">
                <a16:creationId xmlns:a16="http://schemas.microsoft.com/office/drawing/2014/main" id="{0CEEE954-1EBA-3634-B5F4-4757DD49BBB9}"/>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6308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09293842-BF3E-9173-452A-78FB5AF93EFC}"/>
            </a:ext>
          </a:extLst>
        </p:cNvPr>
        <p:cNvGrpSpPr/>
        <p:nvPr/>
      </p:nvGrpSpPr>
      <p:grpSpPr>
        <a:xfrm>
          <a:off x="0" y="0"/>
          <a:ext cx="0" cy="0"/>
          <a:chOff x="0" y="0"/>
          <a:chExt cx="0" cy="0"/>
        </a:xfrm>
      </p:grpSpPr>
      <p:sp>
        <p:nvSpPr>
          <p:cNvPr id="290" name="Google Shape;290;g2cd193ef60f_0_3317:notes">
            <a:extLst>
              <a:ext uri="{FF2B5EF4-FFF2-40B4-BE49-F238E27FC236}">
                <a16:creationId xmlns:a16="http://schemas.microsoft.com/office/drawing/2014/main" id="{7A9AEF3F-1058-F659-42B6-D63F234FE6AD}"/>
              </a:ext>
            </a:extLst>
          </p:cNvPr>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1" name="Google Shape;291;g2cd193ef60f_0_3317:notes">
            <a:extLst>
              <a:ext uri="{FF2B5EF4-FFF2-40B4-BE49-F238E27FC236}">
                <a16:creationId xmlns:a16="http://schemas.microsoft.com/office/drawing/2014/main" id="{A4B8E7C0-AB0E-B969-A73D-E2175F37CA5B}"/>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56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32BE802E-439D-C57F-1BC5-F58E0F552F02}"/>
            </a:ext>
          </a:extLst>
        </p:cNvPr>
        <p:cNvGrpSpPr/>
        <p:nvPr/>
      </p:nvGrpSpPr>
      <p:grpSpPr>
        <a:xfrm>
          <a:off x="0" y="0"/>
          <a:ext cx="0" cy="0"/>
          <a:chOff x="0" y="0"/>
          <a:chExt cx="0" cy="0"/>
        </a:xfrm>
      </p:grpSpPr>
      <p:sp>
        <p:nvSpPr>
          <p:cNvPr id="293" name="Google Shape;293;g2cdd8378a1b_0_42:notes">
            <a:extLst>
              <a:ext uri="{FF2B5EF4-FFF2-40B4-BE49-F238E27FC236}">
                <a16:creationId xmlns:a16="http://schemas.microsoft.com/office/drawing/2014/main" id="{E2203171-3ABD-FC76-01BD-4FB19E2776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2cdd8378a1b_0_42:notes">
            <a:extLst>
              <a:ext uri="{FF2B5EF4-FFF2-40B4-BE49-F238E27FC236}">
                <a16:creationId xmlns:a16="http://schemas.microsoft.com/office/drawing/2014/main" id="{82B14EA0-685A-D76A-D7D0-1E165CAD2A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736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D1FEA5BC-FE90-B044-841E-70BB6475AD7A}"/>
            </a:ext>
          </a:extLst>
        </p:cNvPr>
        <p:cNvGrpSpPr/>
        <p:nvPr/>
      </p:nvGrpSpPr>
      <p:grpSpPr>
        <a:xfrm>
          <a:off x="0" y="0"/>
          <a:ext cx="0" cy="0"/>
          <a:chOff x="0" y="0"/>
          <a:chExt cx="0" cy="0"/>
        </a:xfrm>
      </p:grpSpPr>
      <p:sp>
        <p:nvSpPr>
          <p:cNvPr id="290" name="Google Shape;290;g2cd193ef60f_0_3317:notes">
            <a:extLst>
              <a:ext uri="{FF2B5EF4-FFF2-40B4-BE49-F238E27FC236}">
                <a16:creationId xmlns:a16="http://schemas.microsoft.com/office/drawing/2014/main" id="{089FB60B-2C06-9DDF-4017-130C5B4FEDAE}"/>
              </a:ext>
            </a:extLst>
          </p:cNvPr>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1" name="Google Shape;291;g2cd193ef60f_0_3317:notes">
            <a:extLst>
              <a:ext uri="{FF2B5EF4-FFF2-40B4-BE49-F238E27FC236}">
                <a16:creationId xmlns:a16="http://schemas.microsoft.com/office/drawing/2014/main" id="{23CDA4DE-438D-45B5-7E25-A3C0D27ECB5E}"/>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550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5A414132-2C8D-DB92-1485-30C92155EFB1}"/>
            </a:ext>
          </a:extLst>
        </p:cNvPr>
        <p:cNvGrpSpPr/>
        <p:nvPr/>
      </p:nvGrpSpPr>
      <p:grpSpPr>
        <a:xfrm>
          <a:off x="0" y="0"/>
          <a:ext cx="0" cy="0"/>
          <a:chOff x="0" y="0"/>
          <a:chExt cx="0" cy="0"/>
        </a:xfrm>
      </p:grpSpPr>
      <p:sp>
        <p:nvSpPr>
          <p:cNvPr id="293" name="Google Shape;293;g2cdd8378a1b_0_42:notes">
            <a:extLst>
              <a:ext uri="{FF2B5EF4-FFF2-40B4-BE49-F238E27FC236}">
                <a16:creationId xmlns:a16="http://schemas.microsoft.com/office/drawing/2014/main" id="{B4CCB5A8-7F06-0423-BC28-4ADA918F4F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2cdd8378a1b_0_42:notes">
            <a:extLst>
              <a:ext uri="{FF2B5EF4-FFF2-40B4-BE49-F238E27FC236}">
                <a16:creationId xmlns:a16="http://schemas.microsoft.com/office/drawing/2014/main" id="{FBF03E04-BAB6-7B27-25D6-7CA29FC912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7691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520F664E-CC17-385A-9562-074661595ADA}"/>
            </a:ext>
          </a:extLst>
        </p:cNvPr>
        <p:cNvGrpSpPr/>
        <p:nvPr/>
      </p:nvGrpSpPr>
      <p:grpSpPr>
        <a:xfrm>
          <a:off x="0" y="0"/>
          <a:ext cx="0" cy="0"/>
          <a:chOff x="0" y="0"/>
          <a:chExt cx="0" cy="0"/>
        </a:xfrm>
      </p:grpSpPr>
      <p:sp>
        <p:nvSpPr>
          <p:cNvPr id="290" name="Google Shape;290;g2cd193ef60f_0_3317:notes">
            <a:extLst>
              <a:ext uri="{FF2B5EF4-FFF2-40B4-BE49-F238E27FC236}">
                <a16:creationId xmlns:a16="http://schemas.microsoft.com/office/drawing/2014/main" id="{E11B5B87-E6B9-A5EA-6FE1-B8ECEB14EFDC}"/>
              </a:ext>
            </a:extLst>
          </p:cNvPr>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1" name="Google Shape;291;g2cd193ef60f_0_3317:notes">
            <a:extLst>
              <a:ext uri="{FF2B5EF4-FFF2-40B4-BE49-F238E27FC236}">
                <a16:creationId xmlns:a16="http://schemas.microsoft.com/office/drawing/2014/main" id="{14EA32E2-3476-626B-4F84-EBCF7E132888}"/>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9040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cd193ef60f_0_3317: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1" name="Google Shape;291;g2cd193ef60f_0_3317: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42212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D91A89FF-1F2D-5A15-7332-E02329078AEF}"/>
            </a:ext>
          </a:extLst>
        </p:cNvPr>
        <p:cNvGrpSpPr/>
        <p:nvPr/>
      </p:nvGrpSpPr>
      <p:grpSpPr>
        <a:xfrm>
          <a:off x="0" y="0"/>
          <a:ext cx="0" cy="0"/>
          <a:chOff x="0" y="0"/>
          <a:chExt cx="0" cy="0"/>
        </a:xfrm>
      </p:grpSpPr>
      <p:sp>
        <p:nvSpPr>
          <p:cNvPr id="463" name="Google Shape;463;p11:notes">
            <a:extLst>
              <a:ext uri="{FF2B5EF4-FFF2-40B4-BE49-F238E27FC236}">
                <a16:creationId xmlns:a16="http://schemas.microsoft.com/office/drawing/2014/main" id="{F77EE87B-1C6B-0241-CD0B-2269B84D57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64" name="Google Shape;464;p11:notes">
            <a:extLst>
              <a:ext uri="{FF2B5EF4-FFF2-40B4-BE49-F238E27FC236}">
                <a16:creationId xmlns:a16="http://schemas.microsoft.com/office/drawing/2014/main" id="{4E5452E8-2695-D11A-9B87-BADFE7E3C6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88393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8FABD-9C4A-AACA-131E-33B6904F31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DC9B4B-3B90-8C9D-3764-37045E0142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C80435C-4CE8-51E5-A7A5-7729D7C5A97D}"/>
              </a:ext>
            </a:extLst>
          </p:cNvPr>
          <p:cNvSpPr>
            <a:spLocks noGrp="1"/>
          </p:cNvSpPr>
          <p:nvPr>
            <p:ph type="sldNum" sz="quarter" idx="12"/>
          </p:nvPr>
        </p:nvSpPr>
        <p:spPr>
          <a:xfrm>
            <a:off x="21699250" y="16591483"/>
            <a:ext cx="6967657" cy="927435"/>
          </a:xfrm>
        </p:spPr>
        <p:txBody>
          <a:bodyPr/>
          <a:lstStyle>
            <a:lvl1pPr>
              <a:defRPr/>
            </a:lvl1p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4" name="Date Placeholder 3">
            <a:extLst>
              <a:ext uri="{FF2B5EF4-FFF2-40B4-BE49-F238E27FC236}">
                <a16:creationId xmlns:a16="http://schemas.microsoft.com/office/drawing/2014/main" id="{A959AE32-3D6C-053A-1F62-004E9146F6D9}"/>
              </a:ext>
            </a:extLst>
          </p:cNvPr>
          <p:cNvSpPr>
            <a:spLocks noGrp="1"/>
          </p:cNvSpPr>
          <p:nvPr>
            <p:ph type="dt" sz="half" idx="2"/>
          </p:nvPr>
        </p:nvSpPr>
        <p:spPr>
          <a:xfrm>
            <a:off x="204956" y="16606684"/>
            <a:ext cx="6967657" cy="927434"/>
          </a:xfrm>
          <a:prstGeom prst="rect">
            <a:avLst/>
          </a:prstGeom>
        </p:spPr>
        <p:txBody>
          <a:bodyPr vert="horz" lIns="91440" tIns="45720" rIns="91440" bIns="45720" rtlCol="0" anchor="ctr"/>
          <a:lstStyle>
            <a:lvl1pPr algn="l">
              <a:defRPr sz="3048">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ACB7CA8B-5779-4B4C-974F-A0591785C305}"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5" name="Footer Placeholder 4">
            <a:extLst>
              <a:ext uri="{FF2B5EF4-FFF2-40B4-BE49-F238E27FC236}">
                <a16:creationId xmlns:a16="http://schemas.microsoft.com/office/drawing/2014/main" id="{9F53CDDB-1666-CD42-B0E8-339FB3F4956E}"/>
              </a:ext>
            </a:extLst>
          </p:cNvPr>
          <p:cNvSpPr>
            <a:spLocks noGrp="1"/>
          </p:cNvSpPr>
          <p:nvPr>
            <p:ph type="ftr" sz="quarter" idx="3"/>
          </p:nvPr>
        </p:nvSpPr>
        <p:spPr>
          <a:xfrm>
            <a:off x="10257938" y="16609142"/>
            <a:ext cx="10451485" cy="927434"/>
          </a:xfrm>
          <a:prstGeom prst="rect">
            <a:avLst/>
          </a:prstGeom>
        </p:spPr>
        <p:txBody>
          <a:bodyPr vert="horz" lIns="91440" tIns="45720" rIns="91440" bIns="45720" rtlCol="0" anchor="ctr"/>
          <a:lstStyle>
            <a:lvl1pPr algn="ctr">
              <a:defRPr sz="3048">
                <a:solidFill>
                  <a:srgbClr val="FF0000"/>
                </a:solidFill>
              </a:defRPr>
            </a:lvl1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Tree>
    <p:extLst>
      <p:ext uri="{BB962C8B-B14F-4D97-AF65-F5344CB8AC3E}">
        <p14:creationId xmlns:p14="http://schemas.microsoft.com/office/powerpoint/2010/main" val="4248684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40BC11-7FF6-877F-7D57-BD62E9DEB2DD}"/>
              </a:ext>
            </a:extLst>
          </p:cNvPr>
          <p:cNvSpPr>
            <a:spLocks noGrp="1"/>
          </p:cNvSpPr>
          <p:nvPr>
            <p:ph type="sldNum" sz="quarter" idx="12"/>
          </p:nvPr>
        </p:nvSpPr>
        <p:spPr>
          <a:xfrm>
            <a:off x="21546850" y="16626015"/>
            <a:ext cx="6967657" cy="927435"/>
          </a:xfrm>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Date Placeholder 3">
            <a:extLst>
              <a:ext uri="{FF2B5EF4-FFF2-40B4-BE49-F238E27FC236}">
                <a16:creationId xmlns:a16="http://schemas.microsoft.com/office/drawing/2014/main" id="{67F164C8-E5AB-5CC0-20BE-81786E74AA3A}"/>
              </a:ext>
            </a:extLst>
          </p:cNvPr>
          <p:cNvSpPr>
            <a:spLocks noGrp="1"/>
          </p:cNvSpPr>
          <p:nvPr>
            <p:ph type="dt" sz="half" idx="2"/>
          </p:nvPr>
        </p:nvSpPr>
        <p:spPr>
          <a:xfrm>
            <a:off x="185906" y="16568584"/>
            <a:ext cx="6967657" cy="927434"/>
          </a:xfrm>
          <a:prstGeom prst="rect">
            <a:avLst/>
          </a:prstGeom>
        </p:spPr>
        <p:txBody>
          <a:bodyPr vert="horz" lIns="91440" tIns="45720" rIns="91440" bIns="45720" rtlCol="0" anchor="ctr"/>
          <a:lstStyle>
            <a:lvl1pPr algn="l">
              <a:defRPr sz="3048">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CB271CB-FF6F-4885-ABE7-C377D5B47AD5}"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Footer Placeholder 4">
            <a:extLst>
              <a:ext uri="{FF2B5EF4-FFF2-40B4-BE49-F238E27FC236}">
                <a16:creationId xmlns:a16="http://schemas.microsoft.com/office/drawing/2014/main" id="{FBB3B07B-C820-52A3-0F9B-E00BE98E47FD}"/>
              </a:ext>
            </a:extLst>
          </p:cNvPr>
          <p:cNvSpPr>
            <a:spLocks noGrp="1"/>
          </p:cNvSpPr>
          <p:nvPr>
            <p:ph type="ftr" sz="quarter" idx="3"/>
          </p:nvPr>
        </p:nvSpPr>
        <p:spPr>
          <a:xfrm>
            <a:off x="10257938" y="16609142"/>
            <a:ext cx="10451485" cy="927434"/>
          </a:xfrm>
          <a:prstGeom prst="rect">
            <a:avLst/>
          </a:prstGeom>
        </p:spPr>
        <p:txBody>
          <a:bodyPr vert="horz" lIns="91440" tIns="45720" rIns="91440" bIns="45720" rtlCol="0" anchor="ctr"/>
          <a:lstStyle>
            <a:lvl1pPr algn="ctr">
              <a:defRPr sz="3048">
                <a:solidFill>
                  <a:srgbClr val="FF0000"/>
                </a:solidFill>
              </a:defRPr>
            </a:lvl1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Tree>
    <p:extLst>
      <p:ext uri="{BB962C8B-B14F-4D97-AF65-F5344CB8AC3E}">
        <p14:creationId xmlns:p14="http://schemas.microsoft.com/office/powerpoint/2010/main" val="2281777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165"/>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1F8635C-4524-FC9A-AAFA-6E7C4AE520F3}"/>
              </a:ext>
            </a:extLst>
          </p:cNvPr>
          <p:cNvSpPr>
            <a:spLocks noGrp="1"/>
          </p:cNvSpPr>
          <p:nvPr>
            <p:ph type="sldNum" sz="quarter" idx="12"/>
          </p:nvPr>
        </p:nvSpPr>
        <p:spPr>
          <a:xfrm>
            <a:off x="21546850" y="16626015"/>
            <a:ext cx="6967657" cy="927435"/>
          </a:xfrm>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Date Placeholder 3">
            <a:extLst>
              <a:ext uri="{FF2B5EF4-FFF2-40B4-BE49-F238E27FC236}">
                <a16:creationId xmlns:a16="http://schemas.microsoft.com/office/drawing/2014/main" id="{A8B51C8D-0871-49AE-106E-1614BE2E7854}"/>
              </a:ext>
            </a:extLst>
          </p:cNvPr>
          <p:cNvSpPr>
            <a:spLocks noGrp="1"/>
          </p:cNvSpPr>
          <p:nvPr>
            <p:ph type="dt" sz="half" idx="2"/>
          </p:nvPr>
        </p:nvSpPr>
        <p:spPr>
          <a:xfrm>
            <a:off x="185906" y="16568584"/>
            <a:ext cx="6967657" cy="927434"/>
          </a:xfrm>
          <a:prstGeom prst="rect">
            <a:avLst/>
          </a:prstGeom>
        </p:spPr>
        <p:txBody>
          <a:bodyPr vert="horz" lIns="91440" tIns="45720" rIns="91440" bIns="45720" rtlCol="0" anchor="ctr"/>
          <a:lstStyle>
            <a:lvl1pPr algn="l">
              <a:defRPr sz="3048">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57A9858F-E283-4370-98BF-5A7D22700E76}"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4" name="Footer Placeholder 4">
            <a:extLst>
              <a:ext uri="{FF2B5EF4-FFF2-40B4-BE49-F238E27FC236}">
                <a16:creationId xmlns:a16="http://schemas.microsoft.com/office/drawing/2014/main" id="{28AF5CDF-3A9E-F09E-6263-A30C79376B17}"/>
              </a:ext>
            </a:extLst>
          </p:cNvPr>
          <p:cNvSpPr>
            <a:spLocks noGrp="1"/>
          </p:cNvSpPr>
          <p:nvPr>
            <p:ph type="ftr" sz="quarter" idx="3"/>
          </p:nvPr>
        </p:nvSpPr>
        <p:spPr>
          <a:xfrm>
            <a:off x="10257938" y="16609142"/>
            <a:ext cx="10451485" cy="927434"/>
          </a:xfrm>
          <a:prstGeom prst="rect">
            <a:avLst/>
          </a:prstGeom>
        </p:spPr>
        <p:txBody>
          <a:bodyPr vert="horz" lIns="91440" tIns="45720" rIns="91440" bIns="45720" rtlCol="0" anchor="ctr"/>
          <a:lstStyle>
            <a:lvl1pPr algn="ctr">
              <a:defRPr sz="3048">
                <a:solidFill>
                  <a:srgbClr val="FF0000"/>
                </a:solidFill>
              </a:defRPr>
            </a:lvl1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Tree>
    <p:extLst>
      <p:ext uri="{BB962C8B-B14F-4D97-AF65-F5344CB8AC3E}">
        <p14:creationId xmlns:p14="http://schemas.microsoft.com/office/powerpoint/2010/main" val="25121266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FC75B1-377C-FD31-A912-7544765D8637}"/>
              </a:ext>
            </a:extLst>
          </p:cNvPr>
          <p:cNvSpPr>
            <a:spLocks noGrp="1"/>
          </p:cNvSpPr>
          <p:nvPr>
            <p:ph type="title"/>
          </p:nvPr>
        </p:nvSpPr>
        <p:spPr>
          <a:xfrm>
            <a:off x="2129006" y="927438"/>
            <a:ext cx="26709351" cy="336699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48CB7A-788D-726B-2FEA-80521311616F}"/>
              </a:ext>
            </a:extLst>
          </p:cNvPr>
          <p:cNvSpPr>
            <a:spLocks noGrp="1"/>
          </p:cNvSpPr>
          <p:nvPr>
            <p:ph type="body" idx="1"/>
          </p:nvPr>
        </p:nvSpPr>
        <p:spPr>
          <a:xfrm>
            <a:off x="2129006" y="4637173"/>
            <a:ext cx="26709351" cy="110526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579B7C1-D088-D15D-4587-CA62B4F9988A}"/>
              </a:ext>
            </a:extLst>
          </p:cNvPr>
          <p:cNvSpPr>
            <a:spLocks noGrp="1"/>
          </p:cNvSpPr>
          <p:nvPr>
            <p:ph type="sldNum" sz="quarter" idx="4"/>
          </p:nvPr>
        </p:nvSpPr>
        <p:spPr>
          <a:xfrm>
            <a:off x="21642100" y="16629763"/>
            <a:ext cx="6967657" cy="927435"/>
          </a:xfrm>
          <a:prstGeom prst="rect">
            <a:avLst/>
          </a:prstGeom>
        </p:spPr>
        <p:txBody>
          <a:bodyPr vert="horz" lIns="91440" tIns="45720" rIns="91440" bIns="45720" rtlCol="0" anchor="ctr"/>
          <a:lstStyle>
            <a:lvl1pPr algn="r">
              <a:defRPr sz="3048">
                <a:solidFill>
                  <a:schemeClr val="tx1">
                    <a:tint val="75000"/>
                  </a:schemeClr>
                </a:solidFill>
              </a:defRPr>
            </a:lvl1p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7" name="Google Shape;562;p55">
            <a:extLst>
              <a:ext uri="{FF2B5EF4-FFF2-40B4-BE49-F238E27FC236}">
                <a16:creationId xmlns:a16="http://schemas.microsoft.com/office/drawing/2014/main" id="{2049F1BA-8AB2-46B1-945F-BFCFA7AD0587}"/>
              </a:ext>
            </a:extLst>
          </p:cNvPr>
          <p:cNvSpPr/>
          <p:nvPr userDrawn="1"/>
        </p:nvSpPr>
        <p:spPr>
          <a:xfrm rot="5400000" flipH="1">
            <a:off x="29241576" y="16868576"/>
            <a:ext cx="467768" cy="405207"/>
          </a:xfrm>
          <a:custGeom>
            <a:avLst/>
            <a:gdLst/>
            <a:ahLst/>
            <a:cxnLst/>
            <a:rect l="l" t="t" r="r" b="b"/>
            <a:pathLst>
              <a:path w="276252" h="239304" extrusionOk="0">
                <a:moveTo>
                  <a:pt x="0" y="239304"/>
                </a:moveTo>
                <a:lnTo>
                  <a:pt x="276252" y="239304"/>
                </a:lnTo>
                <a:lnTo>
                  <a:pt x="276252" y="0"/>
                </a:lnTo>
                <a:lnTo>
                  <a:pt x="0" y="0"/>
                </a:lnTo>
                <a:lnTo>
                  <a:pt x="0" y="239304"/>
                </a:lnTo>
                <a:close/>
              </a:path>
            </a:pathLst>
          </a:custGeom>
          <a:blipFill rotWithShape="1">
            <a:blip r:embed="rId5">
              <a:alphaModFix/>
            </a:blip>
            <a:stretch>
              <a:fillRect/>
            </a:stretch>
          </a:blipFill>
          <a:ln>
            <a:noFill/>
          </a:ln>
        </p:spPr>
        <p:txBody>
          <a:bodyPr/>
          <a:lstStyle>
            <a:defPPr>
              <a:defRPr lang="en-US"/>
            </a:defPPr>
            <a:lvl1pPr marL="0" algn="l" defTabSz="180000" rtl="0" eaLnBrk="1" latinLnBrk="0" hangingPunct="1">
              <a:defRPr sz="709" kern="1200">
                <a:solidFill>
                  <a:schemeClr val="tx1"/>
                </a:solidFill>
                <a:latin typeface="+mn-lt"/>
                <a:ea typeface="+mn-ea"/>
                <a:cs typeface="+mn-cs"/>
              </a:defRPr>
            </a:lvl1pPr>
            <a:lvl2pPr marL="180000" algn="l" defTabSz="180000" rtl="0" eaLnBrk="1" latinLnBrk="0" hangingPunct="1">
              <a:defRPr sz="709" kern="1200">
                <a:solidFill>
                  <a:schemeClr val="tx1"/>
                </a:solidFill>
                <a:latin typeface="+mn-lt"/>
                <a:ea typeface="+mn-ea"/>
                <a:cs typeface="+mn-cs"/>
              </a:defRPr>
            </a:lvl2pPr>
            <a:lvl3pPr marL="359999" algn="l" defTabSz="180000" rtl="0" eaLnBrk="1" latinLnBrk="0" hangingPunct="1">
              <a:defRPr sz="709" kern="1200">
                <a:solidFill>
                  <a:schemeClr val="tx1"/>
                </a:solidFill>
                <a:latin typeface="+mn-lt"/>
                <a:ea typeface="+mn-ea"/>
                <a:cs typeface="+mn-cs"/>
              </a:defRPr>
            </a:lvl3pPr>
            <a:lvl4pPr marL="539999" algn="l" defTabSz="180000" rtl="0" eaLnBrk="1" latinLnBrk="0" hangingPunct="1">
              <a:defRPr sz="709" kern="1200">
                <a:solidFill>
                  <a:schemeClr val="tx1"/>
                </a:solidFill>
                <a:latin typeface="+mn-lt"/>
                <a:ea typeface="+mn-ea"/>
                <a:cs typeface="+mn-cs"/>
              </a:defRPr>
            </a:lvl4pPr>
            <a:lvl5pPr marL="719999" algn="l" defTabSz="180000" rtl="0" eaLnBrk="1" latinLnBrk="0" hangingPunct="1">
              <a:defRPr sz="709" kern="1200">
                <a:solidFill>
                  <a:schemeClr val="tx1"/>
                </a:solidFill>
                <a:latin typeface="+mn-lt"/>
                <a:ea typeface="+mn-ea"/>
                <a:cs typeface="+mn-cs"/>
              </a:defRPr>
            </a:lvl5pPr>
            <a:lvl6pPr marL="899998" algn="l" defTabSz="180000" rtl="0" eaLnBrk="1" latinLnBrk="0" hangingPunct="1">
              <a:defRPr sz="709" kern="1200">
                <a:solidFill>
                  <a:schemeClr val="tx1"/>
                </a:solidFill>
                <a:latin typeface="+mn-lt"/>
                <a:ea typeface="+mn-ea"/>
                <a:cs typeface="+mn-cs"/>
              </a:defRPr>
            </a:lvl6pPr>
            <a:lvl7pPr marL="1079998" algn="l" defTabSz="180000" rtl="0" eaLnBrk="1" latinLnBrk="0" hangingPunct="1">
              <a:defRPr sz="709" kern="1200">
                <a:solidFill>
                  <a:schemeClr val="tx1"/>
                </a:solidFill>
                <a:latin typeface="+mn-lt"/>
                <a:ea typeface="+mn-ea"/>
                <a:cs typeface="+mn-cs"/>
              </a:defRPr>
            </a:lvl7pPr>
            <a:lvl8pPr marL="1259997" algn="l" defTabSz="180000" rtl="0" eaLnBrk="1" latinLnBrk="0" hangingPunct="1">
              <a:defRPr sz="709" kern="1200">
                <a:solidFill>
                  <a:schemeClr val="tx1"/>
                </a:solidFill>
                <a:latin typeface="+mn-lt"/>
                <a:ea typeface="+mn-ea"/>
                <a:cs typeface="+mn-cs"/>
              </a:defRPr>
            </a:lvl8pPr>
            <a:lvl9pPr marL="1439997" algn="l" defTabSz="180000" rtl="0" eaLnBrk="1" latinLnBrk="0" hangingPunct="1">
              <a:defRPr sz="709" kern="1200">
                <a:solidFill>
                  <a:schemeClr val="tx1"/>
                </a:solidFill>
                <a:latin typeface="+mn-lt"/>
                <a:ea typeface="+mn-ea"/>
                <a:cs typeface="+mn-cs"/>
              </a:defRPr>
            </a:lvl9pPr>
          </a:lstStyle>
          <a:p>
            <a:pPr marL="0" marR="0" lvl="0" indent="0" algn="l" defTabSz="3096375" rtl="0" eaLnBrk="1" fontAlgn="auto" latinLnBrk="0" hangingPunct="1">
              <a:lnSpc>
                <a:spcPct val="100000"/>
              </a:lnSpc>
              <a:spcBef>
                <a:spcPts val="0"/>
              </a:spcBef>
              <a:spcAft>
                <a:spcPts val="0"/>
              </a:spcAft>
              <a:buClr>
                <a:srgbClr val="000000"/>
              </a:buClr>
              <a:buSzTx/>
              <a:buFont typeface="Arial"/>
              <a:buNone/>
              <a:tabLst/>
              <a:defRPr/>
            </a:pPr>
            <a:endParaRPr kumimoji="0" lang="en-US" sz="4741"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Google Shape;563;p55">
            <a:extLst>
              <a:ext uri="{FF2B5EF4-FFF2-40B4-BE49-F238E27FC236}">
                <a16:creationId xmlns:a16="http://schemas.microsoft.com/office/drawing/2014/main" id="{BEBBFDBD-3330-A3F6-79CC-E2DFF6E770DE}"/>
              </a:ext>
            </a:extLst>
          </p:cNvPr>
          <p:cNvSpPr/>
          <p:nvPr userDrawn="1"/>
        </p:nvSpPr>
        <p:spPr>
          <a:xfrm rot="16200000" flipH="1">
            <a:off x="26234494" y="16846277"/>
            <a:ext cx="467768" cy="405207"/>
          </a:xfrm>
          <a:custGeom>
            <a:avLst/>
            <a:gdLst/>
            <a:ahLst/>
            <a:cxnLst/>
            <a:rect l="l" t="t" r="r" b="b"/>
            <a:pathLst>
              <a:path w="276252" h="239304" extrusionOk="0">
                <a:moveTo>
                  <a:pt x="276252" y="0"/>
                </a:moveTo>
                <a:lnTo>
                  <a:pt x="0" y="0"/>
                </a:lnTo>
                <a:lnTo>
                  <a:pt x="0" y="239304"/>
                </a:lnTo>
                <a:lnTo>
                  <a:pt x="276252" y="239304"/>
                </a:lnTo>
                <a:lnTo>
                  <a:pt x="276252" y="0"/>
                </a:lnTo>
                <a:close/>
              </a:path>
            </a:pathLst>
          </a:custGeom>
          <a:blipFill rotWithShape="1">
            <a:blip r:embed="rId5">
              <a:alphaModFix/>
            </a:blip>
            <a:stretch>
              <a:fillRect/>
            </a:stretch>
          </a:blipFill>
          <a:ln>
            <a:noFill/>
          </a:ln>
        </p:spPr>
        <p:txBody>
          <a:bodyPr/>
          <a:lstStyle>
            <a:defPPr>
              <a:defRPr lang="en-US"/>
            </a:defPPr>
            <a:lvl1pPr marL="0" algn="l" defTabSz="180000" rtl="0" eaLnBrk="1" latinLnBrk="0" hangingPunct="1">
              <a:defRPr sz="709" kern="1200">
                <a:solidFill>
                  <a:schemeClr val="tx1"/>
                </a:solidFill>
                <a:latin typeface="+mn-lt"/>
                <a:ea typeface="+mn-ea"/>
                <a:cs typeface="+mn-cs"/>
              </a:defRPr>
            </a:lvl1pPr>
            <a:lvl2pPr marL="180000" algn="l" defTabSz="180000" rtl="0" eaLnBrk="1" latinLnBrk="0" hangingPunct="1">
              <a:defRPr sz="709" kern="1200">
                <a:solidFill>
                  <a:schemeClr val="tx1"/>
                </a:solidFill>
                <a:latin typeface="+mn-lt"/>
                <a:ea typeface="+mn-ea"/>
                <a:cs typeface="+mn-cs"/>
              </a:defRPr>
            </a:lvl2pPr>
            <a:lvl3pPr marL="359999" algn="l" defTabSz="180000" rtl="0" eaLnBrk="1" latinLnBrk="0" hangingPunct="1">
              <a:defRPr sz="709" kern="1200">
                <a:solidFill>
                  <a:schemeClr val="tx1"/>
                </a:solidFill>
                <a:latin typeface="+mn-lt"/>
                <a:ea typeface="+mn-ea"/>
                <a:cs typeface="+mn-cs"/>
              </a:defRPr>
            </a:lvl3pPr>
            <a:lvl4pPr marL="539999" algn="l" defTabSz="180000" rtl="0" eaLnBrk="1" latinLnBrk="0" hangingPunct="1">
              <a:defRPr sz="709" kern="1200">
                <a:solidFill>
                  <a:schemeClr val="tx1"/>
                </a:solidFill>
                <a:latin typeface="+mn-lt"/>
                <a:ea typeface="+mn-ea"/>
                <a:cs typeface="+mn-cs"/>
              </a:defRPr>
            </a:lvl4pPr>
            <a:lvl5pPr marL="719999" algn="l" defTabSz="180000" rtl="0" eaLnBrk="1" latinLnBrk="0" hangingPunct="1">
              <a:defRPr sz="709" kern="1200">
                <a:solidFill>
                  <a:schemeClr val="tx1"/>
                </a:solidFill>
                <a:latin typeface="+mn-lt"/>
                <a:ea typeface="+mn-ea"/>
                <a:cs typeface="+mn-cs"/>
              </a:defRPr>
            </a:lvl5pPr>
            <a:lvl6pPr marL="899998" algn="l" defTabSz="180000" rtl="0" eaLnBrk="1" latinLnBrk="0" hangingPunct="1">
              <a:defRPr sz="709" kern="1200">
                <a:solidFill>
                  <a:schemeClr val="tx1"/>
                </a:solidFill>
                <a:latin typeface="+mn-lt"/>
                <a:ea typeface="+mn-ea"/>
                <a:cs typeface="+mn-cs"/>
              </a:defRPr>
            </a:lvl6pPr>
            <a:lvl7pPr marL="1079998" algn="l" defTabSz="180000" rtl="0" eaLnBrk="1" latinLnBrk="0" hangingPunct="1">
              <a:defRPr sz="709" kern="1200">
                <a:solidFill>
                  <a:schemeClr val="tx1"/>
                </a:solidFill>
                <a:latin typeface="+mn-lt"/>
                <a:ea typeface="+mn-ea"/>
                <a:cs typeface="+mn-cs"/>
              </a:defRPr>
            </a:lvl7pPr>
            <a:lvl8pPr marL="1259997" algn="l" defTabSz="180000" rtl="0" eaLnBrk="1" latinLnBrk="0" hangingPunct="1">
              <a:defRPr sz="709" kern="1200">
                <a:solidFill>
                  <a:schemeClr val="tx1"/>
                </a:solidFill>
                <a:latin typeface="+mn-lt"/>
                <a:ea typeface="+mn-ea"/>
                <a:cs typeface="+mn-cs"/>
              </a:defRPr>
            </a:lvl8pPr>
            <a:lvl9pPr marL="1439997" algn="l" defTabSz="180000" rtl="0" eaLnBrk="1" latinLnBrk="0" hangingPunct="1">
              <a:defRPr sz="709" kern="1200">
                <a:solidFill>
                  <a:schemeClr val="tx1"/>
                </a:solidFill>
                <a:latin typeface="+mn-lt"/>
                <a:ea typeface="+mn-ea"/>
                <a:cs typeface="+mn-cs"/>
              </a:defRPr>
            </a:lvl9pPr>
          </a:lstStyle>
          <a:p>
            <a:pPr marL="0" marR="0" lvl="0" indent="0" algn="l" defTabSz="3096375" rtl="0" eaLnBrk="1" fontAlgn="auto" latinLnBrk="0" hangingPunct="1">
              <a:lnSpc>
                <a:spcPct val="100000"/>
              </a:lnSpc>
              <a:spcBef>
                <a:spcPts val="0"/>
              </a:spcBef>
              <a:spcAft>
                <a:spcPts val="0"/>
              </a:spcAft>
              <a:buClr>
                <a:srgbClr val="000000"/>
              </a:buClr>
              <a:buSzTx/>
              <a:buFont typeface="Arial"/>
              <a:buNone/>
              <a:tabLst/>
              <a:defRPr/>
            </a:pPr>
            <a:endParaRPr kumimoji="0" lang="en-US" sz="4741"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11" name="Straight Connector 10">
            <a:extLst>
              <a:ext uri="{FF2B5EF4-FFF2-40B4-BE49-F238E27FC236}">
                <a16:creationId xmlns:a16="http://schemas.microsoft.com/office/drawing/2014/main" id="{16412054-E364-B870-7D0D-CD1461D20004}"/>
              </a:ext>
            </a:extLst>
          </p:cNvPr>
          <p:cNvCxnSpPr>
            <a:cxnSpLocks/>
          </p:cNvCxnSpPr>
          <p:nvPr userDrawn="1"/>
        </p:nvCxnSpPr>
        <p:spPr>
          <a:xfrm>
            <a:off x="0" y="16612538"/>
            <a:ext cx="30967363" cy="5109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C1B1C98C-4E26-80B3-2E64-9A5BA03A9EEE}"/>
              </a:ext>
            </a:extLst>
          </p:cNvPr>
          <p:cNvSpPr>
            <a:spLocks noGrp="1"/>
          </p:cNvSpPr>
          <p:nvPr>
            <p:ph type="dt" sz="half" idx="2"/>
          </p:nvPr>
        </p:nvSpPr>
        <p:spPr>
          <a:xfrm>
            <a:off x="224006" y="16609142"/>
            <a:ext cx="6967657" cy="927434"/>
          </a:xfrm>
          <a:prstGeom prst="rect">
            <a:avLst/>
          </a:prstGeom>
        </p:spPr>
        <p:txBody>
          <a:bodyPr vert="horz" lIns="91440" tIns="45720" rIns="91440" bIns="45720" rtlCol="0" anchor="ctr"/>
          <a:lstStyle>
            <a:lvl1pPr algn="l">
              <a:defRPr sz="3048">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4074A1C8-B1DA-456A-AE3D-C94977B20B74}"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5" name="Footer Placeholder 4">
            <a:extLst>
              <a:ext uri="{FF2B5EF4-FFF2-40B4-BE49-F238E27FC236}">
                <a16:creationId xmlns:a16="http://schemas.microsoft.com/office/drawing/2014/main" id="{B92F386D-A77E-1CCD-4981-B3B2C0152D0E}"/>
              </a:ext>
            </a:extLst>
          </p:cNvPr>
          <p:cNvSpPr>
            <a:spLocks noGrp="1"/>
          </p:cNvSpPr>
          <p:nvPr>
            <p:ph type="ftr" sz="quarter" idx="3"/>
          </p:nvPr>
        </p:nvSpPr>
        <p:spPr>
          <a:xfrm>
            <a:off x="10257938" y="16609142"/>
            <a:ext cx="10451485" cy="927434"/>
          </a:xfrm>
          <a:prstGeom prst="rect">
            <a:avLst/>
          </a:prstGeom>
        </p:spPr>
        <p:txBody>
          <a:bodyPr vert="horz" lIns="91440" tIns="45720" rIns="91440" bIns="45720" rtlCol="0" anchor="ctr"/>
          <a:lstStyle>
            <a:lvl1pPr algn="ctr">
              <a:defRPr sz="3048">
                <a:solidFill>
                  <a:srgbClr val="FF0000"/>
                </a:solidFill>
              </a:defRPr>
            </a:lvl1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Tree>
    <p:extLst>
      <p:ext uri="{BB962C8B-B14F-4D97-AF65-F5344CB8AC3E}">
        <p14:creationId xmlns:p14="http://schemas.microsoft.com/office/powerpoint/2010/main" val="371171307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Lst>
  <p:hf hdr="0"/>
  <p:txStyles>
    <p:titleStyle>
      <a:lvl1pPr algn="l" defTabSz="2322330" rtl="0" eaLnBrk="1" latinLnBrk="0" hangingPunct="1">
        <a:lnSpc>
          <a:spcPct val="90000"/>
        </a:lnSpc>
        <a:spcBef>
          <a:spcPct val="0"/>
        </a:spcBef>
        <a:buNone/>
        <a:defRPr sz="11172" kern="1200">
          <a:solidFill>
            <a:schemeClr val="tx1"/>
          </a:solidFill>
          <a:latin typeface="+mj-lt"/>
          <a:ea typeface="+mj-ea"/>
          <a:cs typeface="+mj-cs"/>
        </a:defRPr>
      </a:lvl1pPr>
    </p:titleStyle>
    <p:bodyStyle>
      <a:lvl1pPr marL="580582" indent="-580582" algn="l" defTabSz="2322330" rtl="0" eaLnBrk="1" latinLnBrk="0" hangingPunct="1">
        <a:lnSpc>
          <a:spcPct val="90000"/>
        </a:lnSpc>
        <a:spcBef>
          <a:spcPts val="2540"/>
        </a:spcBef>
        <a:buFont typeface="Arial" panose="020B0604020202020204" pitchFamily="34" charset="0"/>
        <a:buChar char="•"/>
        <a:defRPr sz="7112" kern="1200">
          <a:solidFill>
            <a:schemeClr val="tx1"/>
          </a:solidFill>
          <a:latin typeface="+mn-lt"/>
          <a:ea typeface="+mn-ea"/>
          <a:cs typeface="+mn-cs"/>
        </a:defRPr>
      </a:lvl1pPr>
      <a:lvl2pPr marL="1741749" indent="-580582" algn="l" defTabSz="2322330" rtl="0" eaLnBrk="1" latinLnBrk="0" hangingPunct="1">
        <a:lnSpc>
          <a:spcPct val="90000"/>
        </a:lnSpc>
        <a:spcBef>
          <a:spcPts val="1270"/>
        </a:spcBef>
        <a:buFont typeface="Arial" panose="020B0604020202020204" pitchFamily="34" charset="0"/>
        <a:buChar char="•"/>
        <a:defRPr sz="6096" kern="1200">
          <a:solidFill>
            <a:schemeClr val="tx1"/>
          </a:solidFill>
          <a:latin typeface="+mn-lt"/>
          <a:ea typeface="+mn-ea"/>
          <a:cs typeface="+mn-cs"/>
        </a:defRPr>
      </a:lvl2pPr>
      <a:lvl3pPr marL="2902912" indent="-580582" algn="l" defTabSz="2322330" rtl="0" eaLnBrk="1" latinLnBrk="0" hangingPunct="1">
        <a:lnSpc>
          <a:spcPct val="90000"/>
        </a:lnSpc>
        <a:spcBef>
          <a:spcPts val="1270"/>
        </a:spcBef>
        <a:buFont typeface="Arial" panose="020B0604020202020204" pitchFamily="34" charset="0"/>
        <a:buChar char="•"/>
        <a:defRPr sz="5080" kern="1200">
          <a:solidFill>
            <a:schemeClr val="tx1"/>
          </a:solidFill>
          <a:latin typeface="+mn-lt"/>
          <a:ea typeface="+mn-ea"/>
          <a:cs typeface="+mn-cs"/>
        </a:defRPr>
      </a:lvl3pPr>
      <a:lvl4pPr marL="4064076" indent="-580582" algn="l" defTabSz="2322330" rtl="0" eaLnBrk="1" latinLnBrk="0" hangingPunct="1">
        <a:lnSpc>
          <a:spcPct val="90000"/>
        </a:lnSpc>
        <a:spcBef>
          <a:spcPts val="1270"/>
        </a:spcBef>
        <a:buFont typeface="Arial" panose="020B0604020202020204" pitchFamily="34" charset="0"/>
        <a:buChar char="•"/>
        <a:defRPr sz="4572" kern="1200">
          <a:solidFill>
            <a:schemeClr val="tx1"/>
          </a:solidFill>
          <a:latin typeface="+mn-lt"/>
          <a:ea typeface="+mn-ea"/>
          <a:cs typeface="+mn-cs"/>
        </a:defRPr>
      </a:lvl4pPr>
      <a:lvl5pPr marL="5225243" indent="-580582" algn="l" defTabSz="2322330" rtl="0" eaLnBrk="1" latinLnBrk="0" hangingPunct="1">
        <a:lnSpc>
          <a:spcPct val="90000"/>
        </a:lnSpc>
        <a:spcBef>
          <a:spcPts val="1270"/>
        </a:spcBef>
        <a:buFont typeface="Arial" panose="020B0604020202020204" pitchFamily="34" charset="0"/>
        <a:buChar char="•"/>
        <a:defRPr sz="4572" kern="1200">
          <a:solidFill>
            <a:schemeClr val="tx1"/>
          </a:solidFill>
          <a:latin typeface="+mn-lt"/>
          <a:ea typeface="+mn-ea"/>
          <a:cs typeface="+mn-cs"/>
        </a:defRPr>
      </a:lvl5pPr>
      <a:lvl6pPr marL="6386406" indent="-580582" algn="l" defTabSz="2322330" rtl="0" eaLnBrk="1" latinLnBrk="0" hangingPunct="1">
        <a:lnSpc>
          <a:spcPct val="90000"/>
        </a:lnSpc>
        <a:spcBef>
          <a:spcPts val="1270"/>
        </a:spcBef>
        <a:buFont typeface="Arial" panose="020B0604020202020204" pitchFamily="34" charset="0"/>
        <a:buChar char="•"/>
        <a:defRPr sz="4572" kern="1200">
          <a:solidFill>
            <a:schemeClr val="tx1"/>
          </a:solidFill>
          <a:latin typeface="+mn-lt"/>
          <a:ea typeface="+mn-ea"/>
          <a:cs typeface="+mn-cs"/>
        </a:defRPr>
      </a:lvl6pPr>
      <a:lvl7pPr marL="7547570" indent="-580582" algn="l" defTabSz="2322330" rtl="0" eaLnBrk="1" latinLnBrk="0" hangingPunct="1">
        <a:lnSpc>
          <a:spcPct val="90000"/>
        </a:lnSpc>
        <a:spcBef>
          <a:spcPts val="1270"/>
        </a:spcBef>
        <a:buFont typeface="Arial" panose="020B0604020202020204" pitchFamily="34" charset="0"/>
        <a:buChar char="•"/>
        <a:defRPr sz="4572" kern="1200">
          <a:solidFill>
            <a:schemeClr val="tx1"/>
          </a:solidFill>
          <a:latin typeface="+mn-lt"/>
          <a:ea typeface="+mn-ea"/>
          <a:cs typeface="+mn-cs"/>
        </a:defRPr>
      </a:lvl7pPr>
      <a:lvl8pPr marL="8708733" indent="-580582" algn="l" defTabSz="2322330" rtl="0" eaLnBrk="1" latinLnBrk="0" hangingPunct="1">
        <a:lnSpc>
          <a:spcPct val="90000"/>
        </a:lnSpc>
        <a:spcBef>
          <a:spcPts val="1270"/>
        </a:spcBef>
        <a:buFont typeface="Arial" panose="020B0604020202020204" pitchFamily="34" charset="0"/>
        <a:buChar char="•"/>
        <a:defRPr sz="4572" kern="1200">
          <a:solidFill>
            <a:schemeClr val="tx1"/>
          </a:solidFill>
          <a:latin typeface="+mn-lt"/>
          <a:ea typeface="+mn-ea"/>
          <a:cs typeface="+mn-cs"/>
        </a:defRPr>
      </a:lvl8pPr>
      <a:lvl9pPr marL="9869900" indent="-580582" algn="l" defTabSz="2322330" rtl="0" eaLnBrk="1" latinLnBrk="0" hangingPunct="1">
        <a:lnSpc>
          <a:spcPct val="90000"/>
        </a:lnSpc>
        <a:spcBef>
          <a:spcPts val="1270"/>
        </a:spcBef>
        <a:buFont typeface="Arial" panose="020B0604020202020204" pitchFamily="34" charset="0"/>
        <a:buChar char="•"/>
        <a:defRPr sz="4572" kern="1200">
          <a:solidFill>
            <a:schemeClr val="tx1"/>
          </a:solidFill>
          <a:latin typeface="+mn-lt"/>
          <a:ea typeface="+mn-ea"/>
          <a:cs typeface="+mn-cs"/>
        </a:defRPr>
      </a:lvl9pPr>
    </p:bodyStyle>
    <p:otherStyle>
      <a:defPPr>
        <a:defRPr lang="en-US"/>
      </a:defPPr>
      <a:lvl1pPr marL="0" algn="l" defTabSz="2322330" rtl="0" eaLnBrk="1" latinLnBrk="0" hangingPunct="1">
        <a:defRPr sz="4572" kern="1200">
          <a:solidFill>
            <a:schemeClr val="tx1"/>
          </a:solidFill>
          <a:latin typeface="+mn-lt"/>
          <a:ea typeface="+mn-ea"/>
          <a:cs typeface="+mn-cs"/>
        </a:defRPr>
      </a:lvl1pPr>
      <a:lvl2pPr marL="1161167" algn="l" defTabSz="2322330" rtl="0" eaLnBrk="1" latinLnBrk="0" hangingPunct="1">
        <a:defRPr sz="4572" kern="1200">
          <a:solidFill>
            <a:schemeClr val="tx1"/>
          </a:solidFill>
          <a:latin typeface="+mn-lt"/>
          <a:ea typeface="+mn-ea"/>
          <a:cs typeface="+mn-cs"/>
        </a:defRPr>
      </a:lvl2pPr>
      <a:lvl3pPr marL="2322330" algn="l" defTabSz="2322330" rtl="0" eaLnBrk="1" latinLnBrk="0" hangingPunct="1">
        <a:defRPr sz="4572" kern="1200">
          <a:solidFill>
            <a:schemeClr val="tx1"/>
          </a:solidFill>
          <a:latin typeface="+mn-lt"/>
          <a:ea typeface="+mn-ea"/>
          <a:cs typeface="+mn-cs"/>
        </a:defRPr>
      </a:lvl3pPr>
      <a:lvl4pPr marL="3483494" algn="l" defTabSz="2322330" rtl="0" eaLnBrk="1" latinLnBrk="0" hangingPunct="1">
        <a:defRPr sz="4572" kern="1200">
          <a:solidFill>
            <a:schemeClr val="tx1"/>
          </a:solidFill>
          <a:latin typeface="+mn-lt"/>
          <a:ea typeface="+mn-ea"/>
          <a:cs typeface="+mn-cs"/>
        </a:defRPr>
      </a:lvl4pPr>
      <a:lvl5pPr marL="4644658" algn="l" defTabSz="2322330" rtl="0" eaLnBrk="1" latinLnBrk="0" hangingPunct="1">
        <a:defRPr sz="4572" kern="1200">
          <a:solidFill>
            <a:schemeClr val="tx1"/>
          </a:solidFill>
          <a:latin typeface="+mn-lt"/>
          <a:ea typeface="+mn-ea"/>
          <a:cs typeface="+mn-cs"/>
        </a:defRPr>
      </a:lvl5pPr>
      <a:lvl6pPr marL="5805824" algn="l" defTabSz="2322330" rtl="0" eaLnBrk="1" latinLnBrk="0" hangingPunct="1">
        <a:defRPr sz="4572" kern="1200">
          <a:solidFill>
            <a:schemeClr val="tx1"/>
          </a:solidFill>
          <a:latin typeface="+mn-lt"/>
          <a:ea typeface="+mn-ea"/>
          <a:cs typeface="+mn-cs"/>
        </a:defRPr>
      </a:lvl6pPr>
      <a:lvl7pPr marL="6966988" algn="l" defTabSz="2322330" rtl="0" eaLnBrk="1" latinLnBrk="0" hangingPunct="1">
        <a:defRPr sz="4572" kern="1200">
          <a:solidFill>
            <a:schemeClr val="tx1"/>
          </a:solidFill>
          <a:latin typeface="+mn-lt"/>
          <a:ea typeface="+mn-ea"/>
          <a:cs typeface="+mn-cs"/>
        </a:defRPr>
      </a:lvl7pPr>
      <a:lvl8pPr marL="8128152" algn="l" defTabSz="2322330" rtl="0" eaLnBrk="1" latinLnBrk="0" hangingPunct="1">
        <a:defRPr sz="4572" kern="1200">
          <a:solidFill>
            <a:schemeClr val="tx1"/>
          </a:solidFill>
          <a:latin typeface="+mn-lt"/>
          <a:ea typeface="+mn-ea"/>
          <a:cs typeface="+mn-cs"/>
        </a:defRPr>
      </a:lvl8pPr>
      <a:lvl9pPr marL="9289318" algn="l" defTabSz="2322330" rtl="0" eaLnBrk="1" latinLnBrk="0" hangingPunct="1">
        <a:defRPr sz="45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mailto:Sonlq@vietsol.com.vn" TargetMode="Externa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hyperlink" Target="mailto:hung.lequang@nitto.com"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microsoft.com/office/2018/10/relationships/comments" Target="../comments/modernComment_7FFFD385_341AB173.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D39C_9A155456.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7FFFD3A3_9D976FE6.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jpe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5" name="Google Shape;466;p11">
            <a:extLst>
              <a:ext uri="{FF2B5EF4-FFF2-40B4-BE49-F238E27FC236}">
                <a16:creationId xmlns:a16="http://schemas.microsoft.com/office/drawing/2014/main" id="{0E87926A-5398-7508-33B1-C2A2264826A7}"/>
              </a:ext>
            </a:extLst>
          </p:cNvPr>
          <p:cNvSpPr/>
          <p:nvPr/>
        </p:nvSpPr>
        <p:spPr>
          <a:xfrm>
            <a:off x="174" y="0"/>
            <a:ext cx="30967189" cy="17419044"/>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7" b="-9217"/>
            </a:stretch>
          </a:blipFill>
          <a:ln>
            <a:noFill/>
          </a:ln>
        </p:spPr>
        <p:txBody>
          <a:bodyPr spcFirstLastPara="1" wrap="square" lIns="35993" tIns="17992" rIns="35993" bIns="17992" anchor="t" anchorCtr="0">
            <a:noAutofit/>
          </a:bodyPr>
          <a:lstStyle/>
          <a:p>
            <a:endParaRPr sz="1867">
              <a:solidFill>
                <a:srgbClr val="000000"/>
              </a:solidFill>
              <a:latin typeface="Arial"/>
              <a:ea typeface="Arial"/>
              <a:cs typeface="Arial"/>
              <a:sym typeface="Arial"/>
            </a:endParaRPr>
          </a:p>
        </p:txBody>
      </p:sp>
      <p:grpSp>
        <p:nvGrpSpPr>
          <p:cNvPr id="282" name="Google Shape;282;p1"/>
          <p:cNvGrpSpPr/>
          <p:nvPr/>
        </p:nvGrpSpPr>
        <p:grpSpPr>
          <a:xfrm>
            <a:off x="4498091" y="5132613"/>
            <a:ext cx="21971181" cy="6316196"/>
            <a:chOff x="0" y="-38100"/>
            <a:chExt cx="3417347" cy="982407"/>
          </a:xfrm>
        </p:grpSpPr>
        <p:sp>
          <p:nvSpPr>
            <p:cNvPr id="283" name="Google Shape;283;p1"/>
            <p:cNvSpPr/>
            <p:nvPr/>
          </p:nvSpPr>
          <p:spPr>
            <a:xfrm>
              <a:off x="0" y="0"/>
              <a:ext cx="3417347" cy="944307"/>
            </a:xfrm>
            <a:custGeom>
              <a:avLst/>
              <a:gdLst/>
              <a:ahLst/>
              <a:cxnLst/>
              <a:rect l="l" t="t" r="r" b="b"/>
              <a:pathLst>
                <a:path w="3417347" h="944307" extrusionOk="0">
                  <a:moveTo>
                    <a:pt x="0" y="0"/>
                  </a:moveTo>
                  <a:lnTo>
                    <a:pt x="3417347" y="0"/>
                  </a:lnTo>
                  <a:lnTo>
                    <a:pt x="3417347" y="944307"/>
                  </a:lnTo>
                  <a:lnTo>
                    <a:pt x="0" y="944307"/>
                  </a:lnTo>
                  <a:close/>
                </a:path>
              </a:pathLst>
            </a:custGeom>
            <a:solidFill>
              <a:srgbClr val="BC1823">
                <a:alpha val="84705"/>
              </a:srgbClr>
            </a:solidFill>
            <a:ln>
              <a:noFill/>
            </a:ln>
          </p:spPr>
          <p:txBody>
            <a:bodyPr/>
            <a:lstStyle/>
            <a:p>
              <a:endParaRPr lang="en-US" sz="3048"/>
            </a:p>
          </p:txBody>
        </p:sp>
        <p:sp>
          <p:nvSpPr>
            <p:cNvPr id="284" name="Google Shape;284;p1"/>
            <p:cNvSpPr txBox="1"/>
            <p:nvPr/>
          </p:nvSpPr>
          <p:spPr>
            <a:xfrm>
              <a:off x="0" y="-38100"/>
              <a:ext cx="3417347" cy="982407"/>
            </a:xfrm>
            <a:prstGeom prst="rect">
              <a:avLst/>
            </a:prstGeom>
            <a:noFill/>
            <a:ln>
              <a:noFill/>
            </a:ln>
          </p:spPr>
          <p:txBody>
            <a:bodyPr spcFirstLastPara="1" wrap="square" lIns="86020" tIns="86020" rIns="86020" bIns="86020" anchor="ctr" anchorCtr="0">
              <a:noAutofit/>
            </a:bodyPr>
            <a:lstStyle/>
            <a:p>
              <a:pPr algn="ctr">
                <a:lnSpc>
                  <a:spcPct val="124444"/>
                </a:lnSpc>
              </a:pPr>
              <a:endParaRPr sz="3048">
                <a:solidFill>
                  <a:schemeClr val="dk1"/>
                </a:solidFill>
                <a:latin typeface="Calibri"/>
                <a:ea typeface="Calibri"/>
                <a:cs typeface="Calibri"/>
                <a:sym typeface="Calibri"/>
              </a:endParaRPr>
            </a:p>
          </p:txBody>
        </p:sp>
      </p:grpSp>
      <p:grpSp>
        <p:nvGrpSpPr>
          <p:cNvPr id="285" name="Google Shape;285;p1"/>
          <p:cNvGrpSpPr/>
          <p:nvPr/>
        </p:nvGrpSpPr>
        <p:grpSpPr>
          <a:xfrm>
            <a:off x="11621292" y="10610592"/>
            <a:ext cx="7724779" cy="1431477"/>
            <a:chOff x="0" y="-38100"/>
            <a:chExt cx="1201494" cy="222649"/>
          </a:xfrm>
        </p:grpSpPr>
        <p:sp>
          <p:nvSpPr>
            <p:cNvPr id="286" name="Google Shape;286;p1"/>
            <p:cNvSpPr/>
            <p:nvPr/>
          </p:nvSpPr>
          <p:spPr>
            <a:xfrm>
              <a:off x="0" y="0"/>
              <a:ext cx="1201494" cy="184549"/>
            </a:xfrm>
            <a:custGeom>
              <a:avLst/>
              <a:gdLst/>
              <a:ahLst/>
              <a:cxnLst/>
              <a:rect l="l" t="t" r="r" b="b"/>
              <a:pathLst>
                <a:path w="1201494" h="184549" extrusionOk="0">
                  <a:moveTo>
                    <a:pt x="0" y="0"/>
                  </a:moveTo>
                  <a:lnTo>
                    <a:pt x="1201494" y="0"/>
                  </a:lnTo>
                  <a:lnTo>
                    <a:pt x="1201494" y="184549"/>
                  </a:lnTo>
                  <a:lnTo>
                    <a:pt x="0" y="184549"/>
                  </a:lnTo>
                  <a:close/>
                </a:path>
              </a:pathLst>
            </a:custGeom>
            <a:solidFill>
              <a:srgbClr val="EBEBEB"/>
            </a:solidFill>
            <a:ln>
              <a:noFill/>
            </a:ln>
          </p:spPr>
          <p:txBody>
            <a:bodyPr/>
            <a:lstStyle/>
            <a:p>
              <a:endParaRPr lang="en-US" sz="3048"/>
            </a:p>
          </p:txBody>
        </p:sp>
        <p:sp>
          <p:nvSpPr>
            <p:cNvPr id="287" name="Google Shape;287;p1"/>
            <p:cNvSpPr txBox="1"/>
            <p:nvPr/>
          </p:nvSpPr>
          <p:spPr>
            <a:xfrm>
              <a:off x="0" y="-38100"/>
              <a:ext cx="1201494" cy="222649"/>
            </a:xfrm>
            <a:prstGeom prst="rect">
              <a:avLst/>
            </a:prstGeom>
            <a:noFill/>
            <a:ln>
              <a:noFill/>
            </a:ln>
          </p:spPr>
          <p:txBody>
            <a:bodyPr spcFirstLastPara="1" wrap="square" lIns="86020" tIns="86020" rIns="86020" bIns="86020" anchor="ctr" anchorCtr="0">
              <a:noAutofit/>
            </a:bodyPr>
            <a:lstStyle/>
            <a:p>
              <a:pPr algn="ctr">
                <a:lnSpc>
                  <a:spcPct val="124444"/>
                </a:lnSpc>
              </a:pPr>
              <a:endParaRPr sz="3048">
                <a:solidFill>
                  <a:schemeClr val="dk1"/>
                </a:solidFill>
                <a:latin typeface="Calibri"/>
                <a:ea typeface="Calibri"/>
                <a:cs typeface="Calibri"/>
                <a:sym typeface="Calibri"/>
              </a:endParaRPr>
            </a:p>
          </p:txBody>
        </p:sp>
      </p:grpSp>
      <p:sp>
        <p:nvSpPr>
          <p:cNvPr id="288" name="Google Shape;288;p1"/>
          <p:cNvSpPr/>
          <p:nvPr/>
        </p:nvSpPr>
        <p:spPr>
          <a:xfrm>
            <a:off x="11916778" y="962160"/>
            <a:ext cx="6228892" cy="1270656"/>
          </a:xfrm>
          <a:custGeom>
            <a:avLst/>
            <a:gdLst/>
            <a:ahLst/>
            <a:cxnLst/>
            <a:rect l="l" t="t" r="r" b="b"/>
            <a:pathLst>
              <a:path w="2280898" h="453075" extrusionOk="0">
                <a:moveTo>
                  <a:pt x="0" y="0"/>
                </a:moveTo>
                <a:lnTo>
                  <a:pt x="2280898" y="0"/>
                </a:lnTo>
                <a:lnTo>
                  <a:pt x="2280898" y="453075"/>
                </a:lnTo>
                <a:lnTo>
                  <a:pt x="0" y="453075"/>
                </a:lnTo>
                <a:lnTo>
                  <a:pt x="0" y="0"/>
                </a:lnTo>
                <a:close/>
              </a:path>
            </a:pathLst>
          </a:custGeom>
          <a:blipFill rotWithShape="1">
            <a:blip r:embed="rId4">
              <a:alphaModFix/>
            </a:blip>
            <a:stretch>
              <a:fillRect l="-13743" t="-269705" r="-13980" b="-273215"/>
            </a:stretch>
          </a:blipFill>
          <a:ln>
            <a:noFill/>
          </a:ln>
        </p:spPr>
        <p:txBody>
          <a:bodyPr/>
          <a:lstStyle/>
          <a:p>
            <a:endParaRPr lang="en-US" sz="3048"/>
          </a:p>
        </p:txBody>
      </p:sp>
      <p:sp>
        <p:nvSpPr>
          <p:cNvPr id="290" name="Google Shape;290;p1"/>
          <p:cNvSpPr txBox="1"/>
          <p:nvPr/>
        </p:nvSpPr>
        <p:spPr>
          <a:xfrm>
            <a:off x="4498090" y="5469427"/>
            <a:ext cx="21971181" cy="4579715"/>
          </a:xfrm>
          <a:prstGeom prst="rect">
            <a:avLst/>
          </a:prstGeom>
          <a:noFill/>
          <a:ln>
            <a:noFill/>
          </a:ln>
        </p:spPr>
        <p:txBody>
          <a:bodyPr spcFirstLastPara="1" wrap="square" lIns="0" tIns="0" rIns="0" bIns="0" anchor="t" anchorCtr="0">
            <a:spAutoFit/>
          </a:bodyPr>
          <a:lstStyle/>
          <a:p>
            <a:pPr algn="ctr"/>
            <a:r>
              <a:rPr lang="en-US" sz="9600" b="1" dirty="0">
                <a:solidFill>
                  <a:srgbClr val="FAFAFA"/>
                </a:solidFill>
                <a:latin typeface="Roboto" panose="02000000000000000000" pitchFamily="2" charset="0"/>
                <a:ea typeface="Roboto" panose="02000000000000000000" pitchFamily="2" charset="0"/>
                <a:cs typeface="Roboto" panose="02000000000000000000" pitchFamily="2" charset="0"/>
                <a:sym typeface="Roboto Slab"/>
              </a:rPr>
              <a:t>TECHNICAL PROPOSAL</a:t>
            </a:r>
          </a:p>
          <a:p>
            <a:pPr algn="ctr">
              <a:lnSpc>
                <a:spcPct val="140000"/>
              </a:lnSpc>
            </a:pPr>
            <a:endParaRPr lang="en-US" sz="4800" b="1" dirty="0">
              <a:solidFill>
                <a:srgbClr val="FAFAFA"/>
              </a:solidFill>
              <a:latin typeface="Roboto" panose="02000000000000000000" pitchFamily="2" charset="0"/>
              <a:ea typeface="Roboto" panose="02000000000000000000" pitchFamily="2" charset="0"/>
              <a:cs typeface="Roboto" panose="02000000000000000000" pitchFamily="2" charset="0"/>
              <a:sym typeface="Roboto Slab"/>
            </a:endParaRPr>
          </a:p>
          <a:p>
            <a:pPr algn="ctr">
              <a:lnSpc>
                <a:spcPct val="140000"/>
              </a:lnSpc>
            </a:pPr>
            <a:endParaRPr lang="en-US" sz="4800" b="1" dirty="0">
              <a:solidFill>
                <a:srgbClr val="FAFAFA"/>
              </a:solidFill>
              <a:latin typeface="Roboto" panose="02000000000000000000" pitchFamily="2" charset="0"/>
              <a:ea typeface="Roboto" panose="02000000000000000000" pitchFamily="2" charset="0"/>
              <a:cs typeface="Roboto" panose="02000000000000000000" pitchFamily="2" charset="0"/>
              <a:sym typeface="Roboto Slab"/>
            </a:endParaRPr>
          </a:p>
          <a:p>
            <a:pPr algn="ctr">
              <a:lnSpc>
                <a:spcPct val="140000"/>
              </a:lnSpc>
            </a:pPr>
            <a:r>
              <a:rPr lang="en-US" sz="4800" b="1" dirty="0">
                <a:solidFill>
                  <a:srgbClr val="FAFAFA"/>
                </a:solidFill>
                <a:latin typeface="Roboto" panose="02000000000000000000" pitchFamily="2" charset="0"/>
                <a:ea typeface="Roboto" panose="02000000000000000000" pitchFamily="2" charset="0"/>
                <a:cs typeface="Roboto" panose="02000000000000000000" pitchFamily="2" charset="0"/>
                <a:sym typeface="Roboto Slab"/>
              </a:rPr>
              <a:t>Proposal No:</a:t>
            </a:r>
          </a:p>
        </p:txBody>
      </p:sp>
      <p:sp>
        <p:nvSpPr>
          <p:cNvPr id="291" name="Google Shape;291;p1"/>
          <p:cNvSpPr txBox="1"/>
          <p:nvPr/>
        </p:nvSpPr>
        <p:spPr>
          <a:xfrm>
            <a:off x="13514188" y="11096661"/>
            <a:ext cx="3938990" cy="729752"/>
          </a:xfrm>
          <a:prstGeom prst="rect">
            <a:avLst/>
          </a:prstGeom>
          <a:noFill/>
          <a:ln>
            <a:noFill/>
          </a:ln>
        </p:spPr>
        <p:txBody>
          <a:bodyPr spcFirstLastPara="1" wrap="square" lIns="0" tIns="0" rIns="0" bIns="0" anchor="t" anchorCtr="0">
            <a:spAutoFit/>
          </a:bodyPr>
          <a:lstStyle/>
          <a:p>
            <a:pPr algn="ctr">
              <a:lnSpc>
                <a:spcPct val="140000"/>
              </a:lnSpc>
            </a:pPr>
            <a:r>
              <a:rPr lang="en-US" sz="3387">
                <a:solidFill>
                  <a:srgbClr val="292929"/>
                </a:solidFill>
                <a:latin typeface="Roboto"/>
                <a:ea typeface="Roboto"/>
                <a:cs typeface="Roboto"/>
                <a:sym typeface="Roboto"/>
              </a:rPr>
              <a:t>www.vietsol.com.vn</a:t>
            </a:r>
            <a:endParaRPr sz="3048"/>
          </a:p>
        </p:txBody>
      </p:sp>
      <p:sp>
        <p:nvSpPr>
          <p:cNvPr id="4" name="Google Shape;250;g2cd193ef60f_0_3058">
            <a:extLst>
              <a:ext uri="{FF2B5EF4-FFF2-40B4-BE49-F238E27FC236}">
                <a16:creationId xmlns:a16="http://schemas.microsoft.com/office/drawing/2014/main" id="{E8048269-B01B-EB98-896E-652C430BE2C2}"/>
              </a:ext>
            </a:extLst>
          </p:cNvPr>
          <p:cNvSpPr txBox="1"/>
          <p:nvPr/>
        </p:nvSpPr>
        <p:spPr>
          <a:xfrm>
            <a:off x="11621290" y="9794287"/>
            <a:ext cx="7724779" cy="11849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400">
                <a:solidFill>
                  <a:srgbClr val="FAFAFA"/>
                </a:solidFill>
                <a:latin typeface="Roboto" panose="02000000000000000000" pitchFamily="2" charset="0"/>
                <a:ea typeface="Roboto" panose="02000000000000000000" pitchFamily="2" charset="0"/>
                <a:cs typeface="Roboto" panose="02000000000000000000" pitchFamily="2" charset="0"/>
                <a:sym typeface="Calibri"/>
              </a:rPr>
              <a:t> mm 202x</a:t>
            </a:r>
            <a:endParaRPr sz="3600">
              <a:latin typeface="Roboto" panose="02000000000000000000" pitchFamily="2" charset="0"/>
              <a:ea typeface="Roboto" panose="02000000000000000000" pitchFamily="2" charset="0"/>
              <a:cs typeface="Roboto" panose="02000000000000000000" pitchFamily="2" charset="0"/>
            </a:endParaRPr>
          </a:p>
        </p:txBody>
      </p:sp>
      <p:sp>
        <p:nvSpPr>
          <p:cNvPr id="7" name="Footer Placeholder 6">
            <a:extLst>
              <a:ext uri="{FF2B5EF4-FFF2-40B4-BE49-F238E27FC236}">
                <a16:creationId xmlns:a16="http://schemas.microsoft.com/office/drawing/2014/main" id="{BB52A7C7-9257-1483-744D-8ACD005269C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2" name="Date Placeholder 1">
            <a:extLst>
              <a:ext uri="{FF2B5EF4-FFF2-40B4-BE49-F238E27FC236}">
                <a16:creationId xmlns:a16="http://schemas.microsoft.com/office/drawing/2014/main" id="{AE47C48F-9FF8-48CC-76CF-B895D3C626F8}"/>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6F52FBA8-EDC9-459C-B936-43D4E5792007}"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Slide Number Placeholder 2">
            <a:extLst>
              <a:ext uri="{FF2B5EF4-FFF2-40B4-BE49-F238E27FC236}">
                <a16:creationId xmlns:a16="http://schemas.microsoft.com/office/drawing/2014/main" id="{206581CF-6F3A-69DB-6EE0-A66F38E46376}"/>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1</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oogle Shape;579;p55">
            <a:extLst>
              <a:ext uri="{FF2B5EF4-FFF2-40B4-BE49-F238E27FC236}">
                <a16:creationId xmlns:a16="http://schemas.microsoft.com/office/drawing/2014/main" id="{F00BBB10-22A6-3B29-D0F3-281862AC0993}"/>
              </a:ext>
            </a:extLst>
          </p:cNvPr>
          <p:cNvGrpSpPr/>
          <p:nvPr/>
        </p:nvGrpSpPr>
        <p:grpSpPr>
          <a:xfrm>
            <a:off x="0" y="0"/>
            <a:ext cx="1006575" cy="2464578"/>
            <a:chOff x="0" y="-38100"/>
            <a:chExt cx="426000" cy="1071320"/>
          </a:xfrm>
        </p:grpSpPr>
        <p:sp>
          <p:nvSpPr>
            <p:cNvPr id="35" name="Google Shape;580;p55">
              <a:extLst>
                <a:ext uri="{FF2B5EF4-FFF2-40B4-BE49-F238E27FC236}">
                  <a16:creationId xmlns:a16="http://schemas.microsoft.com/office/drawing/2014/main" id="{DF71435D-E2DD-EB67-FB2E-5185C6013D03}"/>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p>
              <a:endParaRPr lang="en-US" sz="4741">
                <a:latin typeface="+mn-lt"/>
              </a:endParaRPr>
            </a:p>
          </p:txBody>
        </p:sp>
        <p:sp>
          <p:nvSpPr>
            <p:cNvPr id="36" name="Google Shape;581;p55">
              <a:extLst>
                <a:ext uri="{FF2B5EF4-FFF2-40B4-BE49-F238E27FC236}">
                  <a16:creationId xmlns:a16="http://schemas.microsoft.com/office/drawing/2014/main" id="{EF4BFDDE-3F3B-8DCA-1E7F-F08BCADDD9F5}"/>
                </a:ext>
              </a:extLst>
            </p:cNvPr>
            <p:cNvSpPr txBox="1"/>
            <p:nvPr/>
          </p:nvSpPr>
          <p:spPr>
            <a:xfrm>
              <a:off x="0" y="-38100"/>
              <a:ext cx="426000" cy="1071300"/>
            </a:xfrm>
            <a:prstGeom prst="rect">
              <a:avLst/>
            </a:prstGeom>
            <a:noFill/>
            <a:ln>
              <a:noFill/>
            </a:ln>
          </p:spPr>
          <p:txBody>
            <a:bodyPr spcFirstLastPara="1" wrap="square" lIns="86020" tIns="86020" rIns="86020" bIns="86020" anchor="ctr" anchorCtr="0">
              <a:noAutofit/>
            </a:bodyPr>
            <a:lstStyle/>
            <a:p>
              <a:pPr algn="ctr">
                <a:lnSpc>
                  <a:spcPct val="124444"/>
                </a:lnSpc>
              </a:pPr>
              <a:endParaRPr sz="3048">
                <a:solidFill>
                  <a:schemeClr val="dk1"/>
                </a:solidFill>
                <a:latin typeface="+mn-lt"/>
                <a:ea typeface="Calibri"/>
                <a:cs typeface="Calibri"/>
                <a:sym typeface="Calibri"/>
              </a:endParaRPr>
            </a:p>
          </p:txBody>
        </p:sp>
      </p:grpSp>
      <p:sp>
        <p:nvSpPr>
          <p:cNvPr id="43" name="Google Shape;582;p55">
            <a:extLst>
              <a:ext uri="{FF2B5EF4-FFF2-40B4-BE49-F238E27FC236}">
                <a16:creationId xmlns:a16="http://schemas.microsoft.com/office/drawing/2014/main" id="{D176D780-1506-D721-D799-D62DDB60E4F5}"/>
              </a:ext>
            </a:extLst>
          </p:cNvPr>
          <p:cNvSpPr txBox="1"/>
          <p:nvPr/>
        </p:nvSpPr>
        <p:spPr>
          <a:xfrm>
            <a:off x="1712850" y="1571381"/>
            <a:ext cx="24196808" cy="974562"/>
          </a:xfrm>
          <a:prstGeom prst="rect">
            <a:avLst/>
          </a:prstGeom>
          <a:noFill/>
          <a:ln>
            <a:noFill/>
          </a:ln>
        </p:spPr>
        <p:txBody>
          <a:bodyPr spcFirstLastPara="1" wrap="square" lIns="0" tIns="0" rIns="0" bIns="0" anchor="t" anchorCtr="0">
            <a:spAutoFit/>
          </a:bodyPr>
          <a:lstStyle/>
          <a:p>
            <a:pPr>
              <a:lnSpc>
                <a:spcPct val="110001"/>
              </a:lnSpc>
              <a:buSzPts val="300"/>
            </a:pPr>
            <a:r>
              <a:rPr lang="en-US" sz="5757" b="1">
                <a:solidFill>
                  <a:srgbClr val="292929"/>
                </a:solidFill>
                <a:latin typeface="Roboto" panose="02000000000000000000" pitchFamily="2" charset="0"/>
                <a:ea typeface="Roboto" panose="02000000000000000000" pitchFamily="2" charset="0"/>
                <a:cs typeface="Roboto" panose="02000000000000000000" pitchFamily="2" charset="0"/>
                <a:sym typeface="Calibri"/>
              </a:rPr>
              <a:t>CONTACTS</a:t>
            </a:r>
          </a:p>
        </p:txBody>
      </p:sp>
      <p:pic>
        <p:nvPicPr>
          <p:cNvPr id="45" name="Google Shape;583;p55">
            <a:extLst>
              <a:ext uri="{FF2B5EF4-FFF2-40B4-BE49-F238E27FC236}">
                <a16:creationId xmlns:a16="http://schemas.microsoft.com/office/drawing/2014/main" id="{B4BE04EC-DDDA-E093-37B9-B7445109629C}"/>
              </a:ext>
            </a:extLst>
          </p:cNvPr>
          <p:cNvPicPr preferRelativeResize="0"/>
          <p:nvPr/>
        </p:nvPicPr>
        <p:blipFill rotWithShape="1">
          <a:blip r:embed="rId2">
            <a:alphaModFix/>
          </a:blip>
          <a:srcRect l="11530" t="41230" r="11653" b="40863"/>
          <a:stretch/>
        </p:blipFill>
        <p:spPr>
          <a:xfrm>
            <a:off x="1712850" y="672781"/>
            <a:ext cx="3003556" cy="700101"/>
          </a:xfrm>
          <a:prstGeom prst="rect">
            <a:avLst/>
          </a:prstGeom>
          <a:noFill/>
          <a:ln>
            <a:noFill/>
          </a:ln>
        </p:spPr>
      </p:pic>
      <p:sp>
        <p:nvSpPr>
          <p:cNvPr id="22" name="Textfeld 52">
            <a:extLst>
              <a:ext uri="{FF2B5EF4-FFF2-40B4-BE49-F238E27FC236}">
                <a16:creationId xmlns:a16="http://schemas.microsoft.com/office/drawing/2014/main" id="{37DBB3F9-D8A1-5C86-D656-59E376F4DBBE}"/>
              </a:ext>
            </a:extLst>
          </p:cNvPr>
          <p:cNvSpPr txBox="1"/>
          <p:nvPr/>
        </p:nvSpPr>
        <p:spPr>
          <a:xfrm>
            <a:off x="17390309" y="11136986"/>
            <a:ext cx="10159474" cy="2462213"/>
          </a:xfrm>
          <a:prstGeom prst="rect">
            <a:avLst/>
          </a:prstGeom>
          <a:ln w="6350">
            <a:noFill/>
          </a:ln>
        </p:spPr>
        <p:txBody>
          <a:bodyPr vert="horz" wrap="square" lIns="0" tIns="0" rIns="0" bIns="0" rtlCol="0" anchor="t">
            <a:spAutoFit/>
          </a:bodyPr>
          <a:lstStyle/>
          <a:p>
            <a:pPr defTabSz="2322576">
              <a:spcBef>
                <a:spcPts val="762"/>
              </a:spcBef>
              <a:buClrTx/>
              <a:defRPr/>
            </a:pPr>
            <a:r>
              <a:rPr lang="en-US" altLang="zh-CN" sz="3500" kern="1200" dirty="0">
                <a:latin typeface="Roboto" panose="02000000000000000000" pitchFamily="2" charset="0"/>
                <a:ea typeface="Roboto" panose="02000000000000000000" pitchFamily="2" charset="0"/>
                <a:cs typeface="Roboto" panose="02000000000000000000" pitchFamily="2" charset="0"/>
              </a:rPr>
              <a:t>Name: Lê Quang Sơn	</a:t>
            </a:r>
            <a:endParaRPr lang="en-US" sz="3500" kern="1200" dirty="0">
              <a:latin typeface="Roboto" panose="02000000000000000000" pitchFamily="2" charset="0"/>
              <a:ea typeface="Roboto" panose="02000000000000000000" pitchFamily="2" charset="0"/>
              <a:cs typeface="Roboto" panose="02000000000000000000" pitchFamily="2" charset="0"/>
            </a:endParaRPr>
          </a:p>
          <a:p>
            <a:pPr defTabSz="2322576">
              <a:spcBef>
                <a:spcPts val="762"/>
              </a:spcBef>
              <a:buClrTx/>
              <a:defRPr/>
            </a:pPr>
            <a:r>
              <a:rPr lang="en-US" altLang="zh-CN" sz="3500" kern="1200" dirty="0">
                <a:latin typeface="Roboto" panose="02000000000000000000" pitchFamily="2" charset="0"/>
                <a:ea typeface="Roboto" panose="02000000000000000000" pitchFamily="2" charset="0"/>
                <a:cs typeface="Roboto" panose="02000000000000000000" pitchFamily="2" charset="0"/>
              </a:rPr>
              <a:t>Position: CCO</a:t>
            </a:r>
            <a:endParaRPr lang="en-US" sz="3500" kern="1200" dirty="0">
              <a:latin typeface="Roboto" panose="02000000000000000000" pitchFamily="2" charset="0"/>
              <a:ea typeface="Roboto" panose="02000000000000000000" pitchFamily="2" charset="0"/>
              <a:cs typeface="Roboto" panose="02000000000000000000" pitchFamily="2" charset="0"/>
            </a:endParaRPr>
          </a:p>
          <a:p>
            <a:pPr defTabSz="2322576">
              <a:spcBef>
                <a:spcPts val="762"/>
              </a:spcBef>
              <a:buClrTx/>
              <a:defRPr/>
            </a:pPr>
            <a:r>
              <a:rPr lang="en-US" sz="3500" kern="1200" dirty="0">
                <a:latin typeface="Roboto" panose="02000000000000000000" pitchFamily="2" charset="0"/>
                <a:ea typeface="Roboto" panose="02000000000000000000" pitchFamily="2" charset="0"/>
                <a:cs typeface="Roboto" panose="02000000000000000000" pitchFamily="2" charset="0"/>
              </a:rPr>
              <a:t>Phone: +84 914 836 868</a:t>
            </a:r>
          </a:p>
          <a:p>
            <a:pPr defTabSz="2322576">
              <a:spcBef>
                <a:spcPts val="762"/>
              </a:spcBef>
              <a:buClrTx/>
              <a:defRPr/>
            </a:pPr>
            <a:r>
              <a:rPr lang="en-US" sz="3500" kern="1200" dirty="0">
                <a:latin typeface="Roboto" panose="02000000000000000000" pitchFamily="2" charset="0"/>
                <a:ea typeface="Roboto" panose="02000000000000000000" pitchFamily="2" charset="0"/>
                <a:cs typeface="Roboto" panose="02000000000000000000" pitchFamily="2" charset="0"/>
              </a:rPr>
              <a:t>E-Mail: </a:t>
            </a:r>
            <a:r>
              <a:rPr lang="en-US" sz="3500" u="sng" kern="1200" dirty="0">
                <a:solidFill>
                  <a:srgbClr val="0563C1"/>
                </a:solidFill>
                <a:latin typeface="Roboto" panose="02000000000000000000" pitchFamily="2" charset="0"/>
                <a:ea typeface="Roboto" panose="02000000000000000000" pitchFamily="2" charset="0"/>
                <a:cs typeface="Roboto" panose="02000000000000000000" pitchFamily="2" charset="0"/>
                <a:hlinkClick r:id="rId3">
                  <a:extLst>
                    <a:ext uri="{A12FA001-AC4F-418D-AE19-62706E023703}">
                      <ahyp:hlinkClr xmlns:ahyp="http://schemas.microsoft.com/office/drawing/2018/hyperlinkcolor" val="tx"/>
                    </a:ext>
                  </a:extLst>
                </a:hlinkClick>
              </a:rPr>
              <a:t>Sonlq@vietsol.com.</a:t>
            </a:r>
            <a:r>
              <a:rPr lang="en-US" sz="3500" u="sng" kern="1200" dirty="0">
                <a:solidFill>
                  <a:schemeClr val="accent5">
                    <a:lumMod val="75000"/>
                  </a:schemeClr>
                </a:solidFill>
                <a:latin typeface="Roboto" panose="02000000000000000000" pitchFamily="2" charset="0"/>
                <a:ea typeface="Roboto" panose="02000000000000000000" pitchFamily="2" charset="0"/>
                <a:cs typeface="Roboto" panose="02000000000000000000" pitchFamily="2" charset="0"/>
                <a:hlinkClick r:id="rId3">
                  <a:extLst>
                    <a:ext uri="{A12FA001-AC4F-418D-AE19-62706E023703}">
                      <ahyp:hlinkClr xmlns:ahyp="http://schemas.microsoft.com/office/drawing/2018/hyperlinkcolor" val="tx"/>
                    </a:ext>
                  </a:extLst>
                </a:hlinkClick>
              </a:rPr>
              <a:t>vn</a:t>
            </a:r>
            <a:endParaRPr lang="en-US" sz="3500" u="sng" kern="1200" dirty="0">
              <a:solidFill>
                <a:schemeClr val="accent5">
                  <a:lumMod val="75000"/>
                </a:schemeClr>
              </a:solidFill>
              <a:latin typeface="Roboto" panose="02000000000000000000" pitchFamily="2" charset="0"/>
              <a:ea typeface="Roboto" panose="02000000000000000000" pitchFamily="2" charset="0"/>
              <a:cs typeface="Roboto" panose="02000000000000000000" pitchFamily="2" charset="0"/>
            </a:endParaRPr>
          </a:p>
        </p:txBody>
      </p:sp>
      <p:cxnSp>
        <p:nvCxnSpPr>
          <p:cNvPr id="24" name="Gerader Verbinder 27">
            <a:extLst>
              <a:ext uri="{FF2B5EF4-FFF2-40B4-BE49-F238E27FC236}">
                <a16:creationId xmlns:a16="http://schemas.microsoft.com/office/drawing/2014/main" id="{ACE33793-C704-9F90-D066-EB0EF5AC07E7}"/>
              </a:ext>
            </a:extLst>
          </p:cNvPr>
          <p:cNvCxnSpPr>
            <a:cxnSpLocks/>
          </p:cNvCxnSpPr>
          <p:nvPr/>
        </p:nvCxnSpPr>
        <p:spPr>
          <a:xfrm>
            <a:off x="17286527" y="4619542"/>
            <a:ext cx="6635740" cy="0"/>
          </a:xfrm>
          <a:prstGeom prst="line">
            <a:avLst/>
          </a:prstGeom>
          <a:ln/>
        </p:spPr>
        <p:style>
          <a:lnRef idx="2">
            <a:schemeClr val="accent2"/>
          </a:lnRef>
          <a:fillRef idx="0">
            <a:schemeClr val="accent2"/>
          </a:fillRef>
          <a:effectRef idx="1">
            <a:schemeClr val="accent2"/>
          </a:effectRef>
          <a:fontRef idx="minor">
            <a:schemeClr val="tx1"/>
          </a:fontRef>
        </p:style>
      </p:cxnSp>
      <p:grpSp>
        <p:nvGrpSpPr>
          <p:cNvPr id="25" name="Gruppieren 28">
            <a:extLst>
              <a:ext uri="{FF2B5EF4-FFF2-40B4-BE49-F238E27FC236}">
                <a16:creationId xmlns:a16="http://schemas.microsoft.com/office/drawing/2014/main" id="{A4059AB6-37DB-1EEA-49B6-3800566CC6CC}"/>
              </a:ext>
            </a:extLst>
          </p:cNvPr>
          <p:cNvGrpSpPr/>
          <p:nvPr/>
        </p:nvGrpSpPr>
        <p:grpSpPr>
          <a:xfrm>
            <a:off x="17284056" y="9984304"/>
            <a:ext cx="6638211" cy="902424"/>
            <a:chOff x="9155275" y="1272040"/>
            <a:chExt cx="2731979" cy="355289"/>
          </a:xfrm>
        </p:grpSpPr>
        <p:sp>
          <p:nvSpPr>
            <p:cNvPr id="26" name="Rechteck 29">
              <a:extLst>
                <a:ext uri="{FF2B5EF4-FFF2-40B4-BE49-F238E27FC236}">
                  <a16:creationId xmlns:a16="http://schemas.microsoft.com/office/drawing/2014/main" id="{624585EA-315D-C2A3-299B-5B66441FD12C}"/>
                </a:ext>
              </a:extLst>
            </p:cNvPr>
            <p:cNvSpPr/>
            <p:nvPr/>
          </p:nvSpPr>
          <p:spPr>
            <a:xfrm>
              <a:off x="9155275" y="1272040"/>
              <a:ext cx="2613495" cy="355289"/>
            </a:xfrm>
            <a:prstGeom prst="rect">
              <a:avLst/>
            </a:prstGeom>
            <a:solidFill>
              <a:schemeClr val="bg1"/>
            </a:solidFill>
            <a:ln>
              <a:solidFill>
                <a:schemeClr val="bg1"/>
              </a:solidFill>
            </a:ln>
            <a:effectLst/>
          </p:spPr>
          <p:txBody>
            <a:bodyPr rot="0" spcFirstLastPara="0" vertOverflow="overflow" horzOverflow="overflow" vert="horz" wrap="square" lIns="0" tIns="137159" rIns="0" bIns="137159" numCol="1" spcCol="0" rtlCol="0" fromWordArt="0" anchor="b" anchorCtr="0" forceAA="0" compatLnSpc="1">
              <a:prstTxWarp prst="textNoShape">
                <a:avLst/>
              </a:prstTxWarp>
              <a:spAutoFit/>
            </a:bodyPr>
            <a:lstStyle/>
            <a:p>
              <a:pPr defTabSz="2752717">
                <a:spcBef>
                  <a:spcPts val="3048"/>
                </a:spcBef>
                <a:buClrTx/>
                <a:defRPr/>
              </a:pPr>
              <a:r>
                <a:rPr lang="en-US" altLang="zh-CN" sz="4064" kern="1200" cap="all">
                  <a:latin typeface="Roboto" panose="02000000000000000000" pitchFamily="2" charset="0"/>
                  <a:ea typeface="Roboto" panose="02000000000000000000" pitchFamily="2" charset="0"/>
                  <a:cs typeface="Roboto" panose="02000000000000000000" pitchFamily="2" charset="0"/>
                  <a:sym typeface="Segoe UI" panose="020B0502040204020203" pitchFamily="34" charset="0"/>
                </a:rPr>
                <a:t>Contacts</a:t>
              </a:r>
              <a:endParaRPr lang="zh-CN" altLang="en-US" sz="4064" kern="1200" cap="all">
                <a:latin typeface="Roboto" panose="02000000000000000000" pitchFamily="2" charset="0"/>
                <a:ea typeface="宋体" panose="02010600030101010101" pitchFamily="2" charset="-122"/>
                <a:cs typeface="Roboto" panose="02000000000000000000" pitchFamily="2" charset="0"/>
              </a:endParaRPr>
            </a:p>
          </p:txBody>
        </p:sp>
        <p:cxnSp>
          <p:nvCxnSpPr>
            <p:cNvPr id="27" name="Gerader Verbinder 30">
              <a:extLst>
                <a:ext uri="{FF2B5EF4-FFF2-40B4-BE49-F238E27FC236}">
                  <a16:creationId xmlns:a16="http://schemas.microsoft.com/office/drawing/2014/main" id="{4AF8ABF8-51D4-B81E-4120-322BFA7E2959}"/>
                </a:ext>
              </a:extLst>
            </p:cNvPr>
            <p:cNvCxnSpPr>
              <a:cxnSpLocks/>
            </p:cNvCxnSpPr>
            <p:nvPr/>
          </p:nvCxnSpPr>
          <p:spPr>
            <a:xfrm>
              <a:off x="9156247" y="1625921"/>
              <a:ext cx="2731007" cy="0"/>
            </a:xfrm>
            <a:prstGeom prst="line">
              <a:avLst/>
            </a:prstGeom>
            <a:ln/>
          </p:spPr>
          <p:style>
            <a:lnRef idx="2">
              <a:schemeClr val="accent2"/>
            </a:lnRef>
            <a:fillRef idx="0">
              <a:schemeClr val="accent2"/>
            </a:fillRef>
            <a:effectRef idx="1">
              <a:schemeClr val="accent2"/>
            </a:effectRef>
            <a:fontRef idx="minor">
              <a:schemeClr val="tx1"/>
            </a:fontRef>
          </p:style>
        </p:cxnSp>
      </p:grpSp>
      <p:cxnSp>
        <p:nvCxnSpPr>
          <p:cNvPr id="30" name="Gerader Verbinder 27">
            <a:extLst>
              <a:ext uri="{FF2B5EF4-FFF2-40B4-BE49-F238E27FC236}">
                <a16:creationId xmlns:a16="http://schemas.microsoft.com/office/drawing/2014/main" id="{FE921F43-3D66-4456-EAC9-18598B8A1B0C}"/>
              </a:ext>
            </a:extLst>
          </p:cNvPr>
          <p:cNvCxnSpPr>
            <a:cxnSpLocks/>
          </p:cNvCxnSpPr>
          <p:nvPr/>
        </p:nvCxnSpPr>
        <p:spPr>
          <a:xfrm>
            <a:off x="4025258" y="4679082"/>
            <a:ext cx="6635740" cy="0"/>
          </a:xfrm>
          <a:prstGeom prst="line">
            <a:avLst/>
          </a:prstGeom>
          <a:ln/>
        </p:spPr>
        <p:style>
          <a:lnRef idx="2">
            <a:schemeClr val="accent2"/>
          </a:lnRef>
          <a:fillRef idx="0">
            <a:schemeClr val="accent2"/>
          </a:fillRef>
          <a:effectRef idx="1">
            <a:schemeClr val="accent2"/>
          </a:effectRef>
          <a:fontRef idx="minor">
            <a:schemeClr val="tx1"/>
          </a:fontRef>
        </p:style>
      </p:cxnSp>
      <p:grpSp>
        <p:nvGrpSpPr>
          <p:cNvPr id="31" name="Gruppieren 28">
            <a:extLst>
              <a:ext uri="{FF2B5EF4-FFF2-40B4-BE49-F238E27FC236}">
                <a16:creationId xmlns:a16="http://schemas.microsoft.com/office/drawing/2014/main" id="{407C6503-7F2C-9A6B-B35F-EA132D0BAB43}"/>
              </a:ext>
            </a:extLst>
          </p:cNvPr>
          <p:cNvGrpSpPr/>
          <p:nvPr/>
        </p:nvGrpSpPr>
        <p:grpSpPr>
          <a:xfrm>
            <a:off x="4155038" y="9938916"/>
            <a:ext cx="6638209" cy="902425"/>
            <a:chOff x="9155276" y="1103842"/>
            <a:chExt cx="2613495" cy="355289"/>
          </a:xfrm>
        </p:grpSpPr>
        <p:sp>
          <p:nvSpPr>
            <p:cNvPr id="32" name="Rechteck 29">
              <a:extLst>
                <a:ext uri="{FF2B5EF4-FFF2-40B4-BE49-F238E27FC236}">
                  <a16:creationId xmlns:a16="http://schemas.microsoft.com/office/drawing/2014/main" id="{02177FF0-C62D-5F5C-5813-CDB23BDB14FD}"/>
                </a:ext>
              </a:extLst>
            </p:cNvPr>
            <p:cNvSpPr/>
            <p:nvPr/>
          </p:nvSpPr>
          <p:spPr>
            <a:xfrm>
              <a:off x="9155276" y="1103842"/>
              <a:ext cx="2613495" cy="355289"/>
            </a:xfrm>
            <a:prstGeom prst="rect">
              <a:avLst/>
            </a:prstGeom>
            <a:solidFill>
              <a:schemeClr val="bg1"/>
            </a:solidFill>
            <a:ln>
              <a:solidFill>
                <a:schemeClr val="bg1"/>
              </a:solidFill>
            </a:ln>
            <a:effectLst/>
          </p:spPr>
          <p:txBody>
            <a:bodyPr rot="0" spcFirstLastPara="0" vertOverflow="overflow" horzOverflow="overflow" vert="horz" wrap="square" lIns="0" tIns="137159" rIns="0" bIns="137159" numCol="1" spcCol="0" rtlCol="0" fromWordArt="0" anchor="b" anchorCtr="0" forceAA="0" compatLnSpc="1">
              <a:prstTxWarp prst="textNoShape">
                <a:avLst/>
              </a:prstTxWarp>
              <a:spAutoFit/>
            </a:bodyPr>
            <a:lstStyle/>
            <a:p>
              <a:pPr defTabSz="2752717">
                <a:spcBef>
                  <a:spcPts val="3048"/>
                </a:spcBef>
                <a:buClrTx/>
                <a:defRPr/>
              </a:pPr>
              <a:r>
                <a:rPr lang="en-US" altLang="zh-CN" sz="4064" kern="1200" cap="all">
                  <a:latin typeface="Roboto" panose="02000000000000000000" pitchFamily="2" charset="0"/>
                  <a:ea typeface="Roboto" panose="02000000000000000000" pitchFamily="2" charset="0"/>
                  <a:cs typeface="Roboto" panose="02000000000000000000" pitchFamily="2" charset="0"/>
                  <a:sym typeface="Segoe UI" panose="020B0502040204020203" pitchFamily="34" charset="0"/>
                </a:rPr>
                <a:t>Contacts</a:t>
              </a:r>
              <a:endParaRPr lang="en-US" sz="4572" kern="1200">
                <a:latin typeface="Roboto" panose="02000000000000000000" pitchFamily="2" charset="0"/>
                <a:ea typeface="Roboto" panose="02000000000000000000" pitchFamily="2" charset="0"/>
                <a:cs typeface="Roboto" panose="02000000000000000000" pitchFamily="2" charset="0"/>
              </a:endParaRPr>
            </a:p>
          </p:txBody>
        </p:sp>
        <p:cxnSp>
          <p:nvCxnSpPr>
            <p:cNvPr id="33" name="Gerader Verbinder 30">
              <a:extLst>
                <a:ext uri="{FF2B5EF4-FFF2-40B4-BE49-F238E27FC236}">
                  <a16:creationId xmlns:a16="http://schemas.microsoft.com/office/drawing/2014/main" id="{3E3B95F5-62DD-E49D-884A-2469116BC3A8}"/>
                </a:ext>
              </a:extLst>
            </p:cNvPr>
            <p:cNvCxnSpPr>
              <a:cxnSpLocks/>
            </p:cNvCxnSpPr>
            <p:nvPr/>
          </p:nvCxnSpPr>
          <p:spPr>
            <a:xfrm>
              <a:off x="9156248" y="1457723"/>
              <a:ext cx="2612523" cy="0"/>
            </a:xfrm>
            <a:prstGeom prst="line">
              <a:avLst/>
            </a:prstGeom>
            <a:ln/>
          </p:spPr>
          <p:style>
            <a:lnRef idx="2">
              <a:schemeClr val="accent2"/>
            </a:lnRef>
            <a:fillRef idx="0">
              <a:schemeClr val="accent2"/>
            </a:fillRef>
            <a:effectRef idx="1">
              <a:schemeClr val="accent2"/>
            </a:effectRef>
            <a:fontRef idx="minor">
              <a:schemeClr val="tx1"/>
            </a:fontRef>
          </p:style>
        </p:cxnSp>
      </p:grpSp>
      <p:sp>
        <p:nvSpPr>
          <p:cNvPr id="2" name="TextBox 1">
            <a:extLst>
              <a:ext uri="{FF2B5EF4-FFF2-40B4-BE49-F238E27FC236}">
                <a16:creationId xmlns:a16="http://schemas.microsoft.com/office/drawing/2014/main" id="{1D64B7EC-9466-2E69-56A3-83E690C621A5}"/>
              </a:ext>
            </a:extLst>
          </p:cNvPr>
          <p:cNvSpPr txBox="1"/>
          <p:nvPr/>
        </p:nvSpPr>
        <p:spPr>
          <a:xfrm>
            <a:off x="17284056" y="4785676"/>
            <a:ext cx="9680806" cy="3323987"/>
          </a:xfrm>
          <a:prstGeom prst="rect">
            <a:avLst/>
          </a:prstGeom>
          <a:noFill/>
        </p:spPr>
        <p:txBody>
          <a:bodyPr wrap="square">
            <a:spAutoFit/>
          </a:bodyPr>
          <a:lstStyle/>
          <a:p>
            <a:pPr defTabSz="2322576">
              <a:buClrTx/>
              <a:defRPr/>
            </a:pPr>
            <a:r>
              <a:rPr lang="en-US" sz="3500" b="1" kern="1200" dirty="0">
                <a:latin typeface="Roboto" panose="02000000000000000000" pitchFamily="2" charset="0"/>
                <a:ea typeface="Roboto" panose="02000000000000000000" pitchFamily="2" charset="0"/>
                <a:cs typeface="Roboto" panose="02000000000000000000" pitchFamily="2" charset="0"/>
              </a:rPr>
              <a:t>Company: </a:t>
            </a:r>
            <a:r>
              <a:rPr lang="en-US" sz="3500" kern="1200" dirty="0">
                <a:latin typeface="Roboto" panose="02000000000000000000" pitchFamily="2" charset="0"/>
                <a:ea typeface="Roboto" panose="02000000000000000000" pitchFamily="2" charset="0"/>
                <a:cs typeface="Roboto" panose="02000000000000000000" pitchFamily="2" charset="0"/>
              </a:rPr>
              <a:t>VIETSOL COMPANY LIMITED</a:t>
            </a:r>
          </a:p>
          <a:p>
            <a:pPr defTabSz="2322576">
              <a:buClrTx/>
              <a:defRPr/>
            </a:pPr>
            <a:r>
              <a:rPr lang="en-US" sz="3500" b="1" kern="1200" dirty="0">
                <a:latin typeface="Roboto" panose="02000000000000000000" pitchFamily="2" charset="0"/>
                <a:ea typeface="Roboto" panose="02000000000000000000" pitchFamily="2" charset="0"/>
                <a:cs typeface="Roboto" panose="02000000000000000000" pitchFamily="2" charset="0"/>
              </a:rPr>
              <a:t>Business Registration Address: </a:t>
            </a:r>
            <a:r>
              <a:rPr lang="en-US" sz="3500" kern="1200" dirty="0">
                <a:latin typeface="Roboto" panose="02000000000000000000" pitchFamily="2" charset="0"/>
                <a:ea typeface="Roboto" panose="02000000000000000000" pitchFamily="2" charset="0"/>
                <a:cs typeface="Roboto" panose="02000000000000000000" pitchFamily="2" charset="0"/>
              </a:rPr>
              <a:t>The 12th Floor, </a:t>
            </a:r>
            <a:r>
              <a:rPr lang="en-US" sz="3500" kern="1200" dirty="0" err="1">
                <a:latin typeface="Roboto" panose="02000000000000000000" pitchFamily="2" charset="0"/>
                <a:ea typeface="Roboto" panose="02000000000000000000" pitchFamily="2" charset="0"/>
                <a:cs typeface="Roboto" panose="02000000000000000000" pitchFamily="2" charset="0"/>
              </a:rPr>
              <a:t>Licogi</a:t>
            </a:r>
            <a:r>
              <a:rPr lang="en-US" sz="3500" kern="1200" dirty="0">
                <a:latin typeface="Roboto" panose="02000000000000000000" pitchFamily="2" charset="0"/>
                <a:ea typeface="Roboto" panose="02000000000000000000" pitchFamily="2" charset="0"/>
                <a:cs typeface="Roboto" panose="02000000000000000000" pitchFamily="2" charset="0"/>
              </a:rPr>
              <a:t> 13 Building, No 164 Khuat Duy Tien Street, Thanh Xuan Ward, Ha Noi, Viet Nam</a:t>
            </a:r>
          </a:p>
          <a:p>
            <a:pPr defTabSz="2322576">
              <a:buClrTx/>
              <a:defRPr/>
            </a:pPr>
            <a:r>
              <a:rPr lang="en-US" sz="3500" b="1" kern="1200" dirty="0">
                <a:latin typeface="Roboto" panose="02000000000000000000" pitchFamily="2" charset="0"/>
                <a:ea typeface="Roboto" panose="02000000000000000000" pitchFamily="2" charset="0"/>
                <a:cs typeface="Roboto" panose="02000000000000000000" pitchFamily="2" charset="0"/>
              </a:rPr>
              <a:t>Office Address</a:t>
            </a:r>
            <a:r>
              <a:rPr lang="en-US" sz="3500" kern="1200" dirty="0">
                <a:latin typeface="Roboto" panose="02000000000000000000" pitchFamily="2" charset="0"/>
                <a:ea typeface="Roboto" panose="02000000000000000000" pitchFamily="2" charset="0"/>
                <a:cs typeface="Roboto" panose="02000000000000000000" pitchFamily="2" charset="0"/>
              </a:rPr>
              <a:t>: 5th Floor, </a:t>
            </a:r>
            <a:r>
              <a:rPr lang="en-US" sz="3500" kern="1200" dirty="0" err="1">
                <a:latin typeface="Roboto" panose="02000000000000000000" pitchFamily="2" charset="0"/>
                <a:ea typeface="Roboto" panose="02000000000000000000" pitchFamily="2" charset="0"/>
                <a:cs typeface="Roboto" panose="02000000000000000000" pitchFamily="2" charset="0"/>
              </a:rPr>
              <a:t>Everygolf</a:t>
            </a:r>
            <a:r>
              <a:rPr lang="en-US" sz="3500" kern="1200" dirty="0">
                <a:latin typeface="Roboto" panose="02000000000000000000" pitchFamily="2" charset="0"/>
                <a:ea typeface="Roboto" panose="02000000000000000000" pitchFamily="2" charset="0"/>
                <a:cs typeface="Roboto" panose="02000000000000000000" pitchFamily="2" charset="0"/>
              </a:rPr>
              <a:t> Building, 63 Co Linh, Long Bien Ward, Ha Noi, Vietnam</a:t>
            </a:r>
          </a:p>
        </p:txBody>
      </p:sp>
      <p:pic>
        <p:nvPicPr>
          <p:cNvPr id="4" name="Picture 3">
            <a:extLst>
              <a:ext uri="{FF2B5EF4-FFF2-40B4-BE49-F238E27FC236}">
                <a16:creationId xmlns:a16="http://schemas.microsoft.com/office/drawing/2014/main" id="{DAB10CDA-B22E-ACD2-F567-B9C0106513D1}"/>
              </a:ext>
            </a:extLst>
          </p:cNvPr>
          <p:cNvPicPr>
            <a:picLocks noChangeAspect="1"/>
          </p:cNvPicPr>
          <p:nvPr/>
        </p:nvPicPr>
        <p:blipFill>
          <a:blip r:embed="rId4"/>
          <a:stretch>
            <a:fillRect/>
          </a:stretch>
        </p:blipFill>
        <p:spPr>
          <a:xfrm>
            <a:off x="17018734" y="3384639"/>
            <a:ext cx="3585608" cy="927434"/>
          </a:xfrm>
          <a:prstGeom prst="rect">
            <a:avLst/>
          </a:prstGeom>
        </p:spPr>
      </p:pic>
      <p:sp>
        <p:nvSpPr>
          <p:cNvPr id="3" name="TextBox 2">
            <a:extLst>
              <a:ext uri="{FF2B5EF4-FFF2-40B4-BE49-F238E27FC236}">
                <a16:creationId xmlns:a16="http://schemas.microsoft.com/office/drawing/2014/main" id="{7497CBFF-94C4-970F-323B-535B22B4D053}"/>
              </a:ext>
            </a:extLst>
          </p:cNvPr>
          <p:cNvSpPr txBox="1"/>
          <p:nvPr/>
        </p:nvSpPr>
        <p:spPr>
          <a:xfrm>
            <a:off x="4176157" y="4888316"/>
            <a:ext cx="10804993" cy="2785378"/>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0000"/>
                </a:solidFill>
                <a:effectLst/>
                <a:uLnTx/>
                <a:uFillTx/>
                <a:latin typeface="Roboto"/>
                <a:ea typeface="Roboto"/>
                <a:cs typeface="Roboto"/>
                <a:sym typeface="Arial"/>
              </a:rPr>
              <a:t>Company: Nitto Denko Corporation </a:t>
            </a:r>
            <a:endParaRPr lang="en-US" sz="3500" b="1" i="0" u="none" strike="noStrike" kern="1200" cap="none" spc="0" normalizeH="0" baseline="0" noProof="0" dirty="0">
              <a:ln>
                <a:noFill/>
              </a:ln>
              <a:solidFill>
                <a:srgbClr val="000000"/>
              </a:solidFill>
              <a:effectLst/>
              <a:uLnTx/>
              <a:uFillTx/>
              <a:latin typeface="Roboto"/>
              <a:ea typeface="Roboto"/>
              <a:cs typeface="Roboto"/>
            </a:endParaRPr>
          </a:p>
          <a:p>
            <a:pPr lvl="0">
              <a:buClrTx/>
              <a:defRPr/>
            </a:pPr>
            <a:r>
              <a:rPr kumimoji="0" lang="en-US" sz="3500" b="1" i="0" u="none" strike="noStrike" kern="1200" cap="none" spc="0" normalizeH="0" baseline="0" noProof="0" dirty="0">
                <a:ln>
                  <a:noFill/>
                </a:ln>
                <a:solidFill>
                  <a:srgbClr val="000000"/>
                </a:solidFill>
                <a:effectLst/>
                <a:uLnTx/>
                <a:uFillTx/>
                <a:latin typeface="Roboto"/>
                <a:ea typeface="Roboto"/>
                <a:cs typeface="Roboto"/>
                <a:sym typeface="Arial"/>
              </a:rPr>
              <a:t>Address: </a:t>
            </a:r>
            <a:r>
              <a:rPr lang="en-US" sz="3500" kern="1200" dirty="0">
                <a:latin typeface="Roboto" panose="02000000000000000000" pitchFamily="2" charset="0"/>
                <a:ea typeface="Roboto" panose="02000000000000000000" pitchFamily="2" charset="0"/>
                <a:cs typeface="Roboto" panose="02000000000000000000" pitchFamily="2" charset="0"/>
              </a:rPr>
              <a:t>Factory RBF-E/F, Zone RBF, no. 108, Huu Nghi road, VSIP Bac Ninh Integrated Township and Industrial Park, Tu Son ward, Bac Ninh province, Vietnam</a:t>
            </a:r>
          </a:p>
        </p:txBody>
      </p:sp>
      <p:sp>
        <p:nvSpPr>
          <p:cNvPr id="7" name="Date Placeholder 6">
            <a:extLst>
              <a:ext uri="{FF2B5EF4-FFF2-40B4-BE49-F238E27FC236}">
                <a16:creationId xmlns:a16="http://schemas.microsoft.com/office/drawing/2014/main" id="{14417D95-F531-6500-A4D3-91CD2A5A6000}"/>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5A321717-530B-4096-9E40-F1EFC78608A9}"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10" name="Footer Placeholder 9">
            <a:extLst>
              <a:ext uri="{FF2B5EF4-FFF2-40B4-BE49-F238E27FC236}">
                <a16:creationId xmlns:a16="http://schemas.microsoft.com/office/drawing/2014/main" id="{EC4070B9-71D3-2D34-B404-39C82BFE60F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11" name="Slide Number Placeholder 10">
            <a:extLst>
              <a:ext uri="{FF2B5EF4-FFF2-40B4-BE49-F238E27FC236}">
                <a16:creationId xmlns:a16="http://schemas.microsoft.com/office/drawing/2014/main" id="{39374532-914D-A2D6-7EF1-990782351C4D}"/>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2</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6" name="AutoShape 4" descr="Nitto Belgium | element61">
            <a:extLst>
              <a:ext uri="{FF2B5EF4-FFF2-40B4-BE49-F238E27FC236}">
                <a16:creationId xmlns:a16="http://schemas.microsoft.com/office/drawing/2014/main" id="{F44D4CBF-E0EB-6F45-2ED6-9527C443D7CF}"/>
              </a:ext>
            </a:extLst>
          </p:cNvPr>
          <p:cNvSpPr>
            <a:spLocks noChangeAspect="1" noChangeArrowheads="1"/>
          </p:cNvSpPr>
          <p:nvPr/>
        </p:nvSpPr>
        <p:spPr bwMode="auto">
          <a:xfrm>
            <a:off x="4002501" y="3368794"/>
            <a:ext cx="4501419" cy="12507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C4720C46-3A84-E127-DF1E-CCD421ED274B}"/>
              </a:ext>
            </a:extLst>
          </p:cNvPr>
          <p:cNvPicPr>
            <a:picLocks noChangeAspect="1"/>
          </p:cNvPicPr>
          <p:nvPr/>
        </p:nvPicPr>
        <p:blipFill>
          <a:blip r:embed="rId5"/>
          <a:stretch>
            <a:fillRect/>
          </a:stretch>
        </p:blipFill>
        <p:spPr>
          <a:xfrm>
            <a:off x="4025258" y="2637679"/>
            <a:ext cx="3655599" cy="1981863"/>
          </a:xfrm>
          <a:prstGeom prst="rect">
            <a:avLst/>
          </a:prstGeom>
        </p:spPr>
      </p:pic>
      <p:sp>
        <p:nvSpPr>
          <p:cNvPr id="14" name="Textfeld 52">
            <a:extLst>
              <a:ext uri="{FF2B5EF4-FFF2-40B4-BE49-F238E27FC236}">
                <a16:creationId xmlns:a16="http://schemas.microsoft.com/office/drawing/2014/main" id="{481A9867-470D-3782-8416-F70CE7938B5E}"/>
              </a:ext>
            </a:extLst>
          </p:cNvPr>
          <p:cNvSpPr txBox="1"/>
          <p:nvPr/>
        </p:nvSpPr>
        <p:spPr>
          <a:xfrm>
            <a:off x="4155038" y="11166831"/>
            <a:ext cx="10804993" cy="2795637"/>
          </a:xfrm>
          <a:prstGeom prst="rect">
            <a:avLst/>
          </a:prstGeom>
          <a:ln w="6350">
            <a:noFill/>
          </a:ln>
        </p:spPr>
        <p:txBody>
          <a:bodyPr vert="horz" wrap="square" lIns="0" tIns="0" rIns="0" bIns="0" rtlCol="0" anchor="t">
            <a:spAutoFit/>
          </a:bodyPr>
          <a:lstStyle/>
          <a:p>
            <a:pPr defTabSz="2322576">
              <a:spcBef>
                <a:spcPts val="762"/>
              </a:spcBef>
              <a:buClrTx/>
              <a:defRPr/>
            </a:pPr>
            <a:r>
              <a:rPr lang="en-US" sz="3500" kern="1200" dirty="0">
                <a:latin typeface="Roboto" panose="02000000000000000000" pitchFamily="2" charset="0"/>
                <a:ea typeface="Roboto" panose="02000000000000000000" pitchFamily="2" charset="0"/>
                <a:cs typeface="Roboto" panose="02000000000000000000" pitchFamily="2" charset="0"/>
              </a:rPr>
              <a:t>Name: Lê Quang Hùng (Mr.) </a:t>
            </a:r>
            <a:br>
              <a:rPr lang="en-US" sz="3500" kern="1200" dirty="0">
                <a:latin typeface="Roboto" panose="02000000000000000000" pitchFamily="2" charset="0"/>
                <a:ea typeface="Roboto" panose="02000000000000000000" pitchFamily="2" charset="0"/>
                <a:cs typeface="Roboto" panose="02000000000000000000" pitchFamily="2" charset="0"/>
              </a:rPr>
            </a:br>
            <a:r>
              <a:rPr lang="en-US" sz="3500" kern="1200" dirty="0">
                <a:latin typeface="Roboto" panose="02000000000000000000" pitchFamily="2" charset="0"/>
                <a:ea typeface="Roboto" panose="02000000000000000000" pitchFamily="2" charset="0"/>
                <a:cs typeface="Roboto" panose="02000000000000000000" pitchFamily="2" charset="0"/>
              </a:rPr>
              <a:t>Title: Deputy Country IT Manager in charge of Vietnam</a:t>
            </a:r>
          </a:p>
          <a:p>
            <a:pPr defTabSz="2322576">
              <a:spcBef>
                <a:spcPts val="762"/>
              </a:spcBef>
              <a:buClrTx/>
              <a:defRPr/>
            </a:pPr>
            <a:r>
              <a:rPr lang="en-US" sz="3500" kern="1200" dirty="0">
                <a:latin typeface="Roboto" panose="02000000000000000000" pitchFamily="2" charset="0"/>
                <a:ea typeface="Roboto" panose="02000000000000000000" pitchFamily="2" charset="0"/>
                <a:cs typeface="Roboto" panose="02000000000000000000" pitchFamily="2" charset="0"/>
              </a:rPr>
              <a:t>Phone: (+84) 931 531 664  </a:t>
            </a:r>
            <a:br>
              <a:rPr lang="en-US" sz="3500" kern="1200" dirty="0">
                <a:latin typeface="Roboto" panose="02000000000000000000" pitchFamily="2" charset="0"/>
                <a:ea typeface="Roboto" panose="02000000000000000000" pitchFamily="2" charset="0"/>
                <a:cs typeface="Roboto" panose="02000000000000000000" pitchFamily="2" charset="0"/>
              </a:rPr>
            </a:br>
            <a:r>
              <a:rPr lang="en-US" sz="3500" kern="1200" dirty="0">
                <a:latin typeface="Roboto" panose="02000000000000000000" pitchFamily="2" charset="0"/>
                <a:ea typeface="Roboto" panose="02000000000000000000" pitchFamily="2" charset="0"/>
                <a:cs typeface="Roboto" panose="02000000000000000000" pitchFamily="2" charset="0"/>
              </a:rPr>
              <a:t>Email: </a:t>
            </a:r>
            <a:r>
              <a:rPr lang="en-US" sz="3500" kern="1200" dirty="0">
                <a:latin typeface="Roboto" panose="02000000000000000000" pitchFamily="2" charset="0"/>
                <a:ea typeface="Roboto" panose="02000000000000000000" pitchFamily="2" charset="0"/>
                <a:cs typeface="Roboto" panose="02000000000000000000" pitchFamily="2" charset="0"/>
                <a:hlinkClick r:id="rId6">
                  <a:extLst>
                    <a:ext uri="{A12FA001-AC4F-418D-AE19-62706E023703}">
                      <ahyp:hlinkClr xmlns:ahyp="http://schemas.microsoft.com/office/drawing/2018/hyperlinkcolor" val="tx"/>
                    </a:ext>
                  </a:extLst>
                </a:hlinkClick>
              </a:rPr>
              <a:t>hung.lequang@nitto.com</a:t>
            </a:r>
            <a:r>
              <a:rPr lang="en-US" sz="3500" kern="1200" dirty="0">
                <a:latin typeface="Roboto" panose="02000000000000000000" pitchFamily="2" charset="0"/>
                <a:ea typeface="Roboto" panose="02000000000000000000" pitchFamily="2" charset="0"/>
                <a:cs typeface="Roboto" panose="02000000000000000000" pitchFamily="2" charset="0"/>
              </a:rPr>
              <a:t> </a:t>
            </a:r>
            <a:br>
              <a:rPr lang="en-US" sz="3500" kern="1200" dirty="0">
                <a:latin typeface="Roboto" panose="02000000000000000000" pitchFamily="2" charset="0"/>
                <a:ea typeface="Roboto" panose="02000000000000000000" pitchFamily="2" charset="0"/>
                <a:cs typeface="Roboto" panose="02000000000000000000" pitchFamily="2" charset="0"/>
              </a:rPr>
            </a:br>
            <a:endParaRPr lang="en-US" sz="3500" kern="1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111843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grpSp>
        <p:nvGrpSpPr>
          <p:cNvPr id="298" name="Google Shape;298;p50"/>
          <p:cNvGrpSpPr/>
          <p:nvPr/>
        </p:nvGrpSpPr>
        <p:grpSpPr>
          <a:xfrm>
            <a:off x="-1" y="3413799"/>
            <a:ext cx="1244165" cy="1592130"/>
            <a:chOff x="0" y="-38100"/>
            <a:chExt cx="812800" cy="850900"/>
          </a:xfrm>
        </p:grpSpPr>
        <p:sp>
          <p:nvSpPr>
            <p:cNvPr id="299" name="Google Shape;299;p50"/>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BC1823"/>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4741"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50"/>
            <p:cNvSpPr txBox="1"/>
            <p:nvPr/>
          </p:nvSpPr>
          <p:spPr>
            <a:xfrm>
              <a:off x="0" y="-38100"/>
              <a:ext cx="812700" cy="850800"/>
            </a:xfrm>
            <a:prstGeom prst="rect">
              <a:avLst/>
            </a:prstGeom>
            <a:noFill/>
            <a:ln>
              <a:noFill/>
            </a:ln>
          </p:spPr>
          <p:txBody>
            <a:bodyPr spcFirstLastPara="1" wrap="square" lIns="86020" tIns="86020" rIns="86020" bIns="86020" anchor="ctr" anchorCtr="0">
              <a:noAutofit/>
            </a:bodyPr>
            <a:lstStyle/>
            <a:p>
              <a:pPr marL="0" marR="0" lvl="0" indent="0" algn="ctr" defTabSz="914400" rtl="0" eaLnBrk="1" fontAlgn="auto" latinLnBrk="0" hangingPunct="1">
                <a:lnSpc>
                  <a:spcPct val="124444"/>
                </a:lnSpc>
                <a:spcBef>
                  <a:spcPts val="0"/>
                </a:spcBef>
                <a:spcAft>
                  <a:spcPts val="0"/>
                </a:spcAft>
                <a:buClr>
                  <a:srgbClr val="000000"/>
                </a:buClr>
                <a:buSzTx/>
                <a:buFont typeface="Arial"/>
                <a:buNone/>
                <a:tabLst/>
                <a:defRPr/>
              </a:pPr>
              <a:endParaRPr kumimoji="0" sz="3048"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312" name="Google Shape;312;p50"/>
          <p:cNvSpPr txBox="1"/>
          <p:nvPr/>
        </p:nvSpPr>
        <p:spPr>
          <a:xfrm>
            <a:off x="12876524" y="2816809"/>
            <a:ext cx="7506312" cy="218893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6"/>
              </a:lnSpc>
              <a:spcBef>
                <a:spcPts val="0"/>
              </a:spcBef>
              <a:spcAft>
                <a:spcPts val="0"/>
              </a:spcAft>
              <a:buClr>
                <a:srgbClr val="000000"/>
              </a:buClr>
              <a:buSzTx/>
              <a:buFont typeface="Arial"/>
              <a:buNone/>
              <a:tabLst/>
              <a:defRPr/>
            </a:pPr>
            <a:r>
              <a:rPr kumimoji="0" lang="en-US" sz="10160" b="1" i="0" u="none" strike="noStrike" kern="0" cap="none" spc="0" normalizeH="0" baseline="0" noProof="0" dirty="0">
                <a:ln>
                  <a:noFill/>
                </a:ln>
                <a:solidFill>
                  <a:srgbClr val="BC1823"/>
                </a:solidFill>
                <a:effectLst/>
                <a:uLnTx/>
                <a:uFillTx/>
                <a:latin typeface="Roboto"/>
                <a:ea typeface="Roboto"/>
                <a:cs typeface="Roboto"/>
                <a:sym typeface="Calibri"/>
              </a:rPr>
              <a:t>AGENDA</a:t>
            </a:r>
            <a:endParaRPr kumimoji="0" sz="2371" b="0" i="0" u="none" strike="noStrike" kern="0" cap="none" spc="0" normalizeH="0" baseline="0" noProof="0" dirty="0">
              <a:ln>
                <a:noFill/>
              </a:ln>
              <a:solidFill>
                <a:srgbClr val="000000"/>
              </a:solidFill>
              <a:effectLst/>
              <a:uLnTx/>
              <a:uFillTx/>
              <a:latin typeface="Roboto"/>
              <a:ea typeface="Roboto"/>
              <a:cs typeface="Roboto"/>
              <a:sym typeface="Calibri"/>
            </a:endParaRPr>
          </a:p>
        </p:txBody>
      </p:sp>
      <p:sp>
        <p:nvSpPr>
          <p:cNvPr id="15" name="Footer Placeholder 14">
            <a:extLst>
              <a:ext uri="{FF2B5EF4-FFF2-40B4-BE49-F238E27FC236}">
                <a16:creationId xmlns:a16="http://schemas.microsoft.com/office/drawing/2014/main" id="{4284B962-02C7-143D-E388-3E7A1862EE91}"/>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19" name="Slide Number Placeholder 18">
            <a:extLst>
              <a:ext uri="{FF2B5EF4-FFF2-40B4-BE49-F238E27FC236}">
                <a16:creationId xmlns:a16="http://schemas.microsoft.com/office/drawing/2014/main" id="{2B6901BB-771A-4D1B-DB8F-04110EA85170}"/>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3</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pic>
        <p:nvPicPr>
          <p:cNvPr id="21" name="Google Shape;583;p55">
            <a:extLst>
              <a:ext uri="{FF2B5EF4-FFF2-40B4-BE49-F238E27FC236}">
                <a16:creationId xmlns:a16="http://schemas.microsoft.com/office/drawing/2014/main" id="{E3721982-F81C-1D85-36F0-2F7AF64AD0B7}"/>
              </a:ext>
            </a:extLst>
          </p:cNvPr>
          <p:cNvPicPr preferRelativeResize="0"/>
          <p:nvPr/>
        </p:nvPicPr>
        <p:blipFill rotWithShape="1">
          <a:blip r:embed="rId3">
            <a:alphaModFix/>
          </a:blip>
          <a:srcRect l="11530" t="41230" r="11653" b="40863"/>
          <a:stretch/>
        </p:blipFill>
        <p:spPr>
          <a:xfrm>
            <a:off x="1712850" y="672781"/>
            <a:ext cx="3003556" cy="700101"/>
          </a:xfrm>
          <a:prstGeom prst="rect">
            <a:avLst/>
          </a:prstGeom>
          <a:noFill/>
          <a:ln>
            <a:noFill/>
          </a:ln>
        </p:spPr>
      </p:pic>
      <p:sp>
        <p:nvSpPr>
          <p:cNvPr id="6" name="Date Placeholder 6">
            <a:extLst>
              <a:ext uri="{FF2B5EF4-FFF2-40B4-BE49-F238E27FC236}">
                <a16:creationId xmlns:a16="http://schemas.microsoft.com/office/drawing/2014/main" id="{E41AFD26-F10F-6C30-7DF1-554A3A9A9151}"/>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EBFB2F6-82EC-4D04-9A4D-DB4FA8ED24EC}"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7" name="Google Shape;302;p50">
            <a:extLst>
              <a:ext uri="{FF2B5EF4-FFF2-40B4-BE49-F238E27FC236}">
                <a16:creationId xmlns:a16="http://schemas.microsoft.com/office/drawing/2014/main" id="{BE9AAA05-95D9-282A-6D41-035A3D0292D1}"/>
              </a:ext>
            </a:extLst>
          </p:cNvPr>
          <p:cNvSpPr txBox="1"/>
          <p:nvPr/>
        </p:nvSpPr>
        <p:spPr>
          <a:xfrm>
            <a:off x="12876525" y="4429046"/>
            <a:ext cx="13344514" cy="7386638"/>
          </a:xfrm>
          <a:prstGeom prst="rect">
            <a:avLst/>
          </a:prstGeom>
          <a:noFill/>
          <a:ln>
            <a:noFill/>
          </a:ln>
        </p:spPr>
        <p:txBody>
          <a:bodyPr spcFirstLastPara="1" wrap="square" lIns="0" tIns="0" rIns="0" bIns="0" anchor="t" anchorCtr="0">
            <a:spAutoFit/>
          </a:bodyPr>
          <a:lstStyle/>
          <a:p>
            <a:pPr algn="just">
              <a:lnSpc>
                <a:spcPct val="200000"/>
              </a:lnSpc>
              <a:defRPr/>
            </a:pPr>
            <a:r>
              <a:rPr lang="en-US" sz="4800" b="1" dirty="0">
                <a:solidFill>
                  <a:srgbClr val="0070C0"/>
                </a:solidFill>
                <a:latin typeface="Roboto"/>
                <a:ea typeface="Roboto"/>
                <a:cs typeface="Roboto"/>
                <a:sym typeface="Calibri"/>
              </a:rPr>
              <a:t>SYSTEM REQUIREMENT</a:t>
            </a:r>
          </a:p>
          <a:p>
            <a:pPr algn="just">
              <a:lnSpc>
                <a:spcPct val="200000"/>
              </a:lnSpc>
              <a:defRPr/>
            </a:pPr>
            <a:r>
              <a:rPr lang="en-US" sz="4800" dirty="0">
                <a:solidFill>
                  <a:srgbClr val="292929"/>
                </a:solidFill>
                <a:latin typeface="Roboto"/>
                <a:ea typeface="Roboto"/>
                <a:cs typeface="Roboto"/>
                <a:sym typeface="Calibri"/>
              </a:rPr>
              <a:t>EDGE AI BOX SOLUTION</a:t>
            </a:r>
          </a:p>
          <a:p>
            <a:pPr algn="just">
              <a:lnSpc>
                <a:spcPct val="200000"/>
              </a:lnSpc>
              <a:defRPr/>
            </a:pPr>
            <a:r>
              <a:rPr lang="en-US" sz="4800" dirty="0">
                <a:solidFill>
                  <a:srgbClr val="292929"/>
                </a:solidFill>
                <a:latin typeface="Roboto"/>
                <a:ea typeface="Roboto"/>
                <a:cs typeface="Roboto"/>
                <a:sym typeface="Calibri"/>
              </a:rPr>
              <a:t>SOLUTION SYSTEM ARCHITECT</a:t>
            </a:r>
          </a:p>
          <a:p>
            <a:pPr algn="just">
              <a:lnSpc>
                <a:spcPct val="200000"/>
              </a:lnSpc>
              <a:defRPr/>
            </a:pPr>
            <a:r>
              <a:rPr lang="en-US" sz="4800" dirty="0">
                <a:solidFill>
                  <a:srgbClr val="292929"/>
                </a:solidFill>
                <a:latin typeface="Roboto"/>
                <a:ea typeface="Roboto"/>
                <a:cs typeface="Roboto"/>
                <a:sym typeface="Calibri"/>
              </a:rPr>
              <a:t>PROJECT TIMELINE</a:t>
            </a:r>
          </a:p>
          <a:p>
            <a:pPr algn="just">
              <a:lnSpc>
                <a:spcPct val="200000"/>
              </a:lnSpc>
              <a:defRPr/>
            </a:pPr>
            <a:r>
              <a:rPr lang="en-US" sz="4800" dirty="0">
                <a:solidFill>
                  <a:srgbClr val="292929"/>
                </a:solidFill>
                <a:latin typeface="Roboto"/>
                <a:ea typeface="Roboto"/>
                <a:cs typeface="Roboto"/>
                <a:sym typeface="Calibri"/>
              </a:rPr>
              <a:t>COMMERCIAL</a:t>
            </a:r>
            <a:endParaRPr kumimoji="0" lang="en-US" sz="4800" b="0" i="0" u="none" strike="noStrike" kern="0" cap="none" spc="0" normalizeH="0" baseline="0" noProof="0" dirty="0">
              <a:ln>
                <a:noFill/>
              </a:ln>
              <a:solidFill>
                <a:srgbClr val="292929"/>
              </a:solidFill>
              <a:effectLst/>
              <a:uLnTx/>
              <a:uFillTx/>
              <a:latin typeface="Roboto"/>
              <a:ea typeface="Roboto"/>
              <a:cs typeface="Roboto"/>
              <a:sym typeface="Calibri"/>
            </a:endParaRPr>
          </a:p>
        </p:txBody>
      </p:sp>
      <p:pic>
        <p:nvPicPr>
          <p:cNvPr id="2050" name="Picture 2" descr="Smart City Surveillance System Modern Security Camera Providing Advanced  Surveillance Network Connectivity Data Protection Stock Illustration -  Illustration of privacy, wireless: 360303284">
            <a:extLst>
              <a:ext uri="{FF2B5EF4-FFF2-40B4-BE49-F238E27FC236}">
                <a16:creationId xmlns:a16="http://schemas.microsoft.com/office/drawing/2014/main" id="{4049F086-C2B4-B3A3-E801-7EFE8EA9A0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6078" y="4579952"/>
            <a:ext cx="10874214" cy="7084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881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grpSp>
        <p:nvGrpSpPr>
          <p:cNvPr id="358" name="Google Shape;358;g2cd193ef60f_0_3317"/>
          <p:cNvGrpSpPr/>
          <p:nvPr/>
        </p:nvGrpSpPr>
        <p:grpSpPr>
          <a:xfrm>
            <a:off x="440" y="-1"/>
            <a:ext cx="1006480" cy="2464683"/>
            <a:chOff x="0" y="-38100"/>
            <a:chExt cx="426000" cy="1071320"/>
          </a:xfrm>
        </p:grpSpPr>
        <p:sp>
          <p:nvSpPr>
            <p:cNvPr id="359" name="Google Shape;359;g2cd193ef60f_0_3317"/>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kern="0"/>
            </a:p>
          </p:txBody>
        </p:sp>
        <p:sp>
          <p:nvSpPr>
            <p:cNvPr id="360" name="Google Shape;360;g2cd193ef60f_0_3317"/>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kern="0">
                <a:latin typeface="Calibri"/>
                <a:ea typeface="Calibri"/>
                <a:cs typeface="Calibri"/>
                <a:sym typeface="Calibri"/>
              </a:endParaRPr>
            </a:p>
          </p:txBody>
        </p:sp>
      </p:grpSp>
      <p:sp>
        <p:nvSpPr>
          <p:cNvPr id="361" name="Google Shape;361;g2cd193ef60f_0_3317"/>
          <p:cNvSpPr txBox="1"/>
          <p:nvPr/>
        </p:nvSpPr>
        <p:spPr>
          <a:xfrm>
            <a:off x="1713243" y="1571378"/>
            <a:ext cx="24195812" cy="89255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r>
              <a:rPr lang="en-US" sz="5800" b="1" dirty="0">
                <a:solidFill>
                  <a:srgbClr val="292929"/>
                </a:solidFill>
                <a:latin typeface="Roboto"/>
                <a:ea typeface="Roboto"/>
                <a:cs typeface="Roboto"/>
                <a:sym typeface="Roboto"/>
              </a:rPr>
              <a:t>SYSTEM REQUIREMENT</a:t>
            </a:r>
          </a:p>
        </p:txBody>
      </p:sp>
      <p:pic>
        <p:nvPicPr>
          <p:cNvPr id="362" name="Google Shape;362;g2cd193ef60f_0_3317"/>
          <p:cNvPicPr preferRelativeResize="0"/>
          <p:nvPr/>
        </p:nvPicPr>
        <p:blipFill rotWithShape="1">
          <a:blip r:embed="rId4">
            <a:alphaModFix/>
          </a:blip>
          <a:srcRect l="11530" t="41230" r="11653" b="40863"/>
          <a:stretch/>
        </p:blipFill>
        <p:spPr>
          <a:xfrm>
            <a:off x="1713244" y="672779"/>
            <a:ext cx="3003465" cy="700105"/>
          </a:xfrm>
          <a:prstGeom prst="rect">
            <a:avLst/>
          </a:prstGeom>
          <a:noFill/>
          <a:ln>
            <a:noFill/>
          </a:ln>
        </p:spPr>
      </p:pic>
      <p:sp>
        <p:nvSpPr>
          <p:cNvPr id="4" name="Footer Placeholder 3">
            <a:extLst>
              <a:ext uri="{FF2B5EF4-FFF2-40B4-BE49-F238E27FC236}">
                <a16:creationId xmlns:a16="http://schemas.microsoft.com/office/drawing/2014/main" id="{1AA9DFC4-A60D-5841-FD65-B3AC8884BDEE}"/>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5" name="Slide Number Placeholder 4">
            <a:extLst>
              <a:ext uri="{FF2B5EF4-FFF2-40B4-BE49-F238E27FC236}">
                <a16:creationId xmlns:a16="http://schemas.microsoft.com/office/drawing/2014/main" id="{50501788-4F9E-A1F5-4974-6ACAE34B328E}"/>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4</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Date Placeholder 6">
            <a:extLst>
              <a:ext uri="{FF2B5EF4-FFF2-40B4-BE49-F238E27FC236}">
                <a16:creationId xmlns:a16="http://schemas.microsoft.com/office/drawing/2014/main" id="{07203922-12A6-A4F8-2B5F-2D40441F4107}"/>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6D3F2FB-93C4-4C8C-88BC-FAB5532D93EE}"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graphicFrame>
        <p:nvGraphicFramePr>
          <p:cNvPr id="3" name="Table 2">
            <a:extLst>
              <a:ext uri="{FF2B5EF4-FFF2-40B4-BE49-F238E27FC236}">
                <a16:creationId xmlns:a16="http://schemas.microsoft.com/office/drawing/2014/main" id="{BBF1AE1C-A2B8-0866-4A18-4F3C1816B810}"/>
              </a:ext>
            </a:extLst>
          </p:cNvPr>
          <p:cNvGraphicFramePr>
            <a:graphicFrameLocks noGrp="1"/>
          </p:cNvGraphicFramePr>
          <p:nvPr>
            <p:extLst>
              <p:ext uri="{D42A27DB-BD31-4B8C-83A1-F6EECF244321}">
                <p14:modId xmlns:p14="http://schemas.microsoft.com/office/powerpoint/2010/main" val="121423711"/>
              </p:ext>
            </p:extLst>
          </p:nvPr>
        </p:nvGraphicFramePr>
        <p:xfrm>
          <a:off x="2999580" y="4361870"/>
          <a:ext cx="24409400" cy="11938022"/>
        </p:xfrm>
        <a:graphic>
          <a:graphicData uri="http://schemas.openxmlformats.org/drawingml/2006/table">
            <a:tbl>
              <a:tblPr/>
              <a:tblGrid>
                <a:gridCol w="4922612">
                  <a:extLst>
                    <a:ext uri="{9D8B030D-6E8A-4147-A177-3AD203B41FA5}">
                      <a16:colId xmlns:a16="http://schemas.microsoft.com/office/drawing/2014/main" val="455283381"/>
                    </a:ext>
                  </a:extLst>
                </a:gridCol>
                <a:gridCol w="19486788">
                  <a:extLst>
                    <a:ext uri="{9D8B030D-6E8A-4147-A177-3AD203B41FA5}">
                      <a16:colId xmlns:a16="http://schemas.microsoft.com/office/drawing/2014/main" val="3254854835"/>
                    </a:ext>
                  </a:extLst>
                </a:gridCol>
              </a:tblGrid>
              <a:tr h="565539">
                <a:tc>
                  <a:txBody>
                    <a:bodyPr/>
                    <a:lstStyle/>
                    <a:p>
                      <a:pPr algn="ctr" fontAlgn="base">
                        <a:lnSpc>
                          <a:spcPts val="3825"/>
                        </a:lnSpc>
                        <a:buNone/>
                      </a:pPr>
                      <a:r>
                        <a:rPr lang="en-US" sz="4000" b="1" i="0" dirty="0">
                          <a:solidFill>
                            <a:srgbClr val="000000"/>
                          </a:solidFill>
                          <a:effectLst/>
                          <a:latin typeface="Roboto" panose="02000000000000000000" pitchFamily="2" charset="0"/>
                        </a:rPr>
                        <a:t>Items </a:t>
                      </a:r>
                      <a:r>
                        <a:rPr lang="en-US" sz="4000" b="0" i="0" dirty="0">
                          <a:solidFill>
                            <a:srgbClr val="000000"/>
                          </a:solidFill>
                          <a:effectLst/>
                          <a:latin typeface="Roboto" panose="02000000000000000000" pitchFamily="2" charset="0"/>
                        </a:rPr>
                        <a:t>​</a:t>
                      </a:r>
                      <a:endParaRPr lang="en-US" sz="5400" b="0" i="0" dirty="0">
                        <a:solidFill>
                          <a:srgbClr val="000000"/>
                        </a:solidFill>
                        <a:effectLst/>
                      </a:endParaRP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2CC"/>
                    </a:solidFill>
                  </a:tcPr>
                </a:tc>
                <a:tc>
                  <a:txBody>
                    <a:bodyPr/>
                    <a:lstStyle/>
                    <a:p>
                      <a:pPr algn="ctr" fontAlgn="base">
                        <a:lnSpc>
                          <a:spcPts val="3825"/>
                        </a:lnSpc>
                        <a:buNone/>
                      </a:pPr>
                      <a:r>
                        <a:rPr lang="en-US" sz="4000" b="1" i="0" dirty="0">
                          <a:solidFill>
                            <a:srgbClr val="000000"/>
                          </a:solidFill>
                          <a:effectLst/>
                          <a:latin typeface="Roboto" panose="02000000000000000000" pitchFamily="2" charset="0"/>
                        </a:rPr>
                        <a:t>Content</a:t>
                      </a:r>
                      <a:r>
                        <a:rPr lang="en-US" sz="4000" b="0" i="0" dirty="0">
                          <a:solidFill>
                            <a:srgbClr val="000000"/>
                          </a:solidFill>
                          <a:effectLst/>
                          <a:latin typeface="Roboto" panose="02000000000000000000" pitchFamily="2" charset="0"/>
                        </a:rPr>
                        <a:t>​</a:t>
                      </a:r>
                      <a:endParaRPr lang="en-US" sz="5400" b="0" i="0" dirty="0">
                        <a:solidFill>
                          <a:srgbClr val="000000"/>
                        </a:solidFill>
                        <a:effectLst/>
                      </a:endParaRP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07282024"/>
                  </a:ext>
                </a:extLst>
              </a:tr>
              <a:tr h="3189937">
                <a:tc>
                  <a:txBody>
                    <a:bodyPr/>
                    <a:lstStyle/>
                    <a:p>
                      <a:pPr algn="l" fontAlgn="base">
                        <a:lnSpc>
                          <a:spcPts val="3825"/>
                        </a:lnSpc>
                        <a:buNone/>
                      </a:pPr>
                      <a:r>
                        <a:rPr lang="en-US" sz="3600" b="1" i="0" dirty="0">
                          <a:solidFill>
                            <a:srgbClr val="000000"/>
                          </a:solidFill>
                          <a:effectLst/>
                          <a:latin typeface="Roboto" panose="02000000000000000000" pitchFamily="2" charset="0"/>
                        </a:rPr>
                        <a:t>Scope </a:t>
                      </a:r>
                      <a:r>
                        <a:rPr lang="en-US" sz="3600" b="0" i="0" dirty="0">
                          <a:solidFill>
                            <a:srgbClr val="000000"/>
                          </a:solidFill>
                          <a:effectLst/>
                          <a:latin typeface="Roboto" panose="02000000000000000000" pitchFamily="2" charset="0"/>
                        </a:rPr>
                        <a:t>​</a:t>
                      </a:r>
                      <a:endParaRPr lang="en-US" sz="4800" b="0" i="0" dirty="0">
                        <a:solidFill>
                          <a:srgbClr val="000000"/>
                        </a:solidFill>
                        <a:effectLst/>
                      </a:endParaRP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r>
                        <a:rPr lang="en-US" sz="3200" dirty="0">
                          <a:latin typeface="Roboto" panose="02000000000000000000" pitchFamily="2" charset="0"/>
                          <a:ea typeface="Roboto" panose="02000000000000000000" pitchFamily="2" charset="0"/>
                          <a:cs typeface="Roboto" panose="02000000000000000000" pitchFamily="2" charset="0"/>
                        </a:rPr>
                        <a:t>A complete turnkey system integrating </a:t>
                      </a:r>
                      <a:r>
                        <a:rPr lang="en-US" sz="3200" b="1" dirty="0">
                          <a:latin typeface="Roboto" panose="02000000000000000000" pitchFamily="2" charset="0"/>
                          <a:ea typeface="Roboto" panose="02000000000000000000" pitchFamily="2" charset="0"/>
                          <a:cs typeface="Roboto" panose="02000000000000000000" pitchFamily="2" charset="0"/>
                        </a:rPr>
                        <a:t>AI Vision technology</a:t>
                      </a:r>
                      <a:r>
                        <a:rPr lang="en-US" sz="3200" dirty="0">
                          <a:latin typeface="Roboto" panose="02000000000000000000" pitchFamily="2" charset="0"/>
                          <a:ea typeface="Roboto" panose="02000000000000000000" pitchFamily="2" charset="0"/>
                          <a:cs typeface="Roboto" panose="02000000000000000000" pitchFamily="2" charset="0"/>
                        </a:rPr>
                        <a:t> and </a:t>
                      </a:r>
                      <a:r>
                        <a:rPr lang="en-US" sz="3200" b="1" dirty="0">
                          <a:latin typeface="Roboto" panose="02000000000000000000" pitchFamily="2" charset="0"/>
                          <a:ea typeface="Roboto" panose="02000000000000000000" pitchFamily="2" charset="0"/>
                          <a:cs typeface="Roboto" panose="02000000000000000000" pitchFamily="2" charset="0"/>
                        </a:rPr>
                        <a:t>Edge Box</a:t>
                      </a:r>
                      <a:r>
                        <a:rPr lang="en-US" sz="3200" dirty="0">
                          <a:latin typeface="Roboto" panose="02000000000000000000" pitchFamily="2" charset="0"/>
                          <a:ea typeface="Roboto" panose="02000000000000000000" pitchFamily="2" charset="0"/>
                          <a:cs typeface="Roboto" panose="02000000000000000000" pitchFamily="2" charset="0"/>
                        </a:rPr>
                        <a:t> processing. The system is designed to detect safety violations in Nitto Denko manufacturing environments</a:t>
                      </a:r>
                    </a:p>
                    <a:p>
                      <a:pPr marL="0" indent="0">
                        <a:buFont typeface="Wingdings" panose="05000000000000000000" pitchFamily="2" charset="2"/>
                        <a:buNone/>
                      </a:pPr>
                      <a:r>
                        <a:rPr lang="en-US" sz="3200" dirty="0">
                          <a:latin typeface="Roboto" panose="02000000000000000000" pitchFamily="2" charset="0"/>
                          <a:ea typeface="Roboto" panose="02000000000000000000" pitchFamily="2" charset="0"/>
                          <a:cs typeface="Roboto" panose="02000000000000000000" pitchFamily="2" charset="0"/>
                        </a:rPr>
                        <a:t>The Edge AI box will be installed in new Nitto Denko manufacturing in Hung Yen, Vietnam</a:t>
                      </a:r>
                    </a:p>
                    <a:p>
                      <a:pPr marL="0" indent="0">
                        <a:buFont typeface="Wingdings" panose="05000000000000000000" pitchFamily="2" charset="2"/>
                        <a:buNone/>
                      </a:pPr>
                      <a:endParaRPr lang="en-US" sz="3200" dirty="0">
                        <a:latin typeface="Roboto" panose="02000000000000000000" pitchFamily="2" charset="0"/>
                        <a:ea typeface="Roboto" panose="02000000000000000000" pitchFamily="2" charset="0"/>
                        <a:cs typeface="Roboto" panose="02000000000000000000" pitchFamily="2" charset="0"/>
                      </a:endParaRPr>
                    </a:p>
                    <a:p>
                      <a:pPr marL="457200" marR="0" lvl="0" indent="-457200" algn="l" defTabSz="232233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Roboto" panose="02000000000000000000" pitchFamily="2" charset="0"/>
                          <a:ea typeface="Roboto" panose="02000000000000000000" pitchFamily="2" charset="0"/>
                          <a:cs typeface="Roboto" panose="02000000000000000000" pitchFamily="2" charset="0"/>
                        </a:rPr>
                        <a:t>In the first phase of the project, the AI model is developed to detect:</a:t>
                      </a:r>
                    </a:p>
                    <a:p>
                      <a:pPr marL="457200" marR="0" lvl="0" indent="-457200" algn="l" defTabSz="232233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3200" b="1" dirty="0">
                          <a:latin typeface="Roboto" panose="02000000000000000000" pitchFamily="2" charset="0"/>
                          <a:ea typeface="Roboto" panose="02000000000000000000" pitchFamily="2" charset="0"/>
                          <a:cs typeface="Roboto" panose="02000000000000000000" pitchFamily="2" charset="0"/>
                        </a:rPr>
                        <a:t>Environmental Safety:</a:t>
                      </a:r>
                      <a:r>
                        <a:rPr lang="en-US" sz="3200" dirty="0">
                          <a:latin typeface="Roboto" panose="02000000000000000000" pitchFamily="2" charset="0"/>
                          <a:ea typeface="Roboto" panose="02000000000000000000" pitchFamily="2" charset="0"/>
                          <a:cs typeface="Roboto" panose="02000000000000000000" pitchFamily="2" charset="0"/>
                        </a:rPr>
                        <a:t> Fire, Smoke, and Fall detection, and Po-</a:t>
                      </a:r>
                      <a:r>
                        <a:rPr lang="en-US" sz="3200" dirty="0" err="1">
                          <a:latin typeface="Roboto" panose="02000000000000000000" pitchFamily="2" charset="0"/>
                          <a:ea typeface="Roboto" panose="02000000000000000000" pitchFamily="2" charset="0"/>
                          <a:cs typeface="Roboto" panose="02000000000000000000" pitchFamily="2" charset="0"/>
                        </a:rPr>
                        <a:t>ke</a:t>
                      </a:r>
                      <a:r>
                        <a:rPr lang="en-US" sz="3200" dirty="0">
                          <a:latin typeface="Roboto" panose="02000000000000000000" pitchFamily="2" charset="0"/>
                          <a:ea typeface="Roboto" panose="02000000000000000000" pitchFamily="2" charset="0"/>
                          <a:cs typeface="Roboto" panose="02000000000000000000" pitchFamily="2" charset="0"/>
                        </a:rPr>
                        <a:t>-</a:t>
                      </a:r>
                      <a:r>
                        <a:rPr lang="en-US" sz="3200" dirty="0" err="1">
                          <a:latin typeface="Roboto" panose="02000000000000000000" pitchFamily="2" charset="0"/>
                          <a:ea typeface="Roboto" panose="02000000000000000000" pitchFamily="2" charset="0"/>
                          <a:cs typeface="Roboto" panose="02000000000000000000" pitchFamily="2" charset="0"/>
                        </a:rPr>
                        <a:t>te-na-shi</a:t>
                      </a:r>
                      <a:r>
                        <a:rPr lang="en-US" sz="3200" dirty="0">
                          <a:latin typeface="Roboto" panose="02000000000000000000" pitchFamily="2" charset="0"/>
                          <a:ea typeface="Roboto" panose="02000000000000000000" pitchFamily="2" charset="0"/>
                          <a:cs typeface="Roboto" panose="02000000000000000000" pitchFamily="2" charset="0"/>
                        </a:rPr>
                        <a:t> safety requirement</a:t>
                      </a:r>
                    </a:p>
                    <a:p>
                      <a:pPr marL="457200" indent="-457200">
                        <a:buFont typeface="Wingdings" panose="05000000000000000000" pitchFamily="2" charset="2"/>
                        <a:buChar char="§"/>
                      </a:pPr>
                      <a:r>
                        <a:rPr lang="en-US" sz="3200" b="1" dirty="0">
                          <a:latin typeface="Roboto" panose="02000000000000000000" pitchFamily="2" charset="0"/>
                          <a:ea typeface="Roboto" panose="02000000000000000000" pitchFamily="2" charset="0"/>
                          <a:cs typeface="Roboto" panose="02000000000000000000" pitchFamily="2" charset="0"/>
                        </a:rPr>
                        <a:t>Basic PPE compliance:</a:t>
                      </a:r>
                      <a:r>
                        <a:rPr lang="en-US" sz="3200" dirty="0">
                          <a:latin typeface="Roboto" panose="02000000000000000000" pitchFamily="2" charset="0"/>
                          <a:ea typeface="Roboto" panose="02000000000000000000" pitchFamily="2" charset="0"/>
                          <a:cs typeface="Roboto" panose="02000000000000000000" pitchFamily="2" charset="0"/>
                        </a:rPr>
                        <a:t> Safety Helmet, Safety Shoes</a:t>
                      </a:r>
                    </a:p>
                    <a:p>
                      <a:pPr marL="457200" indent="-457200">
                        <a:buFont typeface="Wingdings" panose="05000000000000000000" pitchFamily="2" charset="2"/>
                        <a:buChar char="§"/>
                      </a:pPr>
                      <a:r>
                        <a:rPr lang="en-US" sz="3200" b="1" dirty="0">
                          <a:latin typeface="Roboto" panose="02000000000000000000" pitchFamily="2" charset="0"/>
                          <a:ea typeface="Roboto" panose="02000000000000000000" pitchFamily="2" charset="0"/>
                          <a:cs typeface="Roboto" panose="02000000000000000000" pitchFamily="2" charset="0"/>
                        </a:rPr>
                        <a:t>Security:</a:t>
                      </a:r>
                      <a:r>
                        <a:rPr lang="en-US" sz="3200" dirty="0">
                          <a:latin typeface="Roboto" panose="02000000000000000000" pitchFamily="2" charset="0"/>
                          <a:ea typeface="Roboto" panose="02000000000000000000" pitchFamily="2" charset="0"/>
                          <a:cs typeface="Roboto" panose="02000000000000000000" pitchFamily="2" charset="0"/>
                        </a:rPr>
                        <a:t> Restricted zone monitoring and intrusion detection.</a:t>
                      </a:r>
                    </a:p>
                    <a:p>
                      <a:pPr marL="0" indent="0">
                        <a:buFont typeface="Wingdings" panose="05000000000000000000" pitchFamily="2" charset="2"/>
                        <a:buNone/>
                      </a:pPr>
                      <a:endParaRPr lang="en-US" sz="3200" dirty="0">
                        <a:latin typeface="Roboto" panose="02000000000000000000" pitchFamily="2" charset="0"/>
                        <a:ea typeface="Roboto" panose="02000000000000000000" pitchFamily="2" charset="0"/>
                        <a:cs typeface="Roboto" panose="02000000000000000000" pitchFamily="2" charset="0"/>
                      </a:endParaRPr>
                    </a:p>
                    <a:p>
                      <a:pPr marL="457200" indent="-457200">
                        <a:buFont typeface="Wingdings" panose="05000000000000000000" pitchFamily="2" charset="2"/>
                        <a:buChar char="Ø"/>
                      </a:pPr>
                      <a:r>
                        <a:rPr lang="en-US" sz="3200" dirty="0">
                          <a:latin typeface="Roboto" panose="02000000000000000000" pitchFamily="2" charset="0"/>
                          <a:ea typeface="Roboto" panose="02000000000000000000" pitchFamily="2" charset="0"/>
                          <a:cs typeface="Roboto" panose="02000000000000000000" pitchFamily="2" charset="0"/>
                        </a:rPr>
                        <a:t>In the second phase, additional model will be integrated to existing Edge AI box solution, to detect: </a:t>
                      </a:r>
                    </a:p>
                    <a:p>
                      <a:pPr marL="457200" indent="-457200">
                        <a:buFont typeface="Wingdings" panose="05000000000000000000" pitchFamily="2" charset="2"/>
                        <a:buChar char="§"/>
                      </a:pPr>
                      <a:r>
                        <a:rPr lang="en-US" sz="3200" b="1" dirty="0">
                          <a:latin typeface="Roboto" panose="02000000000000000000" pitchFamily="2" charset="0"/>
                          <a:ea typeface="Roboto" panose="02000000000000000000" pitchFamily="2" charset="0"/>
                          <a:cs typeface="Roboto" panose="02000000000000000000" pitchFamily="2" charset="0"/>
                        </a:rPr>
                        <a:t>Specialized PPE compliance:</a:t>
                      </a:r>
                      <a:r>
                        <a:rPr lang="en-US" sz="3200" dirty="0">
                          <a:latin typeface="Roboto" panose="02000000000000000000" pitchFamily="2" charset="0"/>
                          <a:ea typeface="Roboto" panose="02000000000000000000" pitchFamily="2" charset="0"/>
                          <a:cs typeface="Roboto" panose="02000000000000000000" pitchFamily="2" charset="0"/>
                        </a:rPr>
                        <a:t> Goggles, Mask, Gloves, Apron, </a:t>
                      </a:r>
                    </a:p>
                    <a:p>
                      <a:pPr marL="457200" indent="-457200">
                        <a:buFont typeface="Wingdings" panose="05000000000000000000" pitchFamily="2" charset="2"/>
                        <a:buChar char="§"/>
                      </a:pPr>
                      <a:r>
                        <a:rPr lang="en-US" sz="3200" b="1" dirty="0">
                          <a:latin typeface="Roboto" panose="02000000000000000000" pitchFamily="2" charset="0"/>
                          <a:ea typeface="Roboto" panose="02000000000000000000" pitchFamily="2" charset="0"/>
                          <a:cs typeface="Roboto" panose="02000000000000000000" pitchFamily="2" charset="0"/>
                        </a:rPr>
                        <a:t>High-Altitude:</a:t>
                      </a:r>
                      <a:r>
                        <a:rPr lang="en-US" sz="3200" dirty="0">
                          <a:latin typeface="Roboto" panose="02000000000000000000" pitchFamily="2" charset="0"/>
                          <a:ea typeface="Roboto" panose="02000000000000000000" pitchFamily="2" charset="0"/>
                          <a:cs typeface="Roboto" panose="02000000000000000000" pitchFamily="2" charset="0"/>
                        </a:rPr>
                        <a:t> Safety Harness with Hook attached, also at Height</a:t>
                      </a: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3309424"/>
                  </a:ext>
                </a:extLst>
              </a:tr>
              <a:tr h="1814724">
                <a:tc>
                  <a:txBody>
                    <a:bodyPr/>
                    <a:lstStyle/>
                    <a:p>
                      <a:pPr marL="0" marR="0" lvl="0" indent="0" algn="l" defTabSz="2322330" rtl="0" eaLnBrk="1" fontAlgn="base" latinLnBrk="0" hangingPunct="1">
                        <a:lnSpc>
                          <a:spcPts val="3825"/>
                        </a:lnSpc>
                        <a:spcBef>
                          <a:spcPts val="0"/>
                        </a:spcBef>
                        <a:spcAft>
                          <a:spcPts val="0"/>
                        </a:spcAft>
                        <a:buClrTx/>
                        <a:buSzTx/>
                        <a:buFontTx/>
                        <a:buNone/>
                        <a:tabLst/>
                        <a:defRPr/>
                      </a:pPr>
                      <a:r>
                        <a:rPr lang="en-US" sz="3600" b="1" i="0" kern="1200" dirty="0">
                          <a:solidFill>
                            <a:srgbClr val="000000"/>
                          </a:solidFill>
                          <a:effectLst/>
                          <a:latin typeface="Roboto" panose="02000000000000000000" pitchFamily="2" charset="0"/>
                          <a:ea typeface="+mn-ea"/>
                          <a:cs typeface="+mn-cs"/>
                        </a:rPr>
                        <a:t>Defined area for surveillance</a:t>
                      </a:r>
                    </a:p>
                    <a:p>
                      <a:pPr marL="0" algn="l" defTabSz="2322330" rtl="0" eaLnBrk="1" fontAlgn="base" latinLnBrk="0" hangingPunct="1">
                        <a:lnSpc>
                          <a:spcPts val="3825"/>
                        </a:lnSpc>
                        <a:buNone/>
                      </a:pPr>
                      <a:endParaRPr lang="en-US" sz="3600" b="1" i="0" kern="1200" dirty="0">
                        <a:solidFill>
                          <a:srgbClr val="000000"/>
                        </a:solidFill>
                        <a:effectLst/>
                        <a:highlight>
                          <a:srgbClr val="FFFF00"/>
                        </a:highlight>
                        <a:latin typeface="Roboto" panose="02000000000000000000" pitchFamily="2" charset="0"/>
                        <a:ea typeface="+mn-ea"/>
                        <a:cs typeface="+mn-cs"/>
                      </a:endParaRP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r>
                        <a:rPr lang="en-US" sz="3200" b="1" dirty="0">
                          <a:latin typeface="Roboto" panose="02000000000000000000" pitchFamily="2" charset="0"/>
                          <a:ea typeface="Roboto" panose="02000000000000000000" pitchFamily="2" charset="0"/>
                          <a:cs typeface="Roboto" panose="02000000000000000000" pitchFamily="2" charset="0"/>
                        </a:rPr>
                        <a:t>The Edge AI box with Camera surveillance will cover:</a:t>
                      </a:r>
                      <a:r>
                        <a:rPr lang="en-US" sz="3200" dirty="0">
                          <a:latin typeface="Roboto" panose="02000000000000000000" pitchFamily="2" charset="0"/>
                          <a:ea typeface="Roboto" panose="02000000000000000000" pitchFamily="2" charset="0"/>
                          <a:cs typeface="Roboto" panose="02000000000000000000" pitchFamily="2" charset="0"/>
                        </a:rPr>
                        <a:t> 3 Floors, 1 Mezzanine, 1 Outdoor Area, and 1 Rooftop. </a:t>
                      </a:r>
                    </a:p>
                    <a:p>
                      <a:r>
                        <a:rPr lang="en-US" sz="3200" dirty="0">
                          <a:latin typeface="Roboto" panose="02000000000000000000" pitchFamily="2" charset="0"/>
                          <a:ea typeface="Roboto" panose="02000000000000000000" pitchFamily="2" charset="0"/>
                          <a:cs typeface="Roboto" panose="02000000000000000000" pitchFamily="2" charset="0"/>
                        </a:rPr>
                        <a:t>All devices powered via </a:t>
                      </a:r>
                      <a:r>
                        <a:rPr lang="en-US" sz="3200" b="1" dirty="0">
                          <a:latin typeface="Roboto" panose="02000000000000000000" pitchFamily="2" charset="0"/>
                          <a:ea typeface="Roboto" panose="02000000000000000000" pitchFamily="2" charset="0"/>
                          <a:cs typeface="Roboto" panose="02000000000000000000" pitchFamily="2" charset="0"/>
                        </a:rPr>
                        <a:t>PoE (Power over Ethernet)</a:t>
                      </a:r>
                      <a:r>
                        <a:rPr lang="en-US" sz="3200" dirty="0">
                          <a:latin typeface="Roboto" panose="02000000000000000000" pitchFamily="2" charset="0"/>
                          <a:ea typeface="Roboto" panose="02000000000000000000" pitchFamily="2" charset="0"/>
                          <a:cs typeface="Roboto" panose="02000000000000000000" pitchFamily="2" charset="0"/>
                        </a:rPr>
                        <a:t>. </a:t>
                      </a: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4630924"/>
                  </a:ext>
                </a:extLst>
              </a:tr>
              <a:tr h="948398">
                <a:tc>
                  <a:txBody>
                    <a:bodyPr/>
                    <a:lstStyle/>
                    <a:p>
                      <a:pPr marL="0" marR="0" lvl="0" indent="0" algn="l" defTabSz="2322330" rtl="0" eaLnBrk="1" fontAlgn="base" latinLnBrk="0" hangingPunct="1">
                        <a:lnSpc>
                          <a:spcPts val="3825"/>
                        </a:lnSpc>
                        <a:spcBef>
                          <a:spcPts val="0"/>
                        </a:spcBef>
                        <a:spcAft>
                          <a:spcPts val="0"/>
                        </a:spcAft>
                        <a:buClrTx/>
                        <a:buSzTx/>
                        <a:buFontTx/>
                        <a:buNone/>
                        <a:tabLst/>
                        <a:defRPr/>
                      </a:pPr>
                      <a:r>
                        <a:rPr lang="en-US" sz="3600" b="1" i="0" kern="1200" dirty="0">
                          <a:solidFill>
                            <a:srgbClr val="000000"/>
                          </a:solidFill>
                          <a:effectLst/>
                          <a:latin typeface="Roboto" panose="02000000000000000000" pitchFamily="2" charset="0"/>
                          <a:ea typeface="+mn-ea"/>
                          <a:cs typeface="+mn-cs"/>
                        </a:rPr>
                        <a:t>Hardware specification</a:t>
                      </a:r>
                    </a:p>
                    <a:p>
                      <a:pPr marL="0" algn="l" defTabSz="2322330" rtl="0" eaLnBrk="1" fontAlgn="base" latinLnBrk="0" hangingPunct="1">
                        <a:lnSpc>
                          <a:spcPts val="3825"/>
                        </a:lnSpc>
                        <a:buNone/>
                      </a:pPr>
                      <a:endParaRPr lang="en-US" sz="3600" b="1" i="0" kern="1200" dirty="0">
                        <a:solidFill>
                          <a:srgbClr val="000000"/>
                        </a:solidFill>
                        <a:effectLst/>
                        <a:latin typeface="Roboto" panose="02000000000000000000" pitchFamily="2" charset="0"/>
                        <a:ea typeface="+mn-ea"/>
                        <a:cs typeface="+mn-cs"/>
                      </a:endParaRP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3825"/>
                        </a:lnSpc>
                        <a:buFont typeface="Arial" panose="020B0604020202020204" pitchFamily="34" charset="0"/>
                        <a:buNone/>
                      </a:pPr>
                      <a:r>
                        <a:rPr lang="en-US" sz="3200" b="1" dirty="0">
                          <a:latin typeface="Roboto" panose="02000000000000000000" pitchFamily="2" charset="0"/>
                          <a:ea typeface="Roboto" panose="02000000000000000000" pitchFamily="2" charset="0"/>
                          <a:cs typeface="Roboto" panose="02000000000000000000" pitchFamily="2" charset="0"/>
                        </a:rPr>
                        <a:t>Edge AI Box:</a:t>
                      </a:r>
                      <a:r>
                        <a:rPr lang="en-US" sz="3200" dirty="0">
                          <a:latin typeface="Roboto" panose="02000000000000000000" pitchFamily="2" charset="0"/>
                          <a:ea typeface="Roboto" panose="02000000000000000000" pitchFamily="2" charset="0"/>
                          <a:cs typeface="Roboto" panose="02000000000000000000" pitchFamily="2" charset="0"/>
                        </a:rPr>
                        <a:t> Industrial-grade </a:t>
                      </a:r>
                      <a:r>
                        <a:rPr lang="en-US" sz="3200" dirty="0" err="1">
                          <a:latin typeface="Roboto" panose="02000000000000000000" pitchFamily="2" charset="0"/>
                          <a:ea typeface="Roboto" panose="02000000000000000000" pitchFamily="2" charset="0"/>
                          <a:cs typeface="Roboto" panose="02000000000000000000" pitchFamily="2" charset="0"/>
                        </a:rPr>
                        <a:t>fanless</a:t>
                      </a:r>
                      <a:r>
                        <a:rPr lang="en-US" sz="3200" dirty="0">
                          <a:latin typeface="Roboto" panose="02000000000000000000" pitchFamily="2" charset="0"/>
                          <a:ea typeface="Roboto" panose="02000000000000000000" pitchFamily="2" charset="0"/>
                          <a:cs typeface="Roboto" panose="02000000000000000000" pitchFamily="2" charset="0"/>
                        </a:rPr>
                        <a:t> design with dedicated NPU (Neural Processing Unit) for low-latency processing.</a:t>
                      </a:r>
                      <a:endParaRPr lang="en-US" sz="3200" b="0" i="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7488665"/>
                  </a:ext>
                </a:extLst>
              </a:tr>
              <a:tr h="948398">
                <a:tc>
                  <a:txBody>
                    <a:bodyPr/>
                    <a:lstStyle/>
                    <a:p>
                      <a:pPr marL="0" algn="l" defTabSz="2322330" rtl="0" eaLnBrk="1" fontAlgn="base" latinLnBrk="0" hangingPunct="1">
                        <a:lnSpc>
                          <a:spcPts val="3825"/>
                        </a:lnSpc>
                        <a:buNone/>
                      </a:pPr>
                      <a:r>
                        <a:rPr lang="en-US" sz="3600" b="1" i="0" kern="1200" dirty="0">
                          <a:solidFill>
                            <a:srgbClr val="000000"/>
                          </a:solidFill>
                          <a:effectLst/>
                          <a:latin typeface="Roboto" panose="02000000000000000000" pitchFamily="2" charset="0"/>
                          <a:ea typeface="+mn-ea"/>
                          <a:cs typeface="+mn-cs"/>
                        </a:rPr>
                        <a:t>Model accuracy</a:t>
                      </a: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3825"/>
                        </a:lnSpc>
                        <a:buFont typeface="Arial" panose="020B0604020202020204" pitchFamily="34" charset="0"/>
                        <a:buChar char="•"/>
                      </a:pPr>
                      <a:r>
                        <a:rPr lang="en-US" sz="3200" b="0" i="0"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rPr>
                        <a:t>Latency?</a:t>
                      </a:r>
                    </a:p>
                    <a:p>
                      <a:pPr algn="l" fontAlgn="base">
                        <a:lnSpc>
                          <a:spcPts val="3825"/>
                        </a:lnSpc>
                        <a:buFont typeface="Arial" panose="020B0604020202020204" pitchFamily="34" charset="0"/>
                        <a:buChar char="•"/>
                      </a:pPr>
                      <a:r>
                        <a:rPr lang="en-US" sz="3200" b="0" i="0" dirty="0">
                          <a:solidFill>
                            <a:srgbClr val="000000"/>
                          </a:solidFill>
                          <a:effectLst/>
                          <a:highlight>
                            <a:srgbClr val="FFFF00"/>
                          </a:highlight>
                          <a:latin typeface="Roboto" panose="02000000000000000000" pitchFamily="2" charset="0"/>
                          <a:ea typeface="Roboto" panose="02000000000000000000" pitchFamily="2" charset="0"/>
                          <a:cs typeface="Roboto" panose="02000000000000000000" pitchFamily="2" charset="0"/>
                        </a:rPr>
                        <a:t>Accuracy target?</a:t>
                      </a: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5368911"/>
                  </a:ext>
                </a:extLst>
              </a:tr>
              <a:tr h="948398">
                <a:tc>
                  <a:txBody>
                    <a:bodyPr/>
                    <a:lstStyle/>
                    <a:p>
                      <a:pPr algn="l" fontAlgn="base">
                        <a:lnSpc>
                          <a:spcPts val="3825"/>
                        </a:lnSpc>
                        <a:buNone/>
                      </a:pPr>
                      <a:r>
                        <a:rPr lang="en-US" sz="3600" b="1" i="0" kern="1200" dirty="0">
                          <a:solidFill>
                            <a:srgbClr val="000000"/>
                          </a:solidFill>
                          <a:effectLst/>
                          <a:latin typeface="Roboto" panose="02000000000000000000" pitchFamily="2" charset="0"/>
                          <a:ea typeface="+mn-ea"/>
                          <a:cs typeface="+mn-cs"/>
                        </a:rPr>
                        <a:t>CMS </a:t>
                      </a: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r>
                        <a:rPr lang="en-US" sz="3200" b="1" dirty="0">
                          <a:latin typeface="Roboto" panose="02000000000000000000" pitchFamily="2" charset="0"/>
                          <a:ea typeface="Roboto" panose="02000000000000000000" pitchFamily="2" charset="0"/>
                          <a:cs typeface="Roboto" panose="02000000000000000000" pitchFamily="2" charset="0"/>
                        </a:rPr>
                        <a:t>Storage:</a:t>
                      </a:r>
                      <a:r>
                        <a:rPr lang="en-US" sz="3200" dirty="0">
                          <a:latin typeface="Roboto" panose="02000000000000000000" pitchFamily="2" charset="0"/>
                          <a:ea typeface="Roboto" panose="02000000000000000000" pitchFamily="2" charset="0"/>
                          <a:cs typeface="Roboto" panose="02000000000000000000" pitchFamily="2" charset="0"/>
                        </a:rPr>
                        <a:t> Centralized recording on </a:t>
                      </a:r>
                      <a:r>
                        <a:rPr lang="en-US" sz="3200" b="1" dirty="0">
                          <a:latin typeface="Roboto" panose="02000000000000000000" pitchFamily="2" charset="0"/>
                          <a:ea typeface="Roboto" panose="02000000000000000000" pitchFamily="2" charset="0"/>
                          <a:cs typeface="Roboto" panose="02000000000000000000" pitchFamily="2" charset="0"/>
                        </a:rPr>
                        <a:t>NAS</a:t>
                      </a:r>
                      <a:r>
                        <a:rPr lang="en-US" sz="3200" dirty="0">
                          <a:latin typeface="Roboto" panose="02000000000000000000" pitchFamily="2" charset="0"/>
                          <a:ea typeface="Roboto" panose="02000000000000000000" pitchFamily="2" charset="0"/>
                          <a:cs typeface="Roboto" panose="02000000000000000000" pitchFamily="2" charset="0"/>
                        </a:rPr>
                        <a:t> with data retention (CCTV data from 3 months to 1 year). </a:t>
                      </a:r>
                    </a:p>
                    <a:p>
                      <a:r>
                        <a:rPr lang="en-US" sz="3200" b="1" dirty="0">
                          <a:latin typeface="Roboto" panose="02000000000000000000" pitchFamily="2" charset="0"/>
                          <a:ea typeface="Roboto" panose="02000000000000000000" pitchFamily="2" charset="0"/>
                          <a:cs typeface="Roboto" panose="02000000000000000000" pitchFamily="2" charset="0"/>
                        </a:rPr>
                        <a:t>Alerts:</a:t>
                      </a:r>
                      <a:r>
                        <a:rPr lang="en-US" sz="3200" dirty="0">
                          <a:latin typeface="Roboto" panose="02000000000000000000" pitchFamily="2" charset="0"/>
                          <a:ea typeface="Roboto" panose="02000000000000000000" pitchFamily="2" charset="0"/>
                          <a:cs typeface="Roboto" panose="02000000000000000000" pitchFamily="2" charset="0"/>
                        </a:rPr>
                        <a:t> Real-time notifications sent directly to </a:t>
                      </a:r>
                      <a:r>
                        <a:rPr lang="en-US" sz="3200" b="1" dirty="0">
                          <a:latin typeface="Roboto" panose="02000000000000000000" pitchFamily="2" charset="0"/>
                          <a:ea typeface="Roboto" panose="02000000000000000000" pitchFamily="2" charset="0"/>
                          <a:cs typeface="Roboto" panose="02000000000000000000" pitchFamily="2" charset="0"/>
                        </a:rPr>
                        <a:t>Microsoft Teams</a:t>
                      </a:r>
                      <a:r>
                        <a:rPr lang="en-US" sz="3200" dirty="0">
                          <a:latin typeface="Roboto" panose="02000000000000000000" pitchFamily="2" charset="0"/>
                          <a:ea typeface="Roboto" panose="02000000000000000000" pitchFamily="2" charset="0"/>
                          <a:cs typeface="Roboto" panose="02000000000000000000" pitchFamily="2" charset="0"/>
                        </a:rPr>
                        <a:t>. </a:t>
                      </a:r>
                    </a:p>
                    <a:p>
                      <a:r>
                        <a:rPr lang="en-US" sz="3200" b="1" dirty="0">
                          <a:latin typeface="Roboto" panose="02000000000000000000" pitchFamily="2" charset="0"/>
                          <a:ea typeface="Roboto" panose="02000000000000000000" pitchFamily="2" charset="0"/>
                          <a:cs typeface="Roboto" panose="02000000000000000000" pitchFamily="2" charset="0"/>
                        </a:rPr>
                        <a:t>Integration:</a:t>
                      </a:r>
                      <a:r>
                        <a:rPr lang="en-US" sz="3200" dirty="0">
                          <a:latin typeface="Roboto" panose="02000000000000000000" pitchFamily="2" charset="0"/>
                          <a:ea typeface="Roboto" panose="02000000000000000000" pitchFamily="2" charset="0"/>
                          <a:cs typeface="Roboto" panose="02000000000000000000" pitchFamily="2" charset="0"/>
                        </a:rPr>
                        <a:t> integration to existing CMS system (Digital Watchdog from Nitto Denko)</a:t>
                      </a:r>
                    </a:p>
                  </a:txBody>
                  <a:tcPr marL="76633" marR="76633" marT="38316" marB="38316"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4879105"/>
                  </a:ext>
                </a:extLst>
              </a:tr>
            </a:tbl>
          </a:graphicData>
        </a:graphic>
      </p:graphicFrame>
      <p:sp>
        <p:nvSpPr>
          <p:cNvPr id="6" name="Rectangle 1">
            <a:extLst>
              <a:ext uri="{FF2B5EF4-FFF2-40B4-BE49-F238E27FC236}">
                <a16:creationId xmlns:a16="http://schemas.microsoft.com/office/drawing/2014/main" id="{DCBCC802-76DB-0C13-730C-91598402999B}"/>
              </a:ext>
            </a:extLst>
          </p:cNvPr>
          <p:cNvSpPr>
            <a:spLocks noChangeArrowheads="1"/>
          </p:cNvSpPr>
          <p:nvPr/>
        </p:nvSpPr>
        <p:spPr bwMode="auto">
          <a:xfrm>
            <a:off x="1711324" y="2579415"/>
            <a:ext cx="446239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2E2DFE32-32C6-DC10-54A2-AA9A8887DB9A}"/>
              </a:ext>
            </a:extLst>
          </p:cNvPr>
          <p:cNvSpPr txBox="1"/>
          <p:nvPr/>
        </p:nvSpPr>
        <p:spPr>
          <a:xfrm>
            <a:off x="1006724" y="2960360"/>
            <a:ext cx="29819600" cy="1077218"/>
          </a:xfrm>
          <a:prstGeom prst="rect">
            <a:avLst/>
          </a:prstGeom>
          <a:noFill/>
        </p:spPr>
        <p:txBody>
          <a:bodyPr wrap="square">
            <a:spAutoFit/>
          </a:bodyPr>
          <a:lstStyle/>
          <a:p>
            <a:r>
              <a:rPr lang="en-US" sz="3200" kern="1200" dirty="0">
                <a:solidFill>
                  <a:schemeClr val="tx1"/>
                </a:solidFill>
                <a:latin typeface="Roboto" panose="02000000000000000000" pitchFamily="2" charset="0"/>
                <a:ea typeface="Roboto" panose="02000000000000000000" pitchFamily="2" charset="0"/>
                <a:cs typeface="Roboto" panose="02000000000000000000" pitchFamily="2" charset="0"/>
              </a:rPr>
              <a:t>This proposal addresses the need for an Edge AI box solution for manufacturing application. The surveillance system will provide real-time detection and behavior analytics at the edge, ensuring low-latency, high accuracy and secure data handling.</a:t>
            </a:r>
          </a:p>
        </p:txBody>
      </p:sp>
    </p:spTree>
    <p:extLst>
      <p:ext uri="{BB962C8B-B14F-4D97-AF65-F5344CB8AC3E}">
        <p14:creationId xmlns:p14="http://schemas.microsoft.com/office/powerpoint/2010/main" val="874164595"/>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43BCB7C5-BE3F-CECB-A1C3-4D50C119CBC7}"/>
            </a:ext>
          </a:extLst>
        </p:cNvPr>
        <p:cNvGrpSpPr/>
        <p:nvPr/>
      </p:nvGrpSpPr>
      <p:grpSpPr>
        <a:xfrm>
          <a:off x="0" y="0"/>
          <a:ext cx="0" cy="0"/>
          <a:chOff x="0" y="0"/>
          <a:chExt cx="0" cy="0"/>
        </a:xfrm>
      </p:grpSpPr>
      <p:grpSp>
        <p:nvGrpSpPr>
          <p:cNvPr id="298" name="Google Shape;298;p50">
            <a:extLst>
              <a:ext uri="{FF2B5EF4-FFF2-40B4-BE49-F238E27FC236}">
                <a16:creationId xmlns:a16="http://schemas.microsoft.com/office/drawing/2014/main" id="{E00BBB6B-856E-C823-8AC0-67996AC279FB}"/>
              </a:ext>
            </a:extLst>
          </p:cNvPr>
          <p:cNvGrpSpPr/>
          <p:nvPr/>
        </p:nvGrpSpPr>
        <p:grpSpPr>
          <a:xfrm>
            <a:off x="-1" y="3413799"/>
            <a:ext cx="1244165" cy="1592130"/>
            <a:chOff x="0" y="-38100"/>
            <a:chExt cx="812800" cy="850900"/>
          </a:xfrm>
        </p:grpSpPr>
        <p:sp>
          <p:nvSpPr>
            <p:cNvPr id="299" name="Google Shape;299;p50">
              <a:extLst>
                <a:ext uri="{FF2B5EF4-FFF2-40B4-BE49-F238E27FC236}">
                  <a16:creationId xmlns:a16="http://schemas.microsoft.com/office/drawing/2014/main" id="{E1E46AF3-F106-F2D5-B459-44A718B32B20}"/>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BC1823"/>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4741"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50">
              <a:extLst>
                <a:ext uri="{FF2B5EF4-FFF2-40B4-BE49-F238E27FC236}">
                  <a16:creationId xmlns:a16="http://schemas.microsoft.com/office/drawing/2014/main" id="{0ACAB48C-E7FA-BEC4-7C30-3A1F98A4E762}"/>
                </a:ext>
              </a:extLst>
            </p:cNvPr>
            <p:cNvSpPr txBox="1"/>
            <p:nvPr/>
          </p:nvSpPr>
          <p:spPr>
            <a:xfrm>
              <a:off x="0" y="-38100"/>
              <a:ext cx="812700" cy="850800"/>
            </a:xfrm>
            <a:prstGeom prst="rect">
              <a:avLst/>
            </a:prstGeom>
            <a:noFill/>
            <a:ln>
              <a:noFill/>
            </a:ln>
          </p:spPr>
          <p:txBody>
            <a:bodyPr spcFirstLastPara="1" wrap="square" lIns="86020" tIns="86020" rIns="86020" bIns="86020" anchor="ctr" anchorCtr="0">
              <a:noAutofit/>
            </a:bodyPr>
            <a:lstStyle/>
            <a:p>
              <a:pPr marL="0" marR="0" lvl="0" indent="0" algn="ctr" defTabSz="914400" rtl="0" eaLnBrk="1" fontAlgn="auto" latinLnBrk="0" hangingPunct="1">
                <a:lnSpc>
                  <a:spcPct val="124444"/>
                </a:lnSpc>
                <a:spcBef>
                  <a:spcPts val="0"/>
                </a:spcBef>
                <a:spcAft>
                  <a:spcPts val="0"/>
                </a:spcAft>
                <a:buClr>
                  <a:srgbClr val="000000"/>
                </a:buClr>
                <a:buSzTx/>
                <a:buFont typeface="Arial"/>
                <a:buNone/>
                <a:tabLst/>
                <a:defRPr/>
              </a:pPr>
              <a:endParaRPr kumimoji="0" sz="3048"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 name="Footer Placeholder 14">
            <a:extLst>
              <a:ext uri="{FF2B5EF4-FFF2-40B4-BE49-F238E27FC236}">
                <a16:creationId xmlns:a16="http://schemas.microsoft.com/office/drawing/2014/main" id="{E19FE1A1-7A8C-F9DD-DCCF-0F1A43A27FC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19" name="Slide Number Placeholder 18">
            <a:extLst>
              <a:ext uri="{FF2B5EF4-FFF2-40B4-BE49-F238E27FC236}">
                <a16:creationId xmlns:a16="http://schemas.microsoft.com/office/drawing/2014/main" id="{2F7CCD0D-A5A9-0B04-583A-C53C3404F9F8}"/>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5</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pic>
        <p:nvPicPr>
          <p:cNvPr id="21" name="Google Shape;583;p55">
            <a:extLst>
              <a:ext uri="{FF2B5EF4-FFF2-40B4-BE49-F238E27FC236}">
                <a16:creationId xmlns:a16="http://schemas.microsoft.com/office/drawing/2014/main" id="{D34D7D7E-6B08-015F-44C1-1C5105257B8B}"/>
              </a:ext>
            </a:extLst>
          </p:cNvPr>
          <p:cNvPicPr preferRelativeResize="0"/>
          <p:nvPr/>
        </p:nvPicPr>
        <p:blipFill rotWithShape="1">
          <a:blip r:embed="rId3">
            <a:alphaModFix/>
          </a:blip>
          <a:srcRect l="11530" t="41230" r="11653" b="40863"/>
          <a:stretch/>
        </p:blipFill>
        <p:spPr>
          <a:xfrm>
            <a:off x="1712850" y="672781"/>
            <a:ext cx="3003556" cy="700101"/>
          </a:xfrm>
          <a:prstGeom prst="rect">
            <a:avLst/>
          </a:prstGeom>
          <a:noFill/>
          <a:ln>
            <a:noFill/>
          </a:ln>
        </p:spPr>
      </p:pic>
      <p:sp>
        <p:nvSpPr>
          <p:cNvPr id="6" name="Date Placeholder 6">
            <a:extLst>
              <a:ext uri="{FF2B5EF4-FFF2-40B4-BE49-F238E27FC236}">
                <a16:creationId xmlns:a16="http://schemas.microsoft.com/office/drawing/2014/main" id="{92F6401A-6193-E9CC-6C0F-73202ECF8EAE}"/>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EBFB2F6-82EC-4D04-9A4D-DB4FA8ED24EC}"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Google Shape;302;p50">
            <a:extLst>
              <a:ext uri="{FF2B5EF4-FFF2-40B4-BE49-F238E27FC236}">
                <a16:creationId xmlns:a16="http://schemas.microsoft.com/office/drawing/2014/main" id="{2CFAE65A-F9A0-B734-547A-030E2B6C27C3}"/>
              </a:ext>
            </a:extLst>
          </p:cNvPr>
          <p:cNvSpPr txBox="1"/>
          <p:nvPr/>
        </p:nvSpPr>
        <p:spPr>
          <a:xfrm>
            <a:off x="13058591" y="4865594"/>
            <a:ext cx="14892393" cy="7386638"/>
          </a:xfrm>
          <a:prstGeom prst="rect">
            <a:avLst/>
          </a:prstGeom>
          <a:noFill/>
          <a:ln>
            <a:noFill/>
          </a:ln>
        </p:spPr>
        <p:txBody>
          <a:bodyPr spcFirstLastPara="1" wrap="square" lIns="0" tIns="0" rIns="0" bIns="0" anchor="t" anchorCtr="0">
            <a:spAutoFit/>
          </a:bodyPr>
          <a:lstStyle/>
          <a:p>
            <a:pPr algn="just">
              <a:lnSpc>
                <a:spcPct val="200000"/>
              </a:lnSpc>
              <a:defRPr/>
            </a:pPr>
            <a:r>
              <a:rPr lang="en-US" sz="4800" dirty="0">
                <a:solidFill>
                  <a:srgbClr val="292929"/>
                </a:solidFill>
                <a:latin typeface="Roboto"/>
                <a:ea typeface="Roboto"/>
                <a:cs typeface="Roboto"/>
                <a:sym typeface="Calibri"/>
              </a:rPr>
              <a:t>SYSTEM REQUIREMENT</a:t>
            </a:r>
          </a:p>
          <a:p>
            <a:pPr algn="just">
              <a:lnSpc>
                <a:spcPct val="200000"/>
              </a:lnSpc>
              <a:defRPr/>
            </a:pPr>
            <a:r>
              <a:rPr lang="en-US" sz="4800" b="1" dirty="0">
                <a:solidFill>
                  <a:srgbClr val="0070C0"/>
                </a:solidFill>
                <a:latin typeface="Roboto"/>
                <a:ea typeface="Roboto"/>
                <a:cs typeface="Roboto"/>
                <a:sym typeface="Calibri"/>
              </a:rPr>
              <a:t>SOLUTION SYSTEM ARCHITECT</a:t>
            </a:r>
          </a:p>
          <a:p>
            <a:pPr algn="just">
              <a:lnSpc>
                <a:spcPct val="200000"/>
              </a:lnSpc>
              <a:defRPr/>
            </a:pPr>
            <a:r>
              <a:rPr lang="en-US" sz="4800" dirty="0">
                <a:solidFill>
                  <a:srgbClr val="292929"/>
                </a:solidFill>
                <a:latin typeface="Roboto"/>
                <a:ea typeface="Roboto"/>
                <a:cs typeface="Roboto"/>
                <a:sym typeface="Calibri"/>
              </a:rPr>
              <a:t>EDGE AI BOX SOLUTION</a:t>
            </a:r>
            <a:endParaRPr lang="en-US" sz="4800" b="1" dirty="0">
              <a:solidFill>
                <a:srgbClr val="0070C0"/>
              </a:solidFill>
              <a:latin typeface="Roboto"/>
              <a:ea typeface="Roboto"/>
              <a:cs typeface="Roboto"/>
              <a:sym typeface="Calibri"/>
            </a:endParaRPr>
          </a:p>
          <a:p>
            <a:pPr algn="just">
              <a:lnSpc>
                <a:spcPct val="200000"/>
              </a:lnSpc>
              <a:defRPr/>
            </a:pPr>
            <a:r>
              <a:rPr lang="en-US" sz="4800" dirty="0">
                <a:solidFill>
                  <a:srgbClr val="292929"/>
                </a:solidFill>
                <a:latin typeface="Roboto"/>
                <a:ea typeface="Roboto"/>
                <a:cs typeface="Roboto"/>
                <a:sym typeface="Calibri"/>
              </a:rPr>
              <a:t>PROJECT TIMELINE</a:t>
            </a:r>
          </a:p>
          <a:p>
            <a:pPr algn="just">
              <a:lnSpc>
                <a:spcPct val="200000"/>
              </a:lnSpc>
              <a:defRPr/>
            </a:pPr>
            <a:r>
              <a:rPr lang="en-US" sz="4800" dirty="0">
                <a:solidFill>
                  <a:srgbClr val="292929"/>
                </a:solidFill>
                <a:latin typeface="Roboto"/>
                <a:ea typeface="Roboto"/>
                <a:cs typeface="Roboto"/>
                <a:sym typeface="Calibri"/>
              </a:rPr>
              <a:t>COMMERCIAL</a:t>
            </a:r>
            <a:endParaRPr kumimoji="0" lang="en-US" sz="4800" b="0" i="0" u="none" strike="noStrike" kern="0" cap="none" spc="0" normalizeH="0" baseline="0" noProof="0" dirty="0">
              <a:ln>
                <a:noFill/>
              </a:ln>
              <a:solidFill>
                <a:srgbClr val="292929"/>
              </a:solidFill>
              <a:effectLst/>
              <a:uLnTx/>
              <a:uFillTx/>
              <a:latin typeface="Roboto"/>
              <a:ea typeface="Roboto"/>
              <a:cs typeface="Roboto"/>
              <a:sym typeface="Calibri"/>
            </a:endParaRPr>
          </a:p>
        </p:txBody>
      </p:sp>
      <p:pic>
        <p:nvPicPr>
          <p:cNvPr id="3" name="Picture 2" descr="Smart City Surveillance System Modern Security Camera Providing Advanced  Surveillance Network Connectivity Data Protection Stock Illustration -  Illustration of privacy, wireless: 360303284">
            <a:extLst>
              <a:ext uri="{FF2B5EF4-FFF2-40B4-BE49-F238E27FC236}">
                <a16:creationId xmlns:a16="http://schemas.microsoft.com/office/drawing/2014/main" id="{0C144FBC-74F9-9FFD-DCE2-AEAFAEB2BD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850" y="5016500"/>
            <a:ext cx="10874214" cy="7084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674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3B1928-7107-5EFC-39CE-141C5A7FCF8C}"/>
              </a:ext>
            </a:extLst>
          </p:cNvPr>
          <p:cNvSpPr>
            <a:spLocks noGrp="1"/>
          </p:cNvSpPr>
          <p:nvPr>
            <p:ph type="sldNum" sz="quarter" idx="12"/>
          </p:nvPr>
        </p:nvSpPr>
        <p:spPr>
          <a:xfrm>
            <a:off x="22232650" y="16145424"/>
            <a:ext cx="6967657" cy="927435"/>
          </a:xfrm>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6</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Date Placeholder 2">
            <a:extLst>
              <a:ext uri="{FF2B5EF4-FFF2-40B4-BE49-F238E27FC236}">
                <a16:creationId xmlns:a16="http://schemas.microsoft.com/office/drawing/2014/main" id="{F925D06E-A941-CC65-6820-8BAB3F51DAA7}"/>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57A9858F-E283-4370-98BF-5A7D22700E76}"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4" name="Footer Placeholder 3">
            <a:extLst>
              <a:ext uri="{FF2B5EF4-FFF2-40B4-BE49-F238E27FC236}">
                <a16:creationId xmlns:a16="http://schemas.microsoft.com/office/drawing/2014/main" id="{C1ECEF53-EF32-6C0B-E3A9-685F18DAF9A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grpSp>
        <p:nvGrpSpPr>
          <p:cNvPr id="9" name="Google Shape;358;g2cd193ef60f_0_3317">
            <a:extLst>
              <a:ext uri="{FF2B5EF4-FFF2-40B4-BE49-F238E27FC236}">
                <a16:creationId xmlns:a16="http://schemas.microsoft.com/office/drawing/2014/main" id="{9EB3384A-1780-CB48-7994-E50500960921}"/>
              </a:ext>
            </a:extLst>
          </p:cNvPr>
          <p:cNvGrpSpPr/>
          <p:nvPr/>
        </p:nvGrpSpPr>
        <p:grpSpPr>
          <a:xfrm>
            <a:off x="440" y="-1"/>
            <a:ext cx="1006480" cy="2464683"/>
            <a:chOff x="0" y="-38100"/>
            <a:chExt cx="426000" cy="1071320"/>
          </a:xfrm>
        </p:grpSpPr>
        <p:sp>
          <p:nvSpPr>
            <p:cNvPr id="10" name="Google Shape;359;g2cd193ef60f_0_3317">
              <a:extLst>
                <a:ext uri="{FF2B5EF4-FFF2-40B4-BE49-F238E27FC236}">
                  <a16:creationId xmlns:a16="http://schemas.microsoft.com/office/drawing/2014/main" id="{3682AE54-752C-377A-0803-2B93EAF687CB}"/>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kern="0"/>
            </a:p>
          </p:txBody>
        </p:sp>
        <p:sp>
          <p:nvSpPr>
            <p:cNvPr id="11" name="Google Shape;360;g2cd193ef60f_0_3317">
              <a:extLst>
                <a:ext uri="{FF2B5EF4-FFF2-40B4-BE49-F238E27FC236}">
                  <a16:creationId xmlns:a16="http://schemas.microsoft.com/office/drawing/2014/main" id="{EB82B8EF-B10D-6F7D-54D4-E8179D54C205}"/>
                </a:ext>
              </a:extLst>
            </p:cNvPr>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kern="0">
                <a:latin typeface="Calibri"/>
                <a:ea typeface="Calibri"/>
                <a:cs typeface="Calibri"/>
                <a:sym typeface="Calibri"/>
              </a:endParaRPr>
            </a:p>
          </p:txBody>
        </p:sp>
      </p:grpSp>
      <p:sp>
        <p:nvSpPr>
          <p:cNvPr id="12" name="Google Shape;361;g2cd193ef60f_0_3317">
            <a:extLst>
              <a:ext uri="{FF2B5EF4-FFF2-40B4-BE49-F238E27FC236}">
                <a16:creationId xmlns:a16="http://schemas.microsoft.com/office/drawing/2014/main" id="{06FE1063-AE84-4E4C-D142-C91A8C2C5463}"/>
              </a:ext>
            </a:extLst>
          </p:cNvPr>
          <p:cNvSpPr txBox="1"/>
          <p:nvPr/>
        </p:nvSpPr>
        <p:spPr>
          <a:xfrm>
            <a:off x="1713243" y="1571378"/>
            <a:ext cx="24195812" cy="89255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r>
              <a:rPr lang="en-US" sz="5800" b="1" dirty="0">
                <a:solidFill>
                  <a:srgbClr val="292929"/>
                </a:solidFill>
                <a:latin typeface="Roboto"/>
                <a:ea typeface="Roboto"/>
                <a:cs typeface="Roboto"/>
                <a:sym typeface="Roboto"/>
              </a:rPr>
              <a:t>SYSTEM ARCHITECT</a:t>
            </a:r>
          </a:p>
        </p:txBody>
      </p:sp>
      <p:pic>
        <p:nvPicPr>
          <p:cNvPr id="13" name="Google Shape;362;g2cd193ef60f_0_3317">
            <a:extLst>
              <a:ext uri="{FF2B5EF4-FFF2-40B4-BE49-F238E27FC236}">
                <a16:creationId xmlns:a16="http://schemas.microsoft.com/office/drawing/2014/main" id="{C42C5FE7-FE52-AA45-604A-A9F422C2D6EC}"/>
              </a:ext>
            </a:extLst>
          </p:cNvPr>
          <p:cNvPicPr preferRelativeResize="0"/>
          <p:nvPr/>
        </p:nvPicPr>
        <p:blipFill rotWithShape="1">
          <a:blip r:embed="rId2">
            <a:alphaModFix/>
          </a:blip>
          <a:srcRect l="11530" t="41230" r="11653" b="40863"/>
          <a:stretch/>
        </p:blipFill>
        <p:spPr>
          <a:xfrm>
            <a:off x="1713244" y="672779"/>
            <a:ext cx="3003465" cy="700105"/>
          </a:xfrm>
          <a:prstGeom prst="rect">
            <a:avLst/>
          </a:prstGeom>
          <a:noFill/>
          <a:ln>
            <a:noFill/>
          </a:ln>
        </p:spPr>
      </p:pic>
      <p:grpSp>
        <p:nvGrpSpPr>
          <p:cNvPr id="24" name="Group 23">
            <a:extLst>
              <a:ext uri="{FF2B5EF4-FFF2-40B4-BE49-F238E27FC236}">
                <a16:creationId xmlns:a16="http://schemas.microsoft.com/office/drawing/2014/main" id="{FDFFCA3E-0625-8258-18D7-EEF0D8C68994}"/>
              </a:ext>
            </a:extLst>
          </p:cNvPr>
          <p:cNvGrpSpPr/>
          <p:nvPr/>
        </p:nvGrpSpPr>
        <p:grpSpPr>
          <a:xfrm>
            <a:off x="2132480" y="2864063"/>
            <a:ext cx="27067827" cy="9193064"/>
            <a:chOff x="185906" y="3528200"/>
            <a:chExt cx="26443172" cy="6992089"/>
          </a:xfrm>
        </p:grpSpPr>
        <p:pic>
          <p:nvPicPr>
            <p:cNvPr id="8" name="Picture 7">
              <a:extLst>
                <a:ext uri="{FF2B5EF4-FFF2-40B4-BE49-F238E27FC236}">
                  <a16:creationId xmlns:a16="http://schemas.microsoft.com/office/drawing/2014/main" id="{7231A097-9A10-AD77-CE49-E4A0E05CBA77}"/>
                </a:ext>
              </a:extLst>
            </p:cNvPr>
            <p:cNvPicPr>
              <a:picLocks noChangeAspect="1"/>
            </p:cNvPicPr>
            <p:nvPr/>
          </p:nvPicPr>
          <p:blipFill>
            <a:blip r:embed="rId3"/>
            <a:stretch>
              <a:fillRect/>
            </a:stretch>
          </p:blipFill>
          <p:spPr>
            <a:xfrm>
              <a:off x="185906" y="3528200"/>
              <a:ext cx="26443172" cy="6992089"/>
            </a:xfrm>
            <a:prstGeom prst="rect">
              <a:avLst/>
            </a:prstGeom>
          </p:spPr>
        </p:pic>
        <p:sp>
          <p:nvSpPr>
            <p:cNvPr id="20" name="TextBox 19">
              <a:extLst>
                <a:ext uri="{FF2B5EF4-FFF2-40B4-BE49-F238E27FC236}">
                  <a16:creationId xmlns:a16="http://schemas.microsoft.com/office/drawing/2014/main" id="{E0982F0C-24B0-29C4-31F5-9EE05D4FFE33}"/>
                </a:ext>
              </a:extLst>
            </p:cNvPr>
            <p:cNvSpPr txBox="1"/>
            <p:nvPr/>
          </p:nvSpPr>
          <p:spPr>
            <a:xfrm>
              <a:off x="12287506" y="8307204"/>
              <a:ext cx="1429520" cy="575694"/>
            </a:xfrm>
            <a:prstGeom prst="rect">
              <a:avLst/>
            </a:prstGeom>
            <a:noFill/>
          </p:spPr>
          <p:txBody>
            <a:bodyPr wrap="none" rtlCol="0">
              <a:spAutoFit/>
            </a:bodyPr>
            <a:lstStyle/>
            <a:p>
              <a:r>
                <a:rPr lang="en-US" sz="2400" dirty="0">
                  <a:solidFill>
                    <a:srgbClr val="A91E28"/>
                  </a:solidFill>
                </a:rPr>
                <a:t>Digital </a:t>
              </a:r>
            </a:p>
            <a:p>
              <a:r>
                <a:rPr lang="en-US" sz="2400" dirty="0" err="1">
                  <a:solidFill>
                    <a:srgbClr val="A91E28"/>
                  </a:solidFill>
                </a:rPr>
                <a:t>WatchDog</a:t>
              </a:r>
              <a:endParaRPr lang="en-US" sz="2400" dirty="0">
                <a:solidFill>
                  <a:srgbClr val="A91E28"/>
                </a:solidFill>
              </a:endParaRPr>
            </a:p>
          </p:txBody>
        </p:sp>
      </p:grpSp>
      <p:sp>
        <p:nvSpPr>
          <p:cNvPr id="19" name="TextBox 18">
            <a:extLst>
              <a:ext uri="{FF2B5EF4-FFF2-40B4-BE49-F238E27FC236}">
                <a16:creationId xmlns:a16="http://schemas.microsoft.com/office/drawing/2014/main" id="{05642E2E-7B05-C1BA-E170-429270FB71A9}"/>
              </a:ext>
            </a:extLst>
          </p:cNvPr>
          <p:cNvSpPr txBox="1"/>
          <p:nvPr/>
        </p:nvSpPr>
        <p:spPr>
          <a:xfrm>
            <a:off x="710185" y="12057127"/>
            <a:ext cx="25985331" cy="954107"/>
          </a:xfrm>
          <a:prstGeom prst="rect">
            <a:avLst/>
          </a:prstGeom>
          <a:noFill/>
        </p:spPr>
        <p:txBody>
          <a:bodyPr wrap="square" rtlCol="0">
            <a:spAutoFit/>
          </a:bodyPr>
          <a:lstStyle/>
          <a:p>
            <a:r>
              <a:rPr lang="en-US" sz="2800" i="1" dirty="0">
                <a:latin typeface="Roboto" panose="02000000000000000000" pitchFamily="2" charset="0"/>
                <a:ea typeface="Roboto" panose="02000000000000000000" pitchFamily="2" charset="0"/>
                <a:cs typeface="Roboto" panose="02000000000000000000" pitchFamily="2" charset="0"/>
              </a:rPr>
              <a:t>NOTE: To integrated </a:t>
            </a:r>
            <a:r>
              <a:rPr lang="en-US" sz="2800" i="1" dirty="0" err="1">
                <a:latin typeface="Roboto" panose="02000000000000000000" pitchFamily="2" charset="0"/>
                <a:ea typeface="Roboto" panose="02000000000000000000" pitchFamily="2" charset="0"/>
                <a:cs typeface="Roboto" panose="02000000000000000000" pitchFamily="2" charset="0"/>
              </a:rPr>
              <a:t>Vietsol</a:t>
            </a:r>
            <a:r>
              <a:rPr lang="en-US" sz="2800" i="1" dirty="0">
                <a:latin typeface="Roboto" panose="02000000000000000000" pitchFamily="2" charset="0"/>
                <a:ea typeface="Roboto" panose="02000000000000000000" pitchFamily="2" charset="0"/>
                <a:cs typeface="Roboto" panose="02000000000000000000" pitchFamily="2" charset="0"/>
              </a:rPr>
              <a:t> Edge AI solution to an existing CMS system, Digital </a:t>
            </a:r>
            <a:r>
              <a:rPr lang="en-US" sz="2800" i="1" dirty="0" err="1">
                <a:latin typeface="Roboto" panose="02000000000000000000" pitchFamily="2" charset="0"/>
                <a:ea typeface="Roboto" panose="02000000000000000000" pitchFamily="2" charset="0"/>
                <a:cs typeface="Roboto" panose="02000000000000000000" pitchFamily="2" charset="0"/>
              </a:rPr>
              <a:t>WatchDog</a:t>
            </a:r>
            <a:r>
              <a:rPr lang="en-US" sz="2800" i="1" dirty="0">
                <a:latin typeface="Roboto" panose="02000000000000000000" pitchFamily="2" charset="0"/>
                <a:ea typeface="Roboto" panose="02000000000000000000" pitchFamily="2" charset="0"/>
                <a:cs typeface="Roboto" panose="02000000000000000000" pitchFamily="2" charset="0"/>
              </a:rPr>
              <a:t> CMS API is requested</a:t>
            </a:r>
          </a:p>
          <a:p>
            <a:endParaRPr lang="en-US" sz="2800" i="1" dirty="0">
              <a:latin typeface="Roboto" panose="02000000000000000000" pitchFamily="2" charset="0"/>
              <a:ea typeface="Roboto" panose="02000000000000000000" pitchFamily="2" charset="0"/>
              <a:cs typeface="Roboto" panose="02000000000000000000" pitchFamily="2" charset="0"/>
            </a:endParaRPr>
          </a:p>
        </p:txBody>
      </p:sp>
      <p:sp>
        <p:nvSpPr>
          <p:cNvPr id="32" name="Rectangle 31">
            <a:extLst>
              <a:ext uri="{FF2B5EF4-FFF2-40B4-BE49-F238E27FC236}">
                <a16:creationId xmlns:a16="http://schemas.microsoft.com/office/drawing/2014/main" id="{1124E1B4-2286-9040-D3D2-BCFCB3C7CE6C}"/>
              </a:ext>
            </a:extLst>
          </p:cNvPr>
          <p:cNvSpPr/>
          <p:nvPr/>
        </p:nvSpPr>
        <p:spPr>
          <a:xfrm>
            <a:off x="185906" y="13011235"/>
            <a:ext cx="30781457" cy="2837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latin typeface="Roboto" panose="02000000000000000000" pitchFamily="2" charset="0"/>
                <a:ea typeface="Roboto" panose="02000000000000000000" pitchFamily="2" charset="0"/>
                <a:cs typeface="Roboto" panose="02000000000000000000" pitchFamily="2" charset="0"/>
              </a:rPr>
              <a:t>The Edge AI solution can support to integrate the bounding box for AI detection, and CAN NOT interfere to back-end architect and provide the statistical report of violation (in case the current customer’s CMS solution does not include the necessary feature)</a:t>
            </a:r>
          </a:p>
          <a:p>
            <a:endParaRPr lang="en-US" sz="4000" dirty="0">
              <a:latin typeface="Roboto" panose="02000000000000000000" pitchFamily="2" charset="0"/>
              <a:ea typeface="Roboto" panose="02000000000000000000" pitchFamily="2" charset="0"/>
              <a:cs typeface="Roboto" panose="02000000000000000000" pitchFamily="2" charset="0"/>
            </a:endParaRPr>
          </a:p>
          <a:p>
            <a:r>
              <a:rPr lang="en-US" sz="4000" dirty="0">
                <a:latin typeface="Roboto" panose="02000000000000000000" pitchFamily="2" charset="0"/>
                <a:ea typeface="Roboto" panose="02000000000000000000" pitchFamily="2" charset="0"/>
                <a:cs typeface="Roboto" panose="02000000000000000000" pitchFamily="2" charset="0"/>
              </a:rPr>
              <a:t>The notification will be sent to Microsoft Teams</a:t>
            </a:r>
            <a:endParaRPr lang="en-US" sz="4000" dirty="0"/>
          </a:p>
        </p:txBody>
      </p:sp>
    </p:spTree>
    <p:extLst>
      <p:ext uri="{BB962C8B-B14F-4D97-AF65-F5344CB8AC3E}">
        <p14:creationId xmlns:p14="http://schemas.microsoft.com/office/powerpoint/2010/main" val="3383041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83ADCF-D7F9-062A-2CA8-CC9D89810AF8}"/>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7</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Date Placeholder 2">
            <a:extLst>
              <a:ext uri="{FF2B5EF4-FFF2-40B4-BE49-F238E27FC236}">
                <a16:creationId xmlns:a16="http://schemas.microsoft.com/office/drawing/2014/main" id="{8E962802-C50E-C84A-42EB-778B2312D013}"/>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57A9858F-E283-4370-98BF-5A7D22700E76}"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4" name="Footer Placeholder 3">
            <a:extLst>
              <a:ext uri="{FF2B5EF4-FFF2-40B4-BE49-F238E27FC236}">
                <a16:creationId xmlns:a16="http://schemas.microsoft.com/office/drawing/2014/main" id="{46F3E1DB-73FD-F562-1603-D955BC26927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grpSp>
        <p:nvGrpSpPr>
          <p:cNvPr id="8" name="Google Shape;358;g2cd193ef60f_0_3317">
            <a:extLst>
              <a:ext uri="{FF2B5EF4-FFF2-40B4-BE49-F238E27FC236}">
                <a16:creationId xmlns:a16="http://schemas.microsoft.com/office/drawing/2014/main" id="{77F192AA-CFFC-5C12-AFF7-3B3EF356FC62}"/>
              </a:ext>
            </a:extLst>
          </p:cNvPr>
          <p:cNvGrpSpPr/>
          <p:nvPr/>
        </p:nvGrpSpPr>
        <p:grpSpPr>
          <a:xfrm>
            <a:off x="440" y="-1"/>
            <a:ext cx="1006480" cy="2464683"/>
            <a:chOff x="0" y="-38100"/>
            <a:chExt cx="426000" cy="1071320"/>
          </a:xfrm>
        </p:grpSpPr>
        <p:sp>
          <p:nvSpPr>
            <p:cNvPr id="6" name="Google Shape;359;g2cd193ef60f_0_3317">
              <a:extLst>
                <a:ext uri="{FF2B5EF4-FFF2-40B4-BE49-F238E27FC236}">
                  <a16:creationId xmlns:a16="http://schemas.microsoft.com/office/drawing/2014/main" id="{715FD30E-D9CB-768A-23CB-3DBD50C02430}"/>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kern="0"/>
            </a:p>
          </p:txBody>
        </p:sp>
        <p:sp>
          <p:nvSpPr>
            <p:cNvPr id="7" name="Google Shape;360;g2cd193ef60f_0_3317">
              <a:extLst>
                <a:ext uri="{FF2B5EF4-FFF2-40B4-BE49-F238E27FC236}">
                  <a16:creationId xmlns:a16="http://schemas.microsoft.com/office/drawing/2014/main" id="{03D915EB-9057-3EAD-3532-940F98F93171}"/>
                </a:ext>
              </a:extLst>
            </p:cNvPr>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kern="0">
                <a:latin typeface="Calibri"/>
                <a:ea typeface="Calibri"/>
                <a:cs typeface="Calibri"/>
                <a:sym typeface="Calibri"/>
              </a:endParaRPr>
            </a:p>
          </p:txBody>
        </p:sp>
      </p:grpSp>
      <p:pic>
        <p:nvPicPr>
          <p:cNvPr id="12" name="Google Shape;362;g2cd193ef60f_0_3317">
            <a:extLst>
              <a:ext uri="{FF2B5EF4-FFF2-40B4-BE49-F238E27FC236}">
                <a16:creationId xmlns:a16="http://schemas.microsoft.com/office/drawing/2014/main" id="{82F7A07B-CCDA-6A1A-8E5C-55F5D18CC1D3}"/>
              </a:ext>
            </a:extLst>
          </p:cNvPr>
          <p:cNvPicPr preferRelativeResize="0"/>
          <p:nvPr/>
        </p:nvPicPr>
        <p:blipFill rotWithShape="1">
          <a:blip r:embed="rId2">
            <a:alphaModFix/>
          </a:blip>
          <a:srcRect l="11530" t="41230" r="11653" b="40863"/>
          <a:stretch/>
        </p:blipFill>
        <p:spPr>
          <a:xfrm>
            <a:off x="1713244" y="672779"/>
            <a:ext cx="3003465" cy="700105"/>
          </a:xfrm>
          <a:prstGeom prst="rect">
            <a:avLst/>
          </a:prstGeom>
          <a:noFill/>
          <a:ln>
            <a:noFill/>
          </a:ln>
        </p:spPr>
      </p:pic>
      <p:pic>
        <p:nvPicPr>
          <p:cNvPr id="13" name="Picture 12" descr="A close up of a device&#10;&#10;AI-generated content may be incorrect.">
            <a:extLst>
              <a:ext uri="{FF2B5EF4-FFF2-40B4-BE49-F238E27FC236}">
                <a16:creationId xmlns:a16="http://schemas.microsoft.com/office/drawing/2014/main" id="{D9A77A82-693B-15BC-B343-056B23688DBB}"/>
              </a:ext>
            </a:extLst>
          </p:cNvPr>
          <p:cNvPicPr>
            <a:picLocks noChangeAspect="1"/>
          </p:cNvPicPr>
          <p:nvPr/>
        </p:nvPicPr>
        <p:blipFill>
          <a:blip r:embed="rId3"/>
          <a:stretch>
            <a:fillRect/>
          </a:stretch>
        </p:blipFill>
        <p:spPr>
          <a:xfrm>
            <a:off x="6033610" y="1799795"/>
            <a:ext cx="16823056" cy="4622133"/>
          </a:xfrm>
          <a:prstGeom prst="rect">
            <a:avLst/>
          </a:prstGeom>
        </p:spPr>
      </p:pic>
      <p:pic>
        <p:nvPicPr>
          <p:cNvPr id="14" name="Picture 13" descr="A table with numbers and letters&#10;&#10;AI-generated content may be incorrect.">
            <a:extLst>
              <a:ext uri="{FF2B5EF4-FFF2-40B4-BE49-F238E27FC236}">
                <a16:creationId xmlns:a16="http://schemas.microsoft.com/office/drawing/2014/main" id="{59302692-6C80-BCDB-EA1B-5B232A5901C6}"/>
              </a:ext>
            </a:extLst>
          </p:cNvPr>
          <p:cNvPicPr>
            <a:picLocks noChangeAspect="1"/>
          </p:cNvPicPr>
          <p:nvPr/>
        </p:nvPicPr>
        <p:blipFill>
          <a:blip r:embed="rId4"/>
          <a:stretch>
            <a:fillRect/>
          </a:stretch>
        </p:blipFill>
        <p:spPr>
          <a:xfrm>
            <a:off x="620989" y="6250736"/>
            <a:ext cx="11464696" cy="4835067"/>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F428DB4D-3BD6-1FA7-7DA7-6124D4A2157B}"/>
              </a:ext>
            </a:extLst>
          </p:cNvPr>
          <p:cNvPicPr>
            <a:picLocks noChangeAspect="1"/>
          </p:cNvPicPr>
          <p:nvPr/>
        </p:nvPicPr>
        <p:blipFill>
          <a:blip r:embed="rId5"/>
          <a:stretch>
            <a:fillRect/>
          </a:stretch>
        </p:blipFill>
        <p:spPr>
          <a:xfrm>
            <a:off x="17816484" y="5459738"/>
            <a:ext cx="12037311" cy="5537973"/>
          </a:xfrm>
          <a:prstGeom prst="rect">
            <a:avLst/>
          </a:prstGeom>
        </p:spPr>
      </p:pic>
      <p:sp>
        <p:nvSpPr>
          <p:cNvPr id="5" name="Google Shape;361;g2cd193ef60f_0_3317">
            <a:extLst>
              <a:ext uri="{FF2B5EF4-FFF2-40B4-BE49-F238E27FC236}">
                <a16:creationId xmlns:a16="http://schemas.microsoft.com/office/drawing/2014/main" id="{D4BA965B-EFB2-20F8-E437-D88B6BD9A626}"/>
              </a:ext>
            </a:extLst>
          </p:cNvPr>
          <p:cNvSpPr txBox="1"/>
          <p:nvPr/>
        </p:nvSpPr>
        <p:spPr>
          <a:xfrm>
            <a:off x="1713244" y="1535431"/>
            <a:ext cx="24195812" cy="89255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r>
              <a:rPr lang="en-US" sz="5800" b="1" dirty="0">
                <a:solidFill>
                  <a:srgbClr val="292929"/>
                </a:solidFill>
                <a:latin typeface="Roboto"/>
                <a:ea typeface="Roboto"/>
                <a:cs typeface="Roboto"/>
                <a:sym typeface="Roboto"/>
              </a:rPr>
              <a:t>SYSTEM ARCHITECT</a:t>
            </a:r>
          </a:p>
        </p:txBody>
      </p:sp>
      <p:sp>
        <p:nvSpPr>
          <p:cNvPr id="9" name="Rectangle 8">
            <a:extLst>
              <a:ext uri="{FF2B5EF4-FFF2-40B4-BE49-F238E27FC236}">
                <a16:creationId xmlns:a16="http://schemas.microsoft.com/office/drawing/2014/main" id="{30FA5D5D-6F63-6874-690A-5B12745854A0}"/>
              </a:ext>
            </a:extLst>
          </p:cNvPr>
          <p:cNvSpPr/>
          <p:nvPr/>
        </p:nvSpPr>
        <p:spPr>
          <a:xfrm>
            <a:off x="409167" y="12552540"/>
            <a:ext cx="30149027" cy="3843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latin typeface="Roboto" panose="02000000000000000000" pitchFamily="2" charset="0"/>
                <a:ea typeface="Roboto" panose="02000000000000000000" pitchFamily="2" charset="0"/>
                <a:cs typeface="Roboto" panose="02000000000000000000" pitchFamily="2" charset="0"/>
              </a:rPr>
              <a:t>PoE Switch proposal: </a:t>
            </a:r>
          </a:p>
          <a:p>
            <a:pPr marL="685800" indent="-685800">
              <a:buFont typeface="Wingdings" panose="05000000000000000000" pitchFamily="2" charset="2"/>
              <a:buChar char="Ø"/>
            </a:pPr>
            <a:r>
              <a:rPr lang="en-US" sz="4000" dirty="0">
                <a:latin typeface="Roboto" panose="02000000000000000000" pitchFamily="2" charset="0"/>
                <a:ea typeface="Roboto" panose="02000000000000000000" pitchFamily="2" charset="0"/>
                <a:cs typeface="Roboto" panose="02000000000000000000" pitchFamily="2" charset="0"/>
              </a:rPr>
              <a:t>Propose to switch all ‘’PoE 15W’’ device to “POE+ 30W’’ device</a:t>
            </a:r>
          </a:p>
          <a:p>
            <a:r>
              <a:rPr lang="en-US" sz="4000" dirty="0">
                <a:latin typeface="Roboto" panose="02000000000000000000" pitchFamily="2" charset="0"/>
                <a:ea typeface="Roboto" panose="02000000000000000000" pitchFamily="2" charset="0"/>
                <a:cs typeface="Roboto" panose="02000000000000000000" pitchFamily="2" charset="0"/>
              </a:rPr>
              <a:t>     Reason: to get enough “power budget’’ for Edge device &amp; IP Camera</a:t>
            </a:r>
          </a:p>
          <a:p>
            <a:pPr marL="685800" indent="-685800">
              <a:buFont typeface="Wingdings" panose="05000000000000000000" pitchFamily="2" charset="2"/>
              <a:buChar char="Ø"/>
            </a:pPr>
            <a:r>
              <a:rPr lang="en-US" sz="4000" dirty="0">
                <a:latin typeface="Roboto" panose="02000000000000000000" pitchFamily="2" charset="0"/>
                <a:ea typeface="Roboto" panose="02000000000000000000" pitchFamily="2" charset="0"/>
                <a:cs typeface="Roboto" panose="02000000000000000000" pitchFamily="2" charset="0"/>
              </a:rPr>
              <a:t>For Outdoor surveillance using IP CAM ‘’DWC-MB45WIATW, max 10.5W’’, propose to setup PoE++ 60W</a:t>
            </a:r>
          </a:p>
          <a:p>
            <a:r>
              <a:rPr lang="en-US" sz="4000" dirty="0">
                <a:latin typeface="Roboto" panose="02000000000000000000" pitchFamily="2" charset="0"/>
                <a:ea typeface="Roboto" panose="02000000000000000000" pitchFamily="2" charset="0"/>
                <a:cs typeface="Roboto" panose="02000000000000000000" pitchFamily="2" charset="0"/>
              </a:rPr>
              <a:t>    Reason: to get enough ‘’power budget’’ for Edge device and 1 specific IP Cam</a:t>
            </a:r>
          </a:p>
          <a:p>
            <a:r>
              <a:rPr lang="en-US" sz="4000" dirty="0">
                <a:latin typeface="Roboto" panose="02000000000000000000" pitchFamily="2" charset="0"/>
                <a:ea typeface="Roboto" panose="02000000000000000000" pitchFamily="2" charset="0"/>
                <a:cs typeface="Roboto" panose="02000000000000000000" pitchFamily="2" charset="0"/>
              </a:rPr>
              <a:t>     Quantity: 1-2 PoE Switch (POE++)</a:t>
            </a:r>
          </a:p>
        </p:txBody>
      </p:sp>
      <p:sp>
        <p:nvSpPr>
          <p:cNvPr id="11" name="Rectangle 10">
            <a:extLst>
              <a:ext uri="{FF2B5EF4-FFF2-40B4-BE49-F238E27FC236}">
                <a16:creationId xmlns:a16="http://schemas.microsoft.com/office/drawing/2014/main" id="{7DCF9C76-1ECE-ECCF-86BD-5C94475DC577}"/>
              </a:ext>
            </a:extLst>
          </p:cNvPr>
          <p:cNvSpPr/>
          <p:nvPr/>
        </p:nvSpPr>
        <p:spPr>
          <a:xfrm>
            <a:off x="620988" y="8130746"/>
            <a:ext cx="11365065" cy="2955057"/>
          </a:xfrm>
          <a:prstGeom prst="rect">
            <a:avLst/>
          </a:prstGeom>
          <a:noFill/>
          <a:ln w="76200">
            <a:solidFill>
              <a:srgbClr val="A91E28"/>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288B19C-A63F-6843-69F2-E97446453FC9}"/>
              </a:ext>
            </a:extLst>
          </p:cNvPr>
          <p:cNvSpPr/>
          <p:nvPr/>
        </p:nvSpPr>
        <p:spPr>
          <a:xfrm>
            <a:off x="17816484" y="9984258"/>
            <a:ext cx="12037311" cy="494271"/>
          </a:xfrm>
          <a:prstGeom prst="rect">
            <a:avLst/>
          </a:prstGeom>
          <a:noFill/>
          <a:ln w="76200">
            <a:solidFill>
              <a:srgbClr val="A91E28"/>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4203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FD3D462A-47F8-72F6-AACD-3C12B0723ED4}"/>
            </a:ext>
          </a:extLst>
        </p:cNvPr>
        <p:cNvGrpSpPr/>
        <p:nvPr/>
      </p:nvGrpSpPr>
      <p:grpSpPr>
        <a:xfrm>
          <a:off x="0" y="0"/>
          <a:ext cx="0" cy="0"/>
          <a:chOff x="0" y="0"/>
          <a:chExt cx="0" cy="0"/>
        </a:xfrm>
      </p:grpSpPr>
      <p:grpSp>
        <p:nvGrpSpPr>
          <p:cNvPr id="298" name="Google Shape;298;p50">
            <a:extLst>
              <a:ext uri="{FF2B5EF4-FFF2-40B4-BE49-F238E27FC236}">
                <a16:creationId xmlns:a16="http://schemas.microsoft.com/office/drawing/2014/main" id="{215C5327-A621-2624-82F6-6F37AE5AEB3F}"/>
              </a:ext>
            </a:extLst>
          </p:cNvPr>
          <p:cNvGrpSpPr/>
          <p:nvPr/>
        </p:nvGrpSpPr>
        <p:grpSpPr>
          <a:xfrm>
            <a:off x="-1" y="3413799"/>
            <a:ext cx="1244165" cy="1592130"/>
            <a:chOff x="0" y="-38100"/>
            <a:chExt cx="812800" cy="850900"/>
          </a:xfrm>
        </p:grpSpPr>
        <p:sp>
          <p:nvSpPr>
            <p:cNvPr id="299" name="Google Shape;299;p50">
              <a:extLst>
                <a:ext uri="{FF2B5EF4-FFF2-40B4-BE49-F238E27FC236}">
                  <a16:creationId xmlns:a16="http://schemas.microsoft.com/office/drawing/2014/main" id="{D0F061E0-3345-46AB-5EF5-55ED825AED95}"/>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BC1823"/>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4741"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50">
              <a:extLst>
                <a:ext uri="{FF2B5EF4-FFF2-40B4-BE49-F238E27FC236}">
                  <a16:creationId xmlns:a16="http://schemas.microsoft.com/office/drawing/2014/main" id="{A5691F2B-C473-B96A-6251-DE9B5821318B}"/>
                </a:ext>
              </a:extLst>
            </p:cNvPr>
            <p:cNvSpPr txBox="1"/>
            <p:nvPr/>
          </p:nvSpPr>
          <p:spPr>
            <a:xfrm>
              <a:off x="0" y="-38100"/>
              <a:ext cx="812700" cy="850800"/>
            </a:xfrm>
            <a:prstGeom prst="rect">
              <a:avLst/>
            </a:prstGeom>
            <a:noFill/>
            <a:ln>
              <a:noFill/>
            </a:ln>
          </p:spPr>
          <p:txBody>
            <a:bodyPr spcFirstLastPara="1" wrap="square" lIns="86020" tIns="86020" rIns="86020" bIns="86020" anchor="ctr" anchorCtr="0">
              <a:noAutofit/>
            </a:bodyPr>
            <a:lstStyle/>
            <a:p>
              <a:pPr marL="0" marR="0" lvl="0" indent="0" algn="ctr" defTabSz="914400" rtl="0" eaLnBrk="1" fontAlgn="auto" latinLnBrk="0" hangingPunct="1">
                <a:lnSpc>
                  <a:spcPct val="124444"/>
                </a:lnSpc>
                <a:spcBef>
                  <a:spcPts val="0"/>
                </a:spcBef>
                <a:spcAft>
                  <a:spcPts val="0"/>
                </a:spcAft>
                <a:buClr>
                  <a:srgbClr val="000000"/>
                </a:buClr>
                <a:buSzTx/>
                <a:buFont typeface="Arial"/>
                <a:buNone/>
                <a:tabLst/>
                <a:defRPr/>
              </a:pPr>
              <a:endParaRPr kumimoji="0" sz="3048"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 name="Footer Placeholder 14">
            <a:extLst>
              <a:ext uri="{FF2B5EF4-FFF2-40B4-BE49-F238E27FC236}">
                <a16:creationId xmlns:a16="http://schemas.microsoft.com/office/drawing/2014/main" id="{AF4784FE-0052-9645-281B-47CF17A33FC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19" name="Slide Number Placeholder 18">
            <a:extLst>
              <a:ext uri="{FF2B5EF4-FFF2-40B4-BE49-F238E27FC236}">
                <a16:creationId xmlns:a16="http://schemas.microsoft.com/office/drawing/2014/main" id="{220418C7-7421-4387-799B-FA678B1F8134}"/>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8</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pic>
        <p:nvPicPr>
          <p:cNvPr id="21" name="Google Shape;583;p55">
            <a:extLst>
              <a:ext uri="{FF2B5EF4-FFF2-40B4-BE49-F238E27FC236}">
                <a16:creationId xmlns:a16="http://schemas.microsoft.com/office/drawing/2014/main" id="{7B732CF7-F4A1-940B-29D0-5489F4B344D8}"/>
              </a:ext>
            </a:extLst>
          </p:cNvPr>
          <p:cNvPicPr preferRelativeResize="0"/>
          <p:nvPr/>
        </p:nvPicPr>
        <p:blipFill rotWithShape="1">
          <a:blip r:embed="rId3">
            <a:alphaModFix/>
          </a:blip>
          <a:srcRect l="11530" t="41230" r="11653" b="40863"/>
          <a:stretch/>
        </p:blipFill>
        <p:spPr>
          <a:xfrm>
            <a:off x="1712850" y="672781"/>
            <a:ext cx="3003556" cy="700101"/>
          </a:xfrm>
          <a:prstGeom prst="rect">
            <a:avLst/>
          </a:prstGeom>
          <a:noFill/>
          <a:ln>
            <a:noFill/>
          </a:ln>
        </p:spPr>
      </p:pic>
      <p:sp>
        <p:nvSpPr>
          <p:cNvPr id="6" name="Date Placeholder 6">
            <a:extLst>
              <a:ext uri="{FF2B5EF4-FFF2-40B4-BE49-F238E27FC236}">
                <a16:creationId xmlns:a16="http://schemas.microsoft.com/office/drawing/2014/main" id="{9CBA3C27-48F8-C4E6-7D64-24C27FF1DA94}"/>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EBFB2F6-82EC-4D04-9A4D-DB4FA8ED24EC}"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Google Shape;302;p50">
            <a:extLst>
              <a:ext uri="{FF2B5EF4-FFF2-40B4-BE49-F238E27FC236}">
                <a16:creationId xmlns:a16="http://schemas.microsoft.com/office/drawing/2014/main" id="{7F845A5F-7D21-F2F2-7A56-0705DFDA9457}"/>
              </a:ext>
            </a:extLst>
          </p:cNvPr>
          <p:cNvSpPr txBox="1"/>
          <p:nvPr/>
        </p:nvSpPr>
        <p:spPr>
          <a:xfrm>
            <a:off x="13305199" y="4852245"/>
            <a:ext cx="18312099" cy="7386638"/>
          </a:xfrm>
          <a:prstGeom prst="rect">
            <a:avLst/>
          </a:prstGeom>
          <a:noFill/>
          <a:ln>
            <a:noFill/>
          </a:ln>
        </p:spPr>
        <p:txBody>
          <a:bodyPr spcFirstLastPara="1" wrap="square" lIns="0" tIns="0" rIns="0" bIns="0" anchor="t" anchorCtr="0">
            <a:spAutoFit/>
          </a:bodyPr>
          <a:lstStyle/>
          <a:p>
            <a:pPr algn="just">
              <a:lnSpc>
                <a:spcPct val="200000"/>
              </a:lnSpc>
              <a:defRPr/>
            </a:pPr>
            <a:r>
              <a:rPr lang="en-US" sz="4800" dirty="0">
                <a:solidFill>
                  <a:srgbClr val="292929"/>
                </a:solidFill>
                <a:latin typeface="Roboto"/>
                <a:ea typeface="Roboto"/>
                <a:cs typeface="Roboto"/>
                <a:sym typeface="Calibri"/>
              </a:rPr>
              <a:t>SYSTEM REQUIREMENT</a:t>
            </a:r>
          </a:p>
          <a:p>
            <a:pPr algn="just">
              <a:lnSpc>
                <a:spcPct val="200000"/>
              </a:lnSpc>
              <a:defRPr/>
            </a:pPr>
            <a:r>
              <a:rPr lang="en-US" sz="4800" dirty="0">
                <a:solidFill>
                  <a:srgbClr val="292929"/>
                </a:solidFill>
                <a:latin typeface="Roboto"/>
                <a:ea typeface="Roboto"/>
                <a:cs typeface="Roboto"/>
                <a:sym typeface="Calibri"/>
              </a:rPr>
              <a:t>SOLUTION SYSTEM ARCHITECT</a:t>
            </a:r>
          </a:p>
          <a:p>
            <a:pPr algn="just">
              <a:lnSpc>
                <a:spcPct val="200000"/>
              </a:lnSpc>
              <a:defRPr/>
            </a:pPr>
            <a:r>
              <a:rPr lang="en-US" sz="4800" b="1" dirty="0">
                <a:solidFill>
                  <a:srgbClr val="0070C0"/>
                </a:solidFill>
                <a:latin typeface="Roboto"/>
                <a:ea typeface="Roboto"/>
                <a:cs typeface="Roboto"/>
                <a:sym typeface="Calibri"/>
              </a:rPr>
              <a:t>EDGE AI BOX SOLUTION</a:t>
            </a:r>
            <a:endParaRPr lang="en-US" sz="4800" dirty="0">
              <a:solidFill>
                <a:srgbClr val="292929"/>
              </a:solidFill>
              <a:latin typeface="Roboto"/>
              <a:ea typeface="Roboto"/>
              <a:cs typeface="Roboto"/>
              <a:sym typeface="Calibri"/>
            </a:endParaRPr>
          </a:p>
          <a:p>
            <a:pPr algn="just">
              <a:lnSpc>
                <a:spcPct val="200000"/>
              </a:lnSpc>
              <a:defRPr/>
            </a:pPr>
            <a:r>
              <a:rPr lang="en-US" sz="4800" dirty="0">
                <a:solidFill>
                  <a:srgbClr val="292929"/>
                </a:solidFill>
                <a:latin typeface="Roboto"/>
                <a:ea typeface="Roboto"/>
                <a:cs typeface="Roboto"/>
                <a:sym typeface="Calibri"/>
              </a:rPr>
              <a:t>PROJECT TIMELINE</a:t>
            </a:r>
          </a:p>
          <a:p>
            <a:pPr algn="just">
              <a:lnSpc>
                <a:spcPct val="200000"/>
              </a:lnSpc>
              <a:defRPr/>
            </a:pPr>
            <a:r>
              <a:rPr lang="en-US" sz="4800" dirty="0">
                <a:solidFill>
                  <a:srgbClr val="292929"/>
                </a:solidFill>
                <a:latin typeface="Roboto"/>
                <a:ea typeface="Roboto"/>
                <a:cs typeface="Roboto"/>
                <a:sym typeface="Calibri"/>
              </a:rPr>
              <a:t>COMMERCIAL</a:t>
            </a:r>
            <a:endParaRPr kumimoji="0" lang="en-US" sz="4800" b="0" i="0" u="none" strike="noStrike" kern="0" cap="none" spc="0" normalizeH="0" baseline="0" noProof="0" dirty="0">
              <a:ln>
                <a:noFill/>
              </a:ln>
              <a:solidFill>
                <a:srgbClr val="292929"/>
              </a:solidFill>
              <a:effectLst/>
              <a:uLnTx/>
              <a:uFillTx/>
              <a:latin typeface="Roboto"/>
              <a:ea typeface="Roboto"/>
              <a:cs typeface="Roboto"/>
              <a:sym typeface="Calibri"/>
            </a:endParaRPr>
          </a:p>
        </p:txBody>
      </p:sp>
      <p:pic>
        <p:nvPicPr>
          <p:cNvPr id="3" name="Picture 2" descr="Smart City Surveillance System Modern Security Camera Providing Advanced  Surveillance Network Connectivity Data Protection Stock Illustration -  Illustration of privacy, wireless: 360303284">
            <a:extLst>
              <a:ext uri="{FF2B5EF4-FFF2-40B4-BE49-F238E27FC236}">
                <a16:creationId xmlns:a16="http://schemas.microsoft.com/office/drawing/2014/main" id="{E8087409-3DE6-D4C0-3603-B58B776327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850" y="5005742"/>
            <a:ext cx="10874214" cy="7084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5272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2">
          <a:extLst>
            <a:ext uri="{FF2B5EF4-FFF2-40B4-BE49-F238E27FC236}">
              <a16:creationId xmlns:a16="http://schemas.microsoft.com/office/drawing/2014/main" id="{405DA629-FB0A-B52E-2D98-A8D853248F71}"/>
            </a:ext>
          </a:extLst>
        </p:cNvPr>
        <p:cNvGrpSpPr/>
        <p:nvPr/>
      </p:nvGrpSpPr>
      <p:grpSpPr>
        <a:xfrm>
          <a:off x="0" y="0"/>
          <a:ext cx="0" cy="0"/>
          <a:chOff x="0" y="0"/>
          <a:chExt cx="0" cy="0"/>
        </a:xfrm>
      </p:grpSpPr>
      <p:grpSp>
        <p:nvGrpSpPr>
          <p:cNvPr id="358" name="Google Shape;358;g2cd193ef60f_0_3317">
            <a:extLst>
              <a:ext uri="{FF2B5EF4-FFF2-40B4-BE49-F238E27FC236}">
                <a16:creationId xmlns:a16="http://schemas.microsoft.com/office/drawing/2014/main" id="{54BEC296-3283-160D-852B-9E1BA85D56C1}"/>
              </a:ext>
            </a:extLst>
          </p:cNvPr>
          <p:cNvGrpSpPr/>
          <p:nvPr/>
        </p:nvGrpSpPr>
        <p:grpSpPr>
          <a:xfrm>
            <a:off x="440" y="-1"/>
            <a:ext cx="1006480" cy="2464683"/>
            <a:chOff x="0" y="-38100"/>
            <a:chExt cx="426000" cy="1071320"/>
          </a:xfrm>
        </p:grpSpPr>
        <p:sp>
          <p:nvSpPr>
            <p:cNvPr id="359" name="Google Shape;359;g2cd193ef60f_0_3317">
              <a:extLst>
                <a:ext uri="{FF2B5EF4-FFF2-40B4-BE49-F238E27FC236}">
                  <a16:creationId xmlns:a16="http://schemas.microsoft.com/office/drawing/2014/main" id="{9D4BF121-E85C-1A28-7785-2CEB68BD3048}"/>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kern="0"/>
            </a:p>
          </p:txBody>
        </p:sp>
        <p:sp>
          <p:nvSpPr>
            <p:cNvPr id="360" name="Google Shape;360;g2cd193ef60f_0_3317">
              <a:extLst>
                <a:ext uri="{FF2B5EF4-FFF2-40B4-BE49-F238E27FC236}">
                  <a16:creationId xmlns:a16="http://schemas.microsoft.com/office/drawing/2014/main" id="{D4FC02FD-B6D8-22A6-B9CF-AF715070ED20}"/>
                </a:ext>
              </a:extLst>
            </p:cNvPr>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kern="0">
                <a:latin typeface="Calibri"/>
                <a:ea typeface="Calibri"/>
                <a:cs typeface="Calibri"/>
                <a:sym typeface="Calibri"/>
              </a:endParaRPr>
            </a:p>
          </p:txBody>
        </p:sp>
      </p:grpSp>
      <p:sp>
        <p:nvSpPr>
          <p:cNvPr id="361" name="Google Shape;361;g2cd193ef60f_0_3317">
            <a:extLst>
              <a:ext uri="{FF2B5EF4-FFF2-40B4-BE49-F238E27FC236}">
                <a16:creationId xmlns:a16="http://schemas.microsoft.com/office/drawing/2014/main" id="{47E605C9-74F6-0B5A-977D-1F3DB2A4852F}"/>
              </a:ext>
            </a:extLst>
          </p:cNvPr>
          <p:cNvSpPr txBox="1"/>
          <p:nvPr/>
        </p:nvSpPr>
        <p:spPr>
          <a:xfrm>
            <a:off x="1713243" y="1571378"/>
            <a:ext cx="24195812" cy="89255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r>
              <a:rPr lang="en-US" sz="5800" b="1" dirty="0">
                <a:solidFill>
                  <a:srgbClr val="292929"/>
                </a:solidFill>
                <a:latin typeface="Roboto"/>
                <a:ea typeface="Roboto"/>
                <a:cs typeface="Roboto"/>
                <a:sym typeface="Roboto"/>
              </a:rPr>
              <a:t>GIẢI PHÁP KỸ THUẬT CỦA VIETSOL</a:t>
            </a:r>
          </a:p>
        </p:txBody>
      </p:sp>
      <p:pic>
        <p:nvPicPr>
          <p:cNvPr id="362" name="Google Shape;362;g2cd193ef60f_0_3317">
            <a:extLst>
              <a:ext uri="{FF2B5EF4-FFF2-40B4-BE49-F238E27FC236}">
                <a16:creationId xmlns:a16="http://schemas.microsoft.com/office/drawing/2014/main" id="{83DE2893-035F-F0B3-EEE2-7A87A7EC611E}"/>
              </a:ext>
            </a:extLst>
          </p:cNvPr>
          <p:cNvPicPr preferRelativeResize="0"/>
          <p:nvPr/>
        </p:nvPicPr>
        <p:blipFill rotWithShape="1">
          <a:blip r:embed="rId4">
            <a:alphaModFix/>
          </a:blip>
          <a:srcRect l="11530" t="41230" r="11653" b="40863"/>
          <a:stretch/>
        </p:blipFill>
        <p:spPr>
          <a:xfrm>
            <a:off x="1713244" y="672779"/>
            <a:ext cx="3003465" cy="700105"/>
          </a:xfrm>
          <a:prstGeom prst="rect">
            <a:avLst/>
          </a:prstGeom>
          <a:noFill/>
          <a:ln>
            <a:noFill/>
          </a:ln>
        </p:spPr>
      </p:pic>
      <p:sp>
        <p:nvSpPr>
          <p:cNvPr id="4" name="Footer Placeholder 3">
            <a:extLst>
              <a:ext uri="{FF2B5EF4-FFF2-40B4-BE49-F238E27FC236}">
                <a16:creationId xmlns:a16="http://schemas.microsoft.com/office/drawing/2014/main" id="{10556DF8-DA11-7E72-94FC-F3DA953A377E}"/>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5" name="Slide Number Placeholder 4">
            <a:extLst>
              <a:ext uri="{FF2B5EF4-FFF2-40B4-BE49-F238E27FC236}">
                <a16:creationId xmlns:a16="http://schemas.microsoft.com/office/drawing/2014/main" id="{6CE43753-0AA6-E098-03BF-387F04B26E9E}"/>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9</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Date Placeholder 6">
            <a:extLst>
              <a:ext uri="{FF2B5EF4-FFF2-40B4-BE49-F238E27FC236}">
                <a16:creationId xmlns:a16="http://schemas.microsoft.com/office/drawing/2014/main" id="{7D157111-33E0-8EF1-FAB8-E5693A60C610}"/>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6D3F2FB-93C4-4C8C-88BC-FAB5532D93EE}"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Rectangle 2">
            <a:extLst>
              <a:ext uri="{FF2B5EF4-FFF2-40B4-BE49-F238E27FC236}">
                <a16:creationId xmlns:a16="http://schemas.microsoft.com/office/drawing/2014/main" id="{E17D7CD5-21A2-6EC6-2E89-C503DC204D30}"/>
              </a:ext>
            </a:extLst>
          </p:cNvPr>
          <p:cNvSpPr/>
          <p:nvPr/>
        </p:nvSpPr>
        <p:spPr>
          <a:xfrm>
            <a:off x="1935663" y="9828218"/>
            <a:ext cx="9037135" cy="30475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a:solidFill>
                  <a:schemeClr val="tx1"/>
                </a:solidFill>
              </a:rPr>
              <a:t>Box image</a:t>
            </a:r>
          </a:p>
          <a:p>
            <a:pPr algn="ctr"/>
            <a:r>
              <a:rPr lang="en-US" sz="5400">
                <a:solidFill>
                  <a:schemeClr val="tx1"/>
                </a:solidFill>
              </a:rPr>
              <a:t>(HW Box styling-</a:t>
            </a:r>
            <a:r>
              <a:rPr lang="en-US" sz="5400" err="1">
                <a:solidFill>
                  <a:schemeClr val="tx1"/>
                </a:solidFill>
              </a:rPr>
              <a:t>Nghiem’team</a:t>
            </a:r>
            <a:endParaRPr lang="en-US" sz="5400">
              <a:solidFill>
                <a:schemeClr val="tx1"/>
              </a:solidFill>
            </a:endParaRPr>
          </a:p>
          <a:p>
            <a:pPr algn="ctr"/>
            <a:r>
              <a:rPr lang="en-US" sz="5400">
                <a:solidFill>
                  <a:schemeClr val="tx1"/>
                </a:solidFill>
              </a:rPr>
              <a:t>Size &amp; logo)</a:t>
            </a:r>
          </a:p>
        </p:txBody>
      </p:sp>
      <p:graphicFrame>
        <p:nvGraphicFramePr>
          <p:cNvPr id="8" name="Table 7">
            <a:extLst>
              <a:ext uri="{FF2B5EF4-FFF2-40B4-BE49-F238E27FC236}">
                <a16:creationId xmlns:a16="http://schemas.microsoft.com/office/drawing/2014/main" id="{E371E8B7-E6C4-F171-1EA3-9366619665B0}"/>
              </a:ext>
            </a:extLst>
          </p:cNvPr>
          <p:cNvGraphicFramePr>
            <a:graphicFrameLocks noGrp="1"/>
          </p:cNvGraphicFramePr>
          <p:nvPr>
            <p:extLst>
              <p:ext uri="{D42A27DB-BD31-4B8C-83A1-F6EECF244321}">
                <p14:modId xmlns:p14="http://schemas.microsoft.com/office/powerpoint/2010/main" val="3431982745"/>
              </p:ext>
            </p:extLst>
          </p:nvPr>
        </p:nvGraphicFramePr>
        <p:xfrm>
          <a:off x="12257903" y="2463640"/>
          <a:ext cx="18037490" cy="12870188"/>
        </p:xfrm>
        <a:graphic>
          <a:graphicData uri="http://schemas.openxmlformats.org/drawingml/2006/table">
            <a:tbl>
              <a:tblPr firstRow="1" bandRow="1">
                <a:tableStyleId>{F5AB1C69-6EDB-4FF4-983F-18BD219EF322}</a:tableStyleId>
              </a:tblPr>
              <a:tblGrid>
                <a:gridCol w="2693773">
                  <a:extLst>
                    <a:ext uri="{9D8B030D-6E8A-4147-A177-3AD203B41FA5}">
                      <a16:colId xmlns:a16="http://schemas.microsoft.com/office/drawing/2014/main" val="3941319428"/>
                    </a:ext>
                  </a:extLst>
                </a:gridCol>
                <a:gridCol w="3534032">
                  <a:extLst>
                    <a:ext uri="{9D8B030D-6E8A-4147-A177-3AD203B41FA5}">
                      <a16:colId xmlns:a16="http://schemas.microsoft.com/office/drawing/2014/main" val="179509819"/>
                    </a:ext>
                  </a:extLst>
                </a:gridCol>
                <a:gridCol w="11809685">
                  <a:extLst>
                    <a:ext uri="{9D8B030D-6E8A-4147-A177-3AD203B41FA5}">
                      <a16:colId xmlns:a16="http://schemas.microsoft.com/office/drawing/2014/main" val="4146842006"/>
                    </a:ext>
                  </a:extLst>
                </a:gridCol>
              </a:tblGrid>
              <a:tr h="641748">
                <a:tc>
                  <a:txBody>
                    <a:bodyPr/>
                    <a:lstStyle/>
                    <a:p>
                      <a:endParaRPr lang="en-US" sz="28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2800" dirty="0"/>
                        <a:t>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8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379994"/>
                  </a:ext>
                </a:extLst>
              </a:tr>
              <a:tr h="641748">
                <a:tc rowSpan="9">
                  <a:txBody>
                    <a:bodyPr/>
                    <a:lstStyle/>
                    <a:p>
                      <a:endParaRPr lang="en-US" sz="3200" b="1" dirty="0"/>
                    </a:p>
                    <a:p>
                      <a:endParaRPr lang="en-US" sz="3200" b="1" dirty="0"/>
                    </a:p>
                    <a:p>
                      <a:r>
                        <a:rPr lang="en-US" sz="3200" b="1" dirty="0"/>
                        <a:t>Basic </a:t>
                      </a:r>
                    </a:p>
                    <a:p>
                      <a:r>
                        <a:rPr lang="en-US" sz="3200" b="1" dirty="0"/>
                        <a:t>Specifications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dirty="0"/>
                        <a:t>NPU</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2800" dirty="0"/>
                        <a:t> 6-20 TOPS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9938870"/>
                  </a:ext>
                </a:extLst>
              </a:tr>
              <a:tr h="641748">
                <a:tc vMerge="1">
                  <a:txBody>
                    <a:bodyPr/>
                    <a:lstStyle/>
                    <a:p>
                      <a:endParaRPr lang="en-US"/>
                    </a:p>
                  </a:txBody>
                  <a:tcPr/>
                </a:tc>
                <a:tc>
                  <a:txBody>
                    <a:bodyPr/>
                    <a:lstStyle/>
                    <a:p>
                      <a:r>
                        <a:rPr lang="en-US" sz="2800" b="1" dirty="0"/>
                        <a:t>RAM</a:t>
                      </a:r>
                    </a:p>
                  </a:txBody>
                  <a:tcPr>
                    <a:lnL w="12700" cap="flat" cmpd="sng" algn="ctr">
                      <a:solidFill>
                        <a:schemeClr val="tx1"/>
                      </a:solidFill>
                      <a:prstDash val="solid"/>
                      <a:round/>
                      <a:headEnd type="none" w="med" len="med"/>
                      <a:tailEnd type="none" w="med" len="med"/>
                    </a:lnL>
                  </a:tcPr>
                </a:tc>
                <a:tc>
                  <a:txBody>
                    <a:bodyPr/>
                    <a:lstStyle/>
                    <a:p>
                      <a:r>
                        <a:rPr lang="en-US" sz="2800" dirty="0"/>
                        <a:t> 4GB LPDDR4</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04318611"/>
                  </a:ext>
                </a:extLst>
              </a:tr>
              <a:tr h="641748">
                <a:tc vMerge="1">
                  <a:txBody>
                    <a:bodyPr/>
                    <a:lstStyle/>
                    <a:p>
                      <a:endParaRPr lang="en-US" dirty="0"/>
                    </a:p>
                  </a:txBody>
                  <a:tcPr/>
                </a:tc>
                <a:tc>
                  <a:txBody>
                    <a:bodyPr/>
                    <a:lstStyle/>
                    <a:p>
                      <a:r>
                        <a:rPr lang="en-US" sz="2800" b="1" dirty="0"/>
                        <a:t>Storage</a:t>
                      </a:r>
                    </a:p>
                  </a:txBody>
                  <a:tcPr>
                    <a:lnL w="12700" cap="flat" cmpd="sng" algn="ctr">
                      <a:solidFill>
                        <a:schemeClr val="tx1"/>
                      </a:solidFill>
                      <a:prstDash val="solid"/>
                      <a:round/>
                      <a:headEnd type="none" w="med" len="med"/>
                      <a:tailEnd type="none" w="med" len="med"/>
                    </a:lnL>
                  </a:tcPr>
                </a:tc>
                <a:tc>
                  <a:txBody>
                    <a:bodyPr/>
                    <a:lstStyle/>
                    <a:p>
                      <a:r>
                        <a:rPr lang="en-US" sz="2800" dirty="0"/>
                        <a:t> 32GB eMMC</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67637830"/>
                  </a:ext>
                </a:extLst>
              </a:tr>
              <a:tr h="691037">
                <a:tc vMerge="1">
                  <a:txBody>
                    <a:bodyPr/>
                    <a:lstStyle/>
                    <a:p>
                      <a:endParaRPr lang="en-US" dirty="0"/>
                    </a:p>
                  </a:txBody>
                  <a:tcPr/>
                </a:tc>
                <a:tc>
                  <a:txBody>
                    <a:bodyPr/>
                    <a:lstStyle/>
                    <a:p>
                      <a:r>
                        <a:rPr lang="en-US" sz="2800" b="1" dirty="0"/>
                        <a:t>Power</a:t>
                      </a:r>
                    </a:p>
                  </a:txBody>
                  <a:tcPr>
                    <a:lnL w="12700" cap="flat" cmpd="sng" algn="ctr">
                      <a:solidFill>
                        <a:schemeClr val="tx1"/>
                      </a:solidFill>
                      <a:prstDash val="solid"/>
                      <a:round/>
                      <a:headEnd type="none" w="med" len="med"/>
                      <a:tailEnd type="none" w="med" len="med"/>
                    </a:lnL>
                  </a:tcPr>
                </a:tc>
                <a:tc>
                  <a:txBody>
                    <a:bodyPr/>
                    <a:lstStyle/>
                    <a:p>
                      <a:r>
                        <a:rPr lang="en-US" sz="2800" b="1" i="0" kern="1200" dirty="0">
                          <a:solidFill>
                            <a:schemeClr val="dk1"/>
                          </a:solidFill>
                          <a:effectLst/>
                          <a:latin typeface="+mn-lt"/>
                          <a:ea typeface="+mn-ea"/>
                          <a:cs typeface="+mn-cs"/>
                        </a:rPr>
                        <a:t>PoE Input:</a:t>
                      </a:r>
                      <a:r>
                        <a:rPr lang="en-US" sz="2800" b="0" i="0" kern="1200" dirty="0">
                          <a:solidFill>
                            <a:schemeClr val="dk1"/>
                          </a:solidFill>
                          <a:effectLst/>
                          <a:latin typeface="+mn-lt"/>
                          <a:ea typeface="+mn-ea"/>
                          <a:cs typeface="+mn-cs"/>
                        </a:rPr>
                        <a:t> 1x RJ45 IEEE 802.3at (</a:t>
                      </a:r>
                      <a:r>
                        <a:rPr lang="en-US" sz="2800" b="1" i="0" kern="1200" dirty="0">
                          <a:solidFill>
                            <a:schemeClr val="dk1"/>
                          </a:solidFill>
                          <a:effectLst/>
                          <a:latin typeface="+mn-lt"/>
                          <a:ea typeface="+mn-ea"/>
                          <a:cs typeface="+mn-cs"/>
                        </a:rPr>
                        <a:t>PoE+</a:t>
                      </a:r>
                      <a:r>
                        <a:rPr lang="en-US" sz="2800" b="0" i="0" kern="1200" dirty="0">
                          <a:solidFill>
                            <a:schemeClr val="dk1"/>
                          </a:solidFill>
                          <a:effectLst/>
                          <a:latin typeface="+mn-lt"/>
                          <a:ea typeface="+mn-ea"/>
                          <a:cs typeface="+mn-cs"/>
                        </a:rPr>
                        <a:t>) as minimum</a:t>
                      </a:r>
                    </a:p>
                    <a:p>
                      <a:r>
                        <a:rPr lang="en-US" sz="2800" b="1" i="0" kern="1200" dirty="0">
                          <a:solidFill>
                            <a:schemeClr val="dk1"/>
                          </a:solidFill>
                          <a:effectLst/>
                          <a:latin typeface="+mn-lt"/>
                          <a:ea typeface="+mn-ea"/>
                          <a:cs typeface="+mn-cs"/>
                        </a:rPr>
                        <a:t>PoE Output:</a:t>
                      </a:r>
                      <a:r>
                        <a:rPr lang="en-US" sz="2800" b="0" i="0" kern="1200" dirty="0">
                          <a:solidFill>
                            <a:schemeClr val="dk1"/>
                          </a:solidFill>
                          <a:effectLst/>
                          <a:latin typeface="+mn-lt"/>
                          <a:ea typeface="+mn-ea"/>
                          <a:cs typeface="+mn-cs"/>
                        </a:rPr>
                        <a:t> 1x RJ45 ports providing IEEE 802.3af (</a:t>
                      </a:r>
                      <a:r>
                        <a:rPr lang="en-US" sz="2800" b="1" i="0" kern="1200" dirty="0">
                          <a:solidFill>
                            <a:schemeClr val="dk1"/>
                          </a:solidFill>
                          <a:effectLst/>
                          <a:latin typeface="+mn-lt"/>
                          <a:ea typeface="+mn-ea"/>
                          <a:cs typeface="+mn-cs"/>
                        </a:rPr>
                        <a:t>PoE</a:t>
                      </a:r>
                      <a:r>
                        <a:rPr lang="en-US" sz="2800" b="0" i="0" kern="1200" dirty="0">
                          <a:solidFill>
                            <a:schemeClr val="dk1"/>
                          </a:solidFill>
                          <a:effectLst/>
                          <a:latin typeface="+mn-lt"/>
                          <a:ea typeface="+mn-ea"/>
                          <a:cs typeface="+mn-cs"/>
                        </a:rPr>
                        <a:t>)</a:t>
                      </a:r>
                      <a:endParaRPr lang="en-US" sz="28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26005037"/>
                  </a:ext>
                </a:extLst>
              </a:tr>
              <a:tr h="539588">
                <a:tc vMerge="1">
                  <a:txBody>
                    <a:bodyPr/>
                    <a:lstStyle/>
                    <a:p>
                      <a:endParaRPr lang="en-US" dirty="0"/>
                    </a:p>
                  </a:txBody>
                  <a:tcPr/>
                </a:tc>
                <a:tc>
                  <a:txBody>
                    <a:bodyPr/>
                    <a:lstStyle/>
                    <a:p>
                      <a:r>
                        <a:rPr lang="en-US" sz="2800" b="1" dirty="0">
                          <a:solidFill>
                            <a:schemeClr val="tx1"/>
                          </a:solidFill>
                        </a:rPr>
                        <a:t>Power consumption </a:t>
                      </a:r>
                    </a:p>
                  </a:txBody>
                  <a:tcPr>
                    <a:lnL w="12700" cap="flat" cmpd="sng" algn="ctr">
                      <a:solidFill>
                        <a:schemeClr val="tx1"/>
                      </a:solidFill>
                      <a:prstDash val="solid"/>
                      <a:round/>
                      <a:headEnd type="none" w="med" len="med"/>
                      <a:tailEnd type="none" w="med" len="med"/>
                    </a:lnL>
                  </a:tcPr>
                </a:tc>
                <a:tc>
                  <a:txBody>
                    <a:bodyPr/>
                    <a:lstStyle/>
                    <a:p>
                      <a:r>
                        <a:rPr lang="en-US" sz="2800" dirty="0">
                          <a:solidFill>
                            <a:schemeClr val="tx1"/>
                          </a:solidFill>
                        </a:rPr>
                        <a:t>Max 12W</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20825184"/>
                  </a:ext>
                </a:extLst>
              </a:tr>
              <a:tr h="641748">
                <a:tc vMerge="1">
                  <a:txBody>
                    <a:bodyPr/>
                    <a:lstStyle/>
                    <a:p>
                      <a:endParaRPr lang="en-US" dirty="0"/>
                    </a:p>
                  </a:txBody>
                  <a:tcPr/>
                </a:tc>
                <a:tc>
                  <a:txBody>
                    <a:bodyPr/>
                    <a:lstStyle/>
                    <a:p>
                      <a:r>
                        <a:rPr lang="en-US" sz="2800" b="1" dirty="0"/>
                        <a:t>OS</a:t>
                      </a:r>
                    </a:p>
                  </a:txBody>
                  <a:tcPr>
                    <a:lnL w="12700" cap="flat" cmpd="sng" algn="ctr">
                      <a:solidFill>
                        <a:schemeClr val="tx1"/>
                      </a:solidFill>
                      <a:prstDash val="solid"/>
                      <a:round/>
                      <a:headEnd type="none" w="med" len="med"/>
                      <a:tailEnd type="none" w="med" len="med"/>
                    </a:lnL>
                  </a:tcPr>
                </a:tc>
                <a:tc>
                  <a:txBody>
                    <a:bodyPr/>
                    <a:lstStyle/>
                    <a:p>
                      <a:r>
                        <a:rPr lang="en-US" sz="2800" b="0" i="0" kern="1200" dirty="0">
                          <a:solidFill>
                            <a:schemeClr val="dk1"/>
                          </a:solidFill>
                          <a:effectLst/>
                          <a:latin typeface="+mn-lt"/>
                          <a:ea typeface="+mn-ea"/>
                          <a:cs typeface="+mn-cs"/>
                        </a:rPr>
                        <a:t>Embedded Linux. </a:t>
                      </a:r>
                      <a:endParaRPr lang="en-US" sz="28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25654412"/>
                  </a:ext>
                </a:extLst>
              </a:tr>
              <a:tr h="2251442">
                <a:tc vMerge="1">
                  <a:txBody>
                    <a:bodyPr/>
                    <a:lstStyle/>
                    <a:p>
                      <a:endParaRPr lang="en-US" dirty="0"/>
                    </a:p>
                  </a:txBody>
                  <a:tcPr/>
                </a:tc>
                <a:tc>
                  <a:txBody>
                    <a:bodyPr/>
                    <a:lstStyle/>
                    <a:p>
                      <a:r>
                        <a:rPr lang="en-US" sz="2800" b="1" dirty="0"/>
                        <a:t>Software support</a:t>
                      </a:r>
                    </a:p>
                  </a:txBody>
                  <a:tcPr>
                    <a:lnL w="12700" cap="flat" cmpd="sng" algn="ctr">
                      <a:solidFill>
                        <a:schemeClr val="tx1"/>
                      </a:solidFill>
                      <a:prstDash val="solid"/>
                      <a:round/>
                      <a:headEnd type="none" w="med" len="med"/>
                      <a:tailEnd type="none" w="med" len="med"/>
                    </a:lnL>
                  </a:tcPr>
                </a:tc>
                <a:tc>
                  <a:txBody>
                    <a:bodyPr/>
                    <a:lstStyle/>
                    <a:p>
                      <a:pPr rtl="0" fontAlgn="base"/>
                      <a:r>
                        <a:rPr lang="en-US" sz="2800" b="0" i="0" kern="1200" dirty="0">
                          <a:solidFill>
                            <a:schemeClr val="dk1"/>
                          </a:solidFill>
                          <a:effectLst/>
                          <a:latin typeface="+mn-lt"/>
                          <a:ea typeface="+mn-ea"/>
                          <a:cs typeface="+mn-cs"/>
                        </a:rPr>
                        <a:t>- Support the privatization deployment of ultra-large-scale parametric models under the Transformer architecture, such as </a:t>
                      </a:r>
                    </a:p>
                    <a:p>
                      <a:pPr rtl="0" fontAlgn="base"/>
                      <a:r>
                        <a:rPr lang="en-US" sz="2800" b="0" i="0" kern="1200" dirty="0">
                          <a:solidFill>
                            <a:schemeClr val="dk1"/>
                          </a:solidFill>
                          <a:effectLst/>
                          <a:latin typeface="+mn-lt"/>
                          <a:ea typeface="+mn-ea"/>
                          <a:cs typeface="+mn-cs"/>
                        </a:rPr>
                        <a:t>- It supports traditional network architecture such as CNN, RNN, and LSTM. Support a variety of deep learning frameworks, including TensorFlow, TensorFlow Lite, </a:t>
                      </a:r>
                      <a:r>
                        <a:rPr lang="en-US" sz="2800" b="0" i="0" kern="1200" dirty="0" err="1">
                          <a:solidFill>
                            <a:schemeClr val="dk1"/>
                          </a:solidFill>
                          <a:effectLst/>
                          <a:latin typeface="+mn-lt"/>
                          <a:ea typeface="+mn-ea"/>
                          <a:cs typeface="+mn-cs"/>
                        </a:rPr>
                        <a:t>PyTorch</a:t>
                      </a:r>
                      <a:r>
                        <a:rPr lang="en-US" sz="2800" b="0" i="0" kern="1200" dirty="0">
                          <a:solidFill>
                            <a:schemeClr val="dk1"/>
                          </a:solidFill>
                          <a:effectLst/>
                          <a:latin typeface="+mn-lt"/>
                          <a:ea typeface="+mn-ea"/>
                          <a:cs typeface="+mn-cs"/>
                        </a:rPr>
                        <a:t>, Caffe, ONNX and Darknet. It also supports the development of custom operators </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18524014"/>
                  </a:ext>
                </a:extLst>
              </a:tr>
              <a:tr h="641748">
                <a:tc vMerge="1">
                  <a:txBody>
                    <a:bodyPr/>
                    <a:lstStyle/>
                    <a:p>
                      <a:endParaRPr lang="en-US" dirty="0"/>
                    </a:p>
                  </a:txBody>
                  <a:tcPr/>
                </a:tc>
                <a:tc>
                  <a:txBody>
                    <a:bodyPr/>
                    <a:lstStyle/>
                    <a:p>
                      <a:r>
                        <a:rPr lang="en-US" sz="2800" b="1" dirty="0">
                          <a:solidFill>
                            <a:schemeClr val="tx1"/>
                          </a:solidFill>
                        </a:rPr>
                        <a:t>Size</a:t>
                      </a:r>
                    </a:p>
                  </a:txBody>
                  <a:tcPr>
                    <a:lnL w="12700" cap="flat" cmpd="sng" algn="ctr">
                      <a:solidFill>
                        <a:schemeClr val="tx1"/>
                      </a:solidFill>
                      <a:prstDash val="solid"/>
                      <a:round/>
                      <a:headEnd type="none" w="med" len="med"/>
                      <a:tailEnd type="none" w="med" len="med"/>
                    </a:lnL>
                  </a:tcPr>
                </a:tc>
                <a:tc>
                  <a:txBody>
                    <a:bodyPr/>
                    <a:lstStyle/>
                    <a:p>
                      <a:endParaRPr lang="en-US" sz="28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38326219"/>
                  </a:ext>
                </a:extLst>
              </a:tr>
              <a:tr h="1003118">
                <a:tc vMerge="1">
                  <a:txBody>
                    <a:bodyPr/>
                    <a:lstStyle/>
                    <a:p>
                      <a:endParaRPr lang="en-US" dirty="0"/>
                    </a:p>
                  </a:txBody>
                  <a:tcPr/>
                </a:tc>
                <a:tc>
                  <a:txBody>
                    <a:bodyPr/>
                    <a:lstStyle/>
                    <a:p>
                      <a:r>
                        <a:rPr lang="en-US" sz="2800" b="1" dirty="0"/>
                        <a:t>Environment</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sz="2800" b="0" i="0" kern="1200" dirty="0">
                          <a:solidFill>
                            <a:schemeClr val="dk1"/>
                          </a:solidFill>
                          <a:effectLst/>
                          <a:latin typeface="+mn-lt"/>
                          <a:ea typeface="+mn-ea"/>
                          <a:cs typeface="+mn-cs"/>
                        </a:rPr>
                        <a:t>-30°C to +60°C</a:t>
                      </a:r>
                    </a:p>
                    <a:p>
                      <a:r>
                        <a:rPr lang="en-US" sz="2800" b="1" i="0" kern="1200" dirty="0">
                          <a:solidFill>
                            <a:schemeClr val="dk1"/>
                          </a:solidFill>
                          <a:effectLst/>
                          <a:latin typeface="+mn-lt"/>
                          <a:ea typeface="+mn-ea"/>
                          <a:cs typeface="+mn-cs"/>
                        </a:rPr>
                        <a:t>Storage Conditions: </a:t>
                      </a:r>
                      <a:r>
                        <a:rPr lang="en-US" sz="2800" b="0" i="0" kern="1200" dirty="0">
                          <a:solidFill>
                            <a:schemeClr val="dk1"/>
                          </a:solidFill>
                          <a:effectLst/>
                          <a:latin typeface="+mn-lt"/>
                          <a:ea typeface="+mn-ea"/>
                          <a:cs typeface="+mn-cs"/>
                        </a:rPr>
                        <a:t>-30°C to +60°C </a:t>
                      </a:r>
                    </a:p>
                    <a:p>
                      <a:r>
                        <a:rPr lang="en-US" sz="2800" b="1" i="0" kern="1200" dirty="0">
                          <a:solidFill>
                            <a:schemeClr val="dk1"/>
                          </a:solidFill>
                          <a:effectLst/>
                          <a:latin typeface="+mn-lt"/>
                          <a:ea typeface="+mn-ea"/>
                          <a:cs typeface="+mn-cs"/>
                        </a:rPr>
                        <a:t>Humidity:</a:t>
                      </a:r>
                      <a:r>
                        <a:rPr lang="en-US" sz="2800" b="0" i="0" kern="1200" dirty="0">
                          <a:solidFill>
                            <a:schemeClr val="dk1"/>
                          </a:solidFill>
                          <a:effectLst/>
                          <a:latin typeface="+mn-lt"/>
                          <a:ea typeface="+mn-ea"/>
                          <a:cs typeface="+mn-cs"/>
                        </a:rPr>
                        <a:t> 10-95%RH </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9795883"/>
                  </a:ext>
                </a:extLst>
              </a:tr>
              <a:tr h="641748">
                <a:tc rowSpan="3">
                  <a:txBody>
                    <a:bodyPr/>
                    <a:lstStyle/>
                    <a:p>
                      <a:r>
                        <a:rPr lang="en-US" sz="3200" b="1" dirty="0"/>
                        <a:t>Interface Specifications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2800" b="1" dirty="0"/>
                        <a:t>Network</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2800" b="0" i="0" kern="1200" dirty="0">
                          <a:solidFill>
                            <a:schemeClr val="dk1"/>
                          </a:solidFill>
                          <a:effectLst/>
                          <a:latin typeface="+mn-lt"/>
                          <a:ea typeface="+mn-ea"/>
                          <a:cs typeface="+mn-cs"/>
                        </a:rPr>
                        <a:t> Dual Gigabit Ethernet (1x POE in, 1x POE out through PHY/PSE)</a:t>
                      </a:r>
                      <a:endParaRPr lang="en-US" sz="28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1830293"/>
                  </a:ext>
                </a:extLst>
              </a:tr>
              <a:tr h="641748">
                <a:tc vMerge="1">
                  <a:txBody>
                    <a:bodyPr/>
                    <a:lstStyle/>
                    <a:p>
                      <a:endParaRPr lang="en-US" dirty="0"/>
                    </a:p>
                  </a:txBody>
                  <a:tcPr/>
                </a:tc>
                <a:tc>
                  <a:txBody>
                    <a:bodyPr/>
                    <a:lstStyle/>
                    <a:p>
                      <a:r>
                        <a:rPr lang="en-US" sz="2800" b="1" dirty="0"/>
                        <a:t>IP Video input</a:t>
                      </a:r>
                    </a:p>
                  </a:txBody>
                  <a:tcPr>
                    <a:lnL w="12700" cap="flat" cmpd="sng" algn="ctr">
                      <a:solidFill>
                        <a:schemeClr val="tx1"/>
                      </a:solidFill>
                      <a:prstDash val="solid"/>
                      <a:round/>
                      <a:headEnd type="none" w="med" len="med"/>
                      <a:tailEnd type="none" w="med" len="med"/>
                    </a:lnL>
                  </a:tcPr>
                </a:tc>
                <a:tc>
                  <a:txBody>
                    <a:bodyPr/>
                    <a:lstStyle/>
                    <a:p>
                      <a:r>
                        <a:rPr lang="en-US" sz="2800" b="0" i="0" kern="1200" dirty="0">
                          <a:solidFill>
                            <a:schemeClr val="dk1"/>
                          </a:solidFill>
                          <a:effectLst/>
                          <a:latin typeface="+mn-lt"/>
                          <a:ea typeface="+mn-ea"/>
                          <a:cs typeface="+mn-cs"/>
                        </a:rPr>
                        <a:t>1 (Via PoE Switch) </a:t>
                      </a:r>
                      <a:endParaRPr lang="en-US" sz="28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45286775"/>
                  </a:ext>
                </a:extLst>
              </a:tr>
              <a:tr h="641748">
                <a:tc vMerge="1">
                  <a:txBody>
                    <a:bodyPr/>
                    <a:lstStyle/>
                    <a:p>
                      <a:endParaRPr lang="en-US" dirty="0"/>
                    </a:p>
                  </a:txBody>
                  <a:tcPr/>
                </a:tc>
                <a:tc>
                  <a:txBody>
                    <a:bodyPr/>
                    <a:lstStyle/>
                    <a:p>
                      <a:r>
                        <a:rPr lang="en-US" sz="2800" b="1" dirty="0"/>
                        <a:t>Decoding format</a:t>
                      </a:r>
                    </a:p>
                  </a:txBody>
                  <a:tcPr>
                    <a:lnL w="12700" cap="flat" cmpd="sng" algn="ctr">
                      <a:solidFill>
                        <a:schemeClr val="tx1"/>
                      </a:solidFill>
                      <a:prstDash val="solid"/>
                      <a:round/>
                      <a:headEnd type="none" w="med" len="med"/>
                      <a:tailEnd type="none" w="med" len="med"/>
                    </a:lnL>
                  </a:tcPr>
                </a:tc>
                <a:tc>
                  <a:txBody>
                    <a:bodyPr/>
                    <a:lstStyle/>
                    <a:p>
                      <a:r>
                        <a:rPr lang="en-US" sz="2800" b="0" i="0" kern="1200" dirty="0">
                          <a:solidFill>
                            <a:schemeClr val="dk1"/>
                          </a:solidFill>
                          <a:effectLst/>
                          <a:latin typeface="+mn-lt"/>
                          <a:ea typeface="+mn-ea"/>
                          <a:cs typeface="+mn-cs"/>
                        </a:rPr>
                        <a:t>H.265+/H.265/H.264+/H.264 </a:t>
                      </a:r>
                      <a:endParaRPr lang="en-US" sz="28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5670396"/>
                  </a:ext>
                </a:extLst>
              </a:tr>
              <a:tr h="641748">
                <a:tc>
                  <a:txBody>
                    <a:bodyPr/>
                    <a:lstStyle/>
                    <a:p>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sz="2800" b="1" dirty="0"/>
                        <a:t>USB</a:t>
                      </a:r>
                    </a:p>
                  </a:txBody>
                  <a:tcPr>
                    <a:lnL w="12700" cap="flat" cmpd="sng" algn="ctr">
                      <a:solidFill>
                        <a:schemeClr val="tx1"/>
                      </a:solidFill>
                      <a:prstDash val="solid"/>
                      <a:round/>
                      <a:headEnd type="none" w="med" len="med"/>
                      <a:tailEnd type="none" w="med" len="med"/>
                    </a:lnL>
                  </a:tcPr>
                </a:tc>
                <a:tc>
                  <a:txBody>
                    <a:bodyPr/>
                    <a:lstStyle/>
                    <a:p>
                      <a:r>
                        <a:rPr lang="en-US" sz="2800" b="0" i="0" kern="1200" dirty="0">
                          <a:solidFill>
                            <a:schemeClr val="dk1"/>
                          </a:solidFill>
                          <a:effectLst/>
                          <a:latin typeface="+mn-lt"/>
                          <a:ea typeface="+mn-ea"/>
                          <a:cs typeface="+mn-cs"/>
                        </a:rPr>
                        <a:t>2x USB 3.0 </a:t>
                      </a:r>
                      <a:endParaRPr lang="en-US" sz="2800"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87070476"/>
                  </a:ext>
                </a:extLst>
              </a:tr>
              <a:tr h="691037">
                <a:tc>
                  <a:txBody>
                    <a:bodyPr/>
                    <a:lstStyle/>
                    <a:p>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2800" b="1" dirty="0"/>
                        <a:t>Serial interface optional</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rtl="0" fontAlgn="base"/>
                      <a:r>
                        <a:rPr lang="en-US" sz="2800" b="1" i="0" kern="1200" dirty="0">
                          <a:solidFill>
                            <a:schemeClr val="dk1"/>
                          </a:solidFill>
                          <a:effectLst/>
                          <a:latin typeface="+mn-lt"/>
                          <a:ea typeface="+mn-ea"/>
                          <a:cs typeface="+mn-cs"/>
                        </a:rPr>
                        <a:t>2 x Digital Input (Dry Contact):</a:t>
                      </a:r>
                      <a:r>
                        <a:rPr lang="en-US" sz="2800" b="0" i="0" kern="1200" dirty="0">
                          <a:solidFill>
                            <a:schemeClr val="dk1"/>
                          </a:solidFill>
                          <a:effectLst/>
                          <a:latin typeface="+mn-lt"/>
                          <a:ea typeface="+mn-ea"/>
                          <a:cs typeface="+mn-cs"/>
                        </a:rPr>
                        <a:t> Optically isolated for PLC triggers. </a:t>
                      </a:r>
                    </a:p>
                    <a:p>
                      <a:pPr rtl="0" fontAlgn="base"/>
                      <a:r>
                        <a:rPr lang="en-US" sz="2800" b="1" i="0" kern="1200" dirty="0">
                          <a:solidFill>
                            <a:schemeClr val="dk1"/>
                          </a:solidFill>
                          <a:effectLst/>
                          <a:latin typeface="+mn-lt"/>
                          <a:ea typeface="+mn-ea"/>
                          <a:cs typeface="+mn-cs"/>
                        </a:rPr>
                        <a:t>2 x Digital Output (Dry Contact):</a:t>
                      </a:r>
                      <a:r>
                        <a:rPr lang="en-US" sz="2800" b="0" i="0" kern="1200" dirty="0">
                          <a:solidFill>
                            <a:schemeClr val="dk1"/>
                          </a:solidFill>
                          <a:effectLst/>
                          <a:latin typeface="+mn-lt"/>
                          <a:ea typeface="+mn-ea"/>
                          <a:cs typeface="+mn-cs"/>
                        </a:rPr>
                        <a:t> For machine-stop or alarm signaling </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738279"/>
                  </a:ext>
                </a:extLst>
              </a:tr>
            </a:tbl>
          </a:graphicData>
        </a:graphic>
      </p:graphicFrame>
    </p:spTree>
    <p:extLst>
      <p:ext uri="{BB962C8B-B14F-4D97-AF65-F5344CB8AC3E}">
        <p14:creationId xmlns:p14="http://schemas.microsoft.com/office/powerpoint/2010/main" val="2585089110"/>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2">
          <a:extLst>
            <a:ext uri="{FF2B5EF4-FFF2-40B4-BE49-F238E27FC236}">
              <a16:creationId xmlns:a16="http://schemas.microsoft.com/office/drawing/2014/main" id="{4027802A-7EE4-7420-BDFD-AC573EE3467A}"/>
            </a:ext>
          </a:extLst>
        </p:cNvPr>
        <p:cNvGrpSpPr/>
        <p:nvPr/>
      </p:nvGrpSpPr>
      <p:grpSpPr>
        <a:xfrm>
          <a:off x="0" y="0"/>
          <a:ext cx="0" cy="0"/>
          <a:chOff x="0" y="0"/>
          <a:chExt cx="0" cy="0"/>
        </a:xfrm>
      </p:grpSpPr>
      <p:grpSp>
        <p:nvGrpSpPr>
          <p:cNvPr id="358" name="Google Shape;358;g2cd193ef60f_0_3317">
            <a:extLst>
              <a:ext uri="{FF2B5EF4-FFF2-40B4-BE49-F238E27FC236}">
                <a16:creationId xmlns:a16="http://schemas.microsoft.com/office/drawing/2014/main" id="{99BC11CC-116A-DD12-3557-8E3F18D6E20F}"/>
              </a:ext>
            </a:extLst>
          </p:cNvPr>
          <p:cNvGrpSpPr/>
          <p:nvPr/>
        </p:nvGrpSpPr>
        <p:grpSpPr>
          <a:xfrm>
            <a:off x="440" y="-1"/>
            <a:ext cx="1006480" cy="2464683"/>
            <a:chOff x="0" y="-38100"/>
            <a:chExt cx="426000" cy="1071320"/>
          </a:xfrm>
        </p:grpSpPr>
        <p:sp>
          <p:nvSpPr>
            <p:cNvPr id="359" name="Google Shape;359;g2cd193ef60f_0_3317">
              <a:extLst>
                <a:ext uri="{FF2B5EF4-FFF2-40B4-BE49-F238E27FC236}">
                  <a16:creationId xmlns:a16="http://schemas.microsoft.com/office/drawing/2014/main" id="{9CE5D1CD-CC36-4C78-B801-A4AAA14318E1}"/>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kern="0"/>
            </a:p>
          </p:txBody>
        </p:sp>
        <p:sp>
          <p:nvSpPr>
            <p:cNvPr id="360" name="Google Shape;360;g2cd193ef60f_0_3317">
              <a:extLst>
                <a:ext uri="{FF2B5EF4-FFF2-40B4-BE49-F238E27FC236}">
                  <a16:creationId xmlns:a16="http://schemas.microsoft.com/office/drawing/2014/main" id="{562A258F-EA5F-9C80-F272-C3FCC1586F76}"/>
                </a:ext>
              </a:extLst>
            </p:cNvPr>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kern="0">
                <a:latin typeface="Calibri"/>
                <a:ea typeface="Calibri"/>
                <a:cs typeface="Calibri"/>
                <a:sym typeface="Calibri"/>
              </a:endParaRPr>
            </a:p>
          </p:txBody>
        </p:sp>
      </p:grpSp>
      <p:pic>
        <p:nvPicPr>
          <p:cNvPr id="362" name="Google Shape;362;g2cd193ef60f_0_3317">
            <a:extLst>
              <a:ext uri="{FF2B5EF4-FFF2-40B4-BE49-F238E27FC236}">
                <a16:creationId xmlns:a16="http://schemas.microsoft.com/office/drawing/2014/main" id="{FABBC260-3803-89C3-6BE2-8A7674877BBD}"/>
              </a:ext>
            </a:extLst>
          </p:cNvPr>
          <p:cNvPicPr preferRelativeResize="0"/>
          <p:nvPr/>
        </p:nvPicPr>
        <p:blipFill rotWithShape="1">
          <a:blip r:embed="rId4">
            <a:alphaModFix/>
          </a:blip>
          <a:srcRect l="11530" t="41230" r="11653" b="40863"/>
          <a:stretch/>
        </p:blipFill>
        <p:spPr>
          <a:xfrm>
            <a:off x="1713244" y="672779"/>
            <a:ext cx="3003465" cy="700105"/>
          </a:xfrm>
          <a:prstGeom prst="rect">
            <a:avLst/>
          </a:prstGeom>
          <a:noFill/>
          <a:ln>
            <a:noFill/>
          </a:ln>
        </p:spPr>
      </p:pic>
      <p:sp>
        <p:nvSpPr>
          <p:cNvPr id="4" name="Footer Placeholder 3">
            <a:extLst>
              <a:ext uri="{FF2B5EF4-FFF2-40B4-BE49-F238E27FC236}">
                <a16:creationId xmlns:a16="http://schemas.microsoft.com/office/drawing/2014/main" id="{DE1C8D2F-71AF-5A6C-1A27-FD662429D2B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5" name="Slide Number Placeholder 4">
            <a:extLst>
              <a:ext uri="{FF2B5EF4-FFF2-40B4-BE49-F238E27FC236}">
                <a16:creationId xmlns:a16="http://schemas.microsoft.com/office/drawing/2014/main" id="{1D5D8488-5D8F-CFA8-435D-BF53A75CC399}"/>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10</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graphicFrame>
        <p:nvGraphicFramePr>
          <p:cNvPr id="21" name="Table 20">
            <a:extLst>
              <a:ext uri="{FF2B5EF4-FFF2-40B4-BE49-F238E27FC236}">
                <a16:creationId xmlns:a16="http://schemas.microsoft.com/office/drawing/2014/main" id="{AB9424ED-2827-786D-3524-20A42EFF91EA}"/>
              </a:ext>
            </a:extLst>
          </p:cNvPr>
          <p:cNvGraphicFramePr>
            <a:graphicFrameLocks noGrp="1"/>
          </p:cNvGraphicFramePr>
          <p:nvPr>
            <p:extLst>
              <p:ext uri="{D42A27DB-BD31-4B8C-83A1-F6EECF244321}">
                <p14:modId xmlns:p14="http://schemas.microsoft.com/office/powerpoint/2010/main" val="3257194566"/>
              </p:ext>
            </p:extLst>
          </p:nvPr>
        </p:nvGraphicFramePr>
        <p:xfrm>
          <a:off x="1080705" y="3768966"/>
          <a:ext cx="28422518" cy="5973136"/>
        </p:xfrm>
        <a:graphic>
          <a:graphicData uri="http://schemas.openxmlformats.org/drawingml/2006/table">
            <a:tbl>
              <a:tblPr/>
              <a:tblGrid>
                <a:gridCol w="3843227">
                  <a:extLst>
                    <a:ext uri="{9D8B030D-6E8A-4147-A177-3AD203B41FA5}">
                      <a16:colId xmlns:a16="http://schemas.microsoft.com/office/drawing/2014/main" val="2457241876"/>
                    </a:ext>
                  </a:extLst>
                </a:gridCol>
                <a:gridCol w="24579291">
                  <a:extLst>
                    <a:ext uri="{9D8B030D-6E8A-4147-A177-3AD203B41FA5}">
                      <a16:colId xmlns:a16="http://schemas.microsoft.com/office/drawing/2014/main" val="1264617306"/>
                    </a:ext>
                  </a:extLst>
                </a:gridCol>
              </a:tblGrid>
              <a:tr h="2986568">
                <a:tc>
                  <a:txBody>
                    <a:bodyPr/>
                    <a:lstStyle/>
                    <a:p>
                      <a:pPr marL="0" algn="l" defTabSz="2322330" rtl="0" eaLnBrk="1" latinLnBrk="0" hangingPunct="1"/>
                      <a:r>
                        <a:rPr lang="en-US" sz="4000" b="1" i="0" kern="1200" dirty="0">
                          <a:solidFill>
                            <a:schemeClr val="tx1"/>
                          </a:solidFill>
                          <a:latin typeface="Aptos Display"/>
                          <a:ea typeface="Calibri"/>
                          <a:cs typeface="Calibri"/>
                        </a:rPr>
                        <a:t>Deliverables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0" indent="-571500">
                        <a:spcBef>
                          <a:spcPts val="600"/>
                        </a:spcBef>
                        <a:spcAft>
                          <a:spcPts val="600"/>
                        </a:spcAft>
                        <a:buFont typeface="Wingdings" panose="05000000000000000000" pitchFamily="2" charset="2"/>
                        <a:buChar char="§"/>
                      </a:pPr>
                      <a:r>
                        <a:rPr lang="en-US" sz="3200" b="0" i="0" kern="1200" dirty="0">
                          <a:solidFill>
                            <a:schemeClr val="tx1"/>
                          </a:solidFill>
                          <a:latin typeface="Roboto"/>
                          <a:ea typeface="Roboto"/>
                          <a:cs typeface="Roboto"/>
                        </a:rPr>
                        <a:t>Edge AI box</a:t>
                      </a:r>
                    </a:p>
                    <a:p>
                      <a:pPr marL="571500" indent="-571500">
                        <a:spcBef>
                          <a:spcPts val="600"/>
                        </a:spcBef>
                        <a:spcAft>
                          <a:spcPts val="600"/>
                        </a:spcAft>
                        <a:buFont typeface="Wingdings" panose="05000000000000000000" pitchFamily="2" charset="2"/>
                        <a:buChar char="§"/>
                      </a:pPr>
                      <a:r>
                        <a:rPr lang="en-US" sz="3200" b="0" i="0" kern="1200" dirty="0">
                          <a:solidFill>
                            <a:schemeClr val="tx1"/>
                          </a:solidFill>
                          <a:highlight>
                            <a:srgbClr val="FFFF00"/>
                          </a:highlight>
                          <a:latin typeface="Roboto"/>
                          <a:ea typeface="Roboto"/>
                          <a:cs typeface="Roboto"/>
                        </a:rPr>
                        <a:t>Customer technical documents (Drawings + Manual)</a:t>
                      </a:r>
                    </a:p>
                    <a:p>
                      <a:pPr marL="571500" indent="-571500">
                        <a:spcBef>
                          <a:spcPts val="600"/>
                        </a:spcBef>
                        <a:spcAft>
                          <a:spcPts val="600"/>
                        </a:spcAft>
                        <a:buFont typeface="Wingdings" panose="05000000000000000000" pitchFamily="2" charset="2"/>
                        <a:buChar char="§"/>
                      </a:pPr>
                      <a:r>
                        <a:rPr lang="en-US" sz="3200" b="0" i="0" kern="1200" dirty="0">
                          <a:solidFill>
                            <a:schemeClr val="tx1"/>
                          </a:solidFill>
                          <a:latin typeface="Roboto"/>
                          <a:ea typeface="Roboto"/>
                          <a:cs typeface="Roboto"/>
                        </a:rPr>
                        <a:t>Service update AI model for 12 months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933890"/>
                  </a:ext>
                </a:extLst>
              </a:tr>
              <a:tr h="2986568">
                <a:tc>
                  <a:txBody>
                    <a:bodyPr/>
                    <a:lstStyle/>
                    <a:p>
                      <a:pPr marL="0" algn="l" defTabSz="2322330" rtl="0" eaLnBrk="1" latinLnBrk="0" hangingPunct="1"/>
                      <a:r>
                        <a:rPr lang="en-US" sz="4000" b="1" i="0" kern="1200" dirty="0">
                          <a:solidFill>
                            <a:schemeClr val="tx1"/>
                          </a:solidFill>
                          <a:latin typeface="Aptos Display"/>
                          <a:ea typeface="Calibri"/>
                          <a:cs typeface="Calibri"/>
                        </a:rPr>
                        <a:t>Nitto Denko’s </a:t>
                      </a:r>
                      <a:r>
                        <a:rPr lang="en-US" sz="4000" b="1" i="0" kern="1200" dirty="0" err="1">
                          <a:solidFill>
                            <a:schemeClr val="tx1"/>
                          </a:solidFill>
                          <a:latin typeface="Aptos Display"/>
                          <a:ea typeface="Calibri"/>
                          <a:cs typeface="Calibri"/>
                        </a:rPr>
                        <a:t>resonsibility</a:t>
                      </a:r>
                      <a:endParaRPr lang="en-US" sz="4000" b="1" i="0" kern="1200" dirty="0">
                        <a:solidFill>
                          <a:schemeClr val="tx1"/>
                        </a:solidFill>
                        <a:latin typeface="Aptos Display"/>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0" indent="-571500">
                        <a:spcBef>
                          <a:spcPts val="600"/>
                        </a:spcBef>
                        <a:spcAft>
                          <a:spcPts val="600"/>
                        </a:spcAft>
                        <a:buFont typeface="Wingdings" panose="05000000000000000000" pitchFamily="2" charset="2"/>
                        <a:buChar char="§"/>
                      </a:pPr>
                      <a:r>
                        <a:rPr lang="en-US" sz="3200" b="0" i="0" kern="1200" dirty="0">
                          <a:solidFill>
                            <a:schemeClr val="tx1"/>
                          </a:solidFill>
                          <a:latin typeface="Roboto"/>
                          <a:ea typeface="Roboto"/>
                          <a:cs typeface="Roboto"/>
                        </a:rPr>
                        <a:t>Provide real data input from Nito Denko Manufacturing for specific Use Cases AI model training</a:t>
                      </a:r>
                    </a:p>
                    <a:p>
                      <a:pPr marL="571500" marR="0" lvl="0" indent="-571500" algn="l" defTabSz="232233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lang="en-US" sz="3200" b="0" i="0" kern="1200" dirty="0">
                          <a:solidFill>
                            <a:schemeClr val="tx1"/>
                          </a:solidFill>
                          <a:latin typeface="Roboto"/>
                          <a:ea typeface="Roboto"/>
                          <a:cs typeface="Roboto"/>
                        </a:rPr>
                        <a:t>Provide Digital </a:t>
                      </a:r>
                      <a:r>
                        <a:rPr lang="en-US" sz="3200" b="0" i="0" kern="1200" dirty="0" err="1">
                          <a:solidFill>
                            <a:schemeClr val="tx1"/>
                          </a:solidFill>
                          <a:latin typeface="Roboto"/>
                          <a:ea typeface="Roboto"/>
                          <a:cs typeface="Roboto"/>
                        </a:rPr>
                        <a:t>WatchDog</a:t>
                      </a:r>
                      <a:r>
                        <a:rPr lang="en-US" sz="3200" b="0" i="0" kern="1200" dirty="0">
                          <a:solidFill>
                            <a:schemeClr val="tx1"/>
                          </a:solidFill>
                          <a:latin typeface="Roboto"/>
                          <a:ea typeface="Roboto"/>
                          <a:cs typeface="Roboto"/>
                        </a:rPr>
                        <a:t> API &amp; SDK documentation for CMS integration</a:t>
                      </a:r>
                    </a:p>
                    <a:p>
                      <a:pPr marL="571500" lvl="0" indent="-571500">
                        <a:spcBef>
                          <a:spcPts val="600"/>
                        </a:spcBef>
                        <a:spcAft>
                          <a:spcPts val="600"/>
                        </a:spcAft>
                        <a:buFont typeface="Wingdings" panose="05000000000000000000" pitchFamily="2" charset="2"/>
                        <a:buChar char="§"/>
                      </a:pPr>
                      <a:r>
                        <a:rPr lang="en-US" sz="3200" b="0" i="0" kern="1200" dirty="0">
                          <a:solidFill>
                            <a:schemeClr val="tx1"/>
                          </a:solidFill>
                          <a:latin typeface="Roboto"/>
                          <a:ea typeface="Roboto"/>
                          <a:cs typeface="Roboto"/>
                        </a:rPr>
                        <a:t>Support to confirm data labelling (if needed)</a:t>
                      </a:r>
                    </a:p>
                    <a:p>
                      <a:pPr marL="571500" indent="-571500">
                        <a:spcBef>
                          <a:spcPts val="600"/>
                        </a:spcBef>
                        <a:spcAft>
                          <a:spcPts val="600"/>
                        </a:spcAft>
                        <a:buFont typeface="Wingdings" panose="05000000000000000000" pitchFamily="2" charset="2"/>
                        <a:buChar char="§"/>
                      </a:pPr>
                      <a:r>
                        <a:rPr lang="en-US" sz="3200" b="0" i="0" kern="1200" dirty="0">
                          <a:solidFill>
                            <a:schemeClr val="tx1"/>
                          </a:solidFill>
                          <a:latin typeface="Roboto"/>
                          <a:ea typeface="Roboto"/>
                          <a:cs typeface="Roboto"/>
                        </a:rPr>
                        <a:t>Support infrastructure, space &amp; facility during the time </a:t>
                      </a:r>
                      <a:r>
                        <a:rPr lang="en-US" sz="3200" b="0" i="0" kern="1200" dirty="0" err="1">
                          <a:solidFill>
                            <a:schemeClr val="tx1"/>
                          </a:solidFill>
                          <a:latin typeface="Roboto"/>
                          <a:ea typeface="Roboto"/>
                          <a:cs typeface="Roboto"/>
                        </a:rPr>
                        <a:t>Vietsol</a:t>
                      </a:r>
                      <a:r>
                        <a:rPr lang="en-US" sz="3200" b="0" i="0" kern="1200" dirty="0">
                          <a:solidFill>
                            <a:schemeClr val="tx1"/>
                          </a:solidFill>
                          <a:latin typeface="Roboto"/>
                          <a:ea typeface="Roboto"/>
                          <a:cs typeface="Roboto"/>
                        </a:rPr>
                        <a:t> perform Edge Box installation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3324033"/>
                  </a:ext>
                </a:extLst>
              </a:tr>
            </a:tbl>
          </a:graphicData>
        </a:graphic>
      </p:graphicFrame>
      <p:sp>
        <p:nvSpPr>
          <p:cNvPr id="2" name="Date Placeholder 6">
            <a:extLst>
              <a:ext uri="{FF2B5EF4-FFF2-40B4-BE49-F238E27FC236}">
                <a16:creationId xmlns:a16="http://schemas.microsoft.com/office/drawing/2014/main" id="{8F1F8716-5543-46AA-A682-885AB4EAE36F}"/>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6D3F2FB-93C4-4C8C-88BC-FAB5532D93EE}"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Google Shape;361;g2cd193ef60f_0_3317">
            <a:extLst>
              <a:ext uri="{FF2B5EF4-FFF2-40B4-BE49-F238E27FC236}">
                <a16:creationId xmlns:a16="http://schemas.microsoft.com/office/drawing/2014/main" id="{1F1134F5-8203-B0B5-F748-C35E87702C0B}"/>
              </a:ext>
            </a:extLst>
          </p:cNvPr>
          <p:cNvSpPr txBox="1"/>
          <p:nvPr/>
        </p:nvSpPr>
        <p:spPr>
          <a:xfrm>
            <a:off x="1713243" y="1571378"/>
            <a:ext cx="24195812" cy="163121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r>
              <a:rPr lang="en-US" sz="5800" b="1" dirty="0">
                <a:solidFill>
                  <a:srgbClr val="292929"/>
                </a:solidFill>
                <a:latin typeface="Roboto"/>
                <a:ea typeface="Roboto"/>
                <a:cs typeface="Roboto"/>
                <a:sym typeface="Roboto"/>
              </a:rPr>
              <a:t>VIETSOL EDGE BOX SOLUTION</a:t>
            </a:r>
          </a:p>
          <a:p>
            <a:pPr defTabSz="3096707"/>
            <a:r>
              <a:rPr lang="en-US" sz="4800" b="1" dirty="0">
                <a:solidFill>
                  <a:srgbClr val="292929"/>
                </a:solidFill>
                <a:latin typeface="Roboto"/>
                <a:ea typeface="Roboto"/>
                <a:cs typeface="Roboto"/>
                <a:sym typeface="Roboto"/>
              </a:rPr>
              <a:t>Scope of Deliverables</a:t>
            </a:r>
          </a:p>
        </p:txBody>
      </p:sp>
    </p:spTree>
    <p:extLst>
      <p:ext uri="{BB962C8B-B14F-4D97-AF65-F5344CB8AC3E}">
        <p14:creationId xmlns:p14="http://schemas.microsoft.com/office/powerpoint/2010/main" val="2643947494"/>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4D024FDF-1F3A-6FB4-A58E-CB0E3AF9EC68}"/>
            </a:ext>
          </a:extLst>
        </p:cNvPr>
        <p:cNvGrpSpPr/>
        <p:nvPr/>
      </p:nvGrpSpPr>
      <p:grpSpPr>
        <a:xfrm>
          <a:off x="0" y="0"/>
          <a:ext cx="0" cy="0"/>
          <a:chOff x="0" y="0"/>
          <a:chExt cx="0" cy="0"/>
        </a:xfrm>
      </p:grpSpPr>
      <p:grpSp>
        <p:nvGrpSpPr>
          <p:cNvPr id="298" name="Google Shape;298;p50">
            <a:extLst>
              <a:ext uri="{FF2B5EF4-FFF2-40B4-BE49-F238E27FC236}">
                <a16:creationId xmlns:a16="http://schemas.microsoft.com/office/drawing/2014/main" id="{D8FB95C3-812F-8016-9EDB-64170499EF0E}"/>
              </a:ext>
            </a:extLst>
          </p:cNvPr>
          <p:cNvGrpSpPr/>
          <p:nvPr/>
        </p:nvGrpSpPr>
        <p:grpSpPr>
          <a:xfrm>
            <a:off x="-1" y="3413799"/>
            <a:ext cx="1244165" cy="1592130"/>
            <a:chOff x="0" y="-38100"/>
            <a:chExt cx="812800" cy="850900"/>
          </a:xfrm>
        </p:grpSpPr>
        <p:sp>
          <p:nvSpPr>
            <p:cNvPr id="299" name="Google Shape;299;p50">
              <a:extLst>
                <a:ext uri="{FF2B5EF4-FFF2-40B4-BE49-F238E27FC236}">
                  <a16:creationId xmlns:a16="http://schemas.microsoft.com/office/drawing/2014/main" id="{90262291-EBD5-80D7-7E90-8783E1C3D618}"/>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BC1823"/>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4741"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50">
              <a:extLst>
                <a:ext uri="{FF2B5EF4-FFF2-40B4-BE49-F238E27FC236}">
                  <a16:creationId xmlns:a16="http://schemas.microsoft.com/office/drawing/2014/main" id="{EA8707AE-66B7-E732-E8A7-EFFD74511555}"/>
                </a:ext>
              </a:extLst>
            </p:cNvPr>
            <p:cNvSpPr txBox="1"/>
            <p:nvPr/>
          </p:nvSpPr>
          <p:spPr>
            <a:xfrm>
              <a:off x="0" y="-38100"/>
              <a:ext cx="812700" cy="850800"/>
            </a:xfrm>
            <a:prstGeom prst="rect">
              <a:avLst/>
            </a:prstGeom>
            <a:noFill/>
            <a:ln>
              <a:noFill/>
            </a:ln>
          </p:spPr>
          <p:txBody>
            <a:bodyPr spcFirstLastPara="1" wrap="square" lIns="86020" tIns="86020" rIns="86020" bIns="86020" anchor="ctr" anchorCtr="0">
              <a:noAutofit/>
            </a:bodyPr>
            <a:lstStyle/>
            <a:p>
              <a:pPr marL="0" marR="0" lvl="0" indent="0" algn="ctr" defTabSz="914400" rtl="0" eaLnBrk="1" fontAlgn="auto" latinLnBrk="0" hangingPunct="1">
                <a:lnSpc>
                  <a:spcPct val="124444"/>
                </a:lnSpc>
                <a:spcBef>
                  <a:spcPts val="0"/>
                </a:spcBef>
                <a:spcAft>
                  <a:spcPts val="0"/>
                </a:spcAft>
                <a:buClr>
                  <a:srgbClr val="000000"/>
                </a:buClr>
                <a:buSzTx/>
                <a:buFont typeface="Arial"/>
                <a:buNone/>
                <a:tabLst/>
                <a:defRPr/>
              </a:pPr>
              <a:endParaRPr kumimoji="0" sz="3048"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 name="Footer Placeholder 14">
            <a:extLst>
              <a:ext uri="{FF2B5EF4-FFF2-40B4-BE49-F238E27FC236}">
                <a16:creationId xmlns:a16="http://schemas.microsoft.com/office/drawing/2014/main" id="{A8A041E9-4E0C-3545-01EC-5263112CE521}"/>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19" name="Slide Number Placeholder 18">
            <a:extLst>
              <a:ext uri="{FF2B5EF4-FFF2-40B4-BE49-F238E27FC236}">
                <a16:creationId xmlns:a16="http://schemas.microsoft.com/office/drawing/2014/main" id="{E139AC81-2003-B52B-664E-8DE22621F022}"/>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11</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pic>
        <p:nvPicPr>
          <p:cNvPr id="21" name="Google Shape;583;p55">
            <a:extLst>
              <a:ext uri="{FF2B5EF4-FFF2-40B4-BE49-F238E27FC236}">
                <a16:creationId xmlns:a16="http://schemas.microsoft.com/office/drawing/2014/main" id="{97A69AEA-D809-477D-6B96-691BED5E22DB}"/>
              </a:ext>
            </a:extLst>
          </p:cNvPr>
          <p:cNvPicPr preferRelativeResize="0"/>
          <p:nvPr/>
        </p:nvPicPr>
        <p:blipFill rotWithShape="1">
          <a:blip r:embed="rId3">
            <a:alphaModFix/>
          </a:blip>
          <a:srcRect l="11530" t="41230" r="11653" b="40863"/>
          <a:stretch/>
        </p:blipFill>
        <p:spPr>
          <a:xfrm>
            <a:off x="1712850" y="672781"/>
            <a:ext cx="3003556" cy="700101"/>
          </a:xfrm>
          <a:prstGeom prst="rect">
            <a:avLst/>
          </a:prstGeom>
          <a:noFill/>
          <a:ln>
            <a:noFill/>
          </a:ln>
        </p:spPr>
      </p:pic>
      <p:sp>
        <p:nvSpPr>
          <p:cNvPr id="6" name="Date Placeholder 6">
            <a:extLst>
              <a:ext uri="{FF2B5EF4-FFF2-40B4-BE49-F238E27FC236}">
                <a16:creationId xmlns:a16="http://schemas.microsoft.com/office/drawing/2014/main" id="{3333FD4A-4C69-DE57-F356-833E5455FD4A}"/>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EBFB2F6-82EC-4D04-9A4D-DB4FA8ED24EC}"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Google Shape;302;p50">
            <a:extLst>
              <a:ext uri="{FF2B5EF4-FFF2-40B4-BE49-F238E27FC236}">
                <a16:creationId xmlns:a16="http://schemas.microsoft.com/office/drawing/2014/main" id="{53680129-1456-584C-C4A9-5714579C7B82}"/>
              </a:ext>
            </a:extLst>
          </p:cNvPr>
          <p:cNvSpPr txBox="1"/>
          <p:nvPr/>
        </p:nvSpPr>
        <p:spPr>
          <a:xfrm>
            <a:off x="13022330" y="4407401"/>
            <a:ext cx="14892393" cy="7386638"/>
          </a:xfrm>
          <a:prstGeom prst="rect">
            <a:avLst/>
          </a:prstGeom>
          <a:noFill/>
          <a:ln>
            <a:noFill/>
          </a:ln>
        </p:spPr>
        <p:txBody>
          <a:bodyPr spcFirstLastPara="1" wrap="square" lIns="0" tIns="0" rIns="0" bIns="0" anchor="t" anchorCtr="0">
            <a:spAutoFit/>
          </a:bodyPr>
          <a:lstStyle/>
          <a:p>
            <a:pPr algn="just">
              <a:lnSpc>
                <a:spcPct val="200000"/>
              </a:lnSpc>
              <a:defRPr/>
            </a:pPr>
            <a:r>
              <a:rPr lang="en-US" sz="4800" dirty="0">
                <a:solidFill>
                  <a:srgbClr val="292929"/>
                </a:solidFill>
                <a:latin typeface="Roboto"/>
                <a:ea typeface="Roboto"/>
                <a:cs typeface="Roboto"/>
                <a:sym typeface="Calibri"/>
              </a:rPr>
              <a:t>SYSTEM REQUIREMENT</a:t>
            </a:r>
          </a:p>
          <a:p>
            <a:pPr algn="just">
              <a:lnSpc>
                <a:spcPct val="200000"/>
              </a:lnSpc>
              <a:defRPr/>
            </a:pPr>
            <a:r>
              <a:rPr lang="en-US" sz="4800" dirty="0">
                <a:solidFill>
                  <a:srgbClr val="292929"/>
                </a:solidFill>
                <a:latin typeface="Roboto"/>
                <a:ea typeface="Roboto"/>
                <a:cs typeface="Roboto"/>
                <a:sym typeface="Calibri"/>
              </a:rPr>
              <a:t>EDGE AI BOX SOLUTION</a:t>
            </a:r>
          </a:p>
          <a:p>
            <a:pPr algn="just">
              <a:lnSpc>
                <a:spcPct val="200000"/>
              </a:lnSpc>
              <a:defRPr/>
            </a:pPr>
            <a:r>
              <a:rPr lang="en-US" sz="4800" dirty="0">
                <a:solidFill>
                  <a:schemeClr val="tx1"/>
                </a:solidFill>
                <a:latin typeface="Roboto"/>
                <a:ea typeface="Roboto"/>
                <a:cs typeface="Roboto"/>
                <a:sym typeface="Calibri"/>
              </a:rPr>
              <a:t>SOLUTION SYSTEM ARCHITECT</a:t>
            </a:r>
          </a:p>
          <a:p>
            <a:pPr algn="just">
              <a:lnSpc>
                <a:spcPct val="200000"/>
              </a:lnSpc>
              <a:defRPr/>
            </a:pPr>
            <a:r>
              <a:rPr lang="en-US" sz="4800" b="1" dirty="0">
                <a:solidFill>
                  <a:srgbClr val="0070C0"/>
                </a:solidFill>
                <a:latin typeface="Roboto"/>
                <a:ea typeface="Roboto"/>
                <a:cs typeface="Roboto"/>
                <a:sym typeface="Calibri"/>
              </a:rPr>
              <a:t>PROJECT TIMELINE</a:t>
            </a:r>
          </a:p>
          <a:p>
            <a:pPr algn="just">
              <a:lnSpc>
                <a:spcPct val="200000"/>
              </a:lnSpc>
              <a:defRPr/>
            </a:pPr>
            <a:r>
              <a:rPr lang="en-US" sz="4800" dirty="0">
                <a:solidFill>
                  <a:srgbClr val="292929"/>
                </a:solidFill>
                <a:latin typeface="Roboto"/>
                <a:ea typeface="Roboto"/>
                <a:cs typeface="Roboto"/>
                <a:sym typeface="Calibri"/>
              </a:rPr>
              <a:t>COMMERCIAL</a:t>
            </a:r>
            <a:endParaRPr kumimoji="0" lang="en-US" sz="4800" b="0" i="0" u="none" strike="noStrike" kern="0" cap="none" spc="0" normalizeH="0" baseline="0" noProof="0" dirty="0">
              <a:ln>
                <a:noFill/>
              </a:ln>
              <a:solidFill>
                <a:srgbClr val="292929"/>
              </a:solidFill>
              <a:effectLst/>
              <a:uLnTx/>
              <a:uFillTx/>
              <a:latin typeface="Roboto"/>
              <a:ea typeface="Roboto"/>
              <a:cs typeface="Roboto"/>
              <a:sym typeface="Calibri"/>
            </a:endParaRPr>
          </a:p>
        </p:txBody>
      </p:sp>
      <p:pic>
        <p:nvPicPr>
          <p:cNvPr id="3" name="Picture 2" descr="Smart City Surveillance System Modern Security Camera Providing Advanced  Surveillance Network Connectivity Data Protection Stock Illustration -  Illustration of privacy, wireless: 360303284">
            <a:extLst>
              <a:ext uri="{FF2B5EF4-FFF2-40B4-BE49-F238E27FC236}">
                <a16:creationId xmlns:a16="http://schemas.microsoft.com/office/drawing/2014/main" id="{2F6683AE-A0E2-659C-45AE-905E442D2F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505" y="4709213"/>
            <a:ext cx="10874214" cy="7084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635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2">
          <a:extLst>
            <a:ext uri="{FF2B5EF4-FFF2-40B4-BE49-F238E27FC236}">
              <a16:creationId xmlns:a16="http://schemas.microsoft.com/office/drawing/2014/main" id="{5009B5C2-8467-BBB3-D98C-813840A28754}"/>
            </a:ext>
          </a:extLst>
        </p:cNvPr>
        <p:cNvGrpSpPr/>
        <p:nvPr/>
      </p:nvGrpSpPr>
      <p:grpSpPr>
        <a:xfrm>
          <a:off x="0" y="0"/>
          <a:ext cx="0" cy="0"/>
          <a:chOff x="0" y="0"/>
          <a:chExt cx="0" cy="0"/>
        </a:xfrm>
      </p:grpSpPr>
      <p:grpSp>
        <p:nvGrpSpPr>
          <p:cNvPr id="358" name="Google Shape;358;g2cd193ef60f_0_3317">
            <a:extLst>
              <a:ext uri="{FF2B5EF4-FFF2-40B4-BE49-F238E27FC236}">
                <a16:creationId xmlns:a16="http://schemas.microsoft.com/office/drawing/2014/main" id="{C285333E-B7A7-426D-D90C-8E8148732D53}"/>
              </a:ext>
            </a:extLst>
          </p:cNvPr>
          <p:cNvGrpSpPr/>
          <p:nvPr/>
        </p:nvGrpSpPr>
        <p:grpSpPr>
          <a:xfrm>
            <a:off x="440" y="-1"/>
            <a:ext cx="1006480" cy="2464683"/>
            <a:chOff x="0" y="-38100"/>
            <a:chExt cx="426000" cy="1071320"/>
          </a:xfrm>
        </p:grpSpPr>
        <p:sp>
          <p:nvSpPr>
            <p:cNvPr id="359" name="Google Shape;359;g2cd193ef60f_0_3317">
              <a:extLst>
                <a:ext uri="{FF2B5EF4-FFF2-40B4-BE49-F238E27FC236}">
                  <a16:creationId xmlns:a16="http://schemas.microsoft.com/office/drawing/2014/main" id="{EFCADADF-DE37-8935-E5DD-843044479394}"/>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kern="0"/>
            </a:p>
          </p:txBody>
        </p:sp>
        <p:sp>
          <p:nvSpPr>
            <p:cNvPr id="360" name="Google Shape;360;g2cd193ef60f_0_3317">
              <a:extLst>
                <a:ext uri="{FF2B5EF4-FFF2-40B4-BE49-F238E27FC236}">
                  <a16:creationId xmlns:a16="http://schemas.microsoft.com/office/drawing/2014/main" id="{BBF38DE2-361A-6CBB-9A92-183F11860584}"/>
                </a:ext>
              </a:extLst>
            </p:cNvPr>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kern="0">
                <a:latin typeface="Calibri"/>
                <a:ea typeface="Calibri"/>
                <a:cs typeface="Calibri"/>
                <a:sym typeface="Calibri"/>
              </a:endParaRPr>
            </a:p>
          </p:txBody>
        </p:sp>
      </p:grpSp>
      <p:sp>
        <p:nvSpPr>
          <p:cNvPr id="361" name="Google Shape;361;g2cd193ef60f_0_3317">
            <a:extLst>
              <a:ext uri="{FF2B5EF4-FFF2-40B4-BE49-F238E27FC236}">
                <a16:creationId xmlns:a16="http://schemas.microsoft.com/office/drawing/2014/main" id="{7CC39A67-713E-0146-C330-7293B1757DF9}"/>
              </a:ext>
            </a:extLst>
          </p:cNvPr>
          <p:cNvSpPr txBox="1"/>
          <p:nvPr/>
        </p:nvSpPr>
        <p:spPr>
          <a:xfrm>
            <a:off x="1713244" y="1372884"/>
            <a:ext cx="24195812" cy="89255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r>
              <a:rPr lang="en-US" sz="5800" b="1">
                <a:solidFill>
                  <a:srgbClr val="292929"/>
                </a:solidFill>
                <a:latin typeface="Roboto"/>
                <a:ea typeface="Roboto"/>
                <a:cs typeface="Roboto"/>
                <a:sym typeface="Roboto"/>
              </a:rPr>
              <a:t>THỜI GIAN DỰ ÁN </a:t>
            </a:r>
          </a:p>
        </p:txBody>
      </p:sp>
      <p:pic>
        <p:nvPicPr>
          <p:cNvPr id="362" name="Google Shape;362;g2cd193ef60f_0_3317">
            <a:extLst>
              <a:ext uri="{FF2B5EF4-FFF2-40B4-BE49-F238E27FC236}">
                <a16:creationId xmlns:a16="http://schemas.microsoft.com/office/drawing/2014/main" id="{69FA655E-8854-ACBE-903C-0D3B0DCD694D}"/>
              </a:ext>
            </a:extLst>
          </p:cNvPr>
          <p:cNvPicPr preferRelativeResize="0"/>
          <p:nvPr/>
        </p:nvPicPr>
        <p:blipFill rotWithShape="1">
          <a:blip r:embed="rId3">
            <a:alphaModFix/>
          </a:blip>
          <a:srcRect l="11530" t="41230" r="11653" b="40863"/>
          <a:stretch/>
        </p:blipFill>
        <p:spPr>
          <a:xfrm>
            <a:off x="1713244" y="672779"/>
            <a:ext cx="3003465" cy="700105"/>
          </a:xfrm>
          <a:prstGeom prst="rect">
            <a:avLst/>
          </a:prstGeom>
          <a:noFill/>
          <a:ln>
            <a:noFill/>
          </a:ln>
        </p:spPr>
      </p:pic>
      <p:sp>
        <p:nvSpPr>
          <p:cNvPr id="5" name="Footer Placeholder 4">
            <a:extLst>
              <a:ext uri="{FF2B5EF4-FFF2-40B4-BE49-F238E27FC236}">
                <a16:creationId xmlns:a16="http://schemas.microsoft.com/office/drawing/2014/main" id="{EEA048F3-262C-F0CD-C563-6DB9DD52505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6" name="Slide Number Placeholder 5">
            <a:extLst>
              <a:ext uri="{FF2B5EF4-FFF2-40B4-BE49-F238E27FC236}">
                <a16:creationId xmlns:a16="http://schemas.microsoft.com/office/drawing/2014/main" id="{D21243B8-8F3A-1626-2857-DD7363BA80C2}"/>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12</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12" name="Date Placeholder 6">
            <a:extLst>
              <a:ext uri="{FF2B5EF4-FFF2-40B4-BE49-F238E27FC236}">
                <a16:creationId xmlns:a16="http://schemas.microsoft.com/office/drawing/2014/main" id="{AE245DD4-3498-A5C6-C5A0-3E2BFAB79B9B}"/>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B074913-EDC8-4225-86F0-28C26754E9A9}"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Rectangle 1">
            <a:extLst>
              <a:ext uri="{FF2B5EF4-FFF2-40B4-BE49-F238E27FC236}">
                <a16:creationId xmlns:a16="http://schemas.microsoft.com/office/drawing/2014/main" id="{BC099997-B87A-1DE9-1876-D8125E3DFBD0}"/>
              </a:ext>
            </a:extLst>
          </p:cNvPr>
          <p:cNvSpPr>
            <a:spLocks noChangeArrowheads="1"/>
          </p:cNvSpPr>
          <p:nvPr/>
        </p:nvSpPr>
        <p:spPr bwMode="auto">
          <a:xfrm>
            <a:off x="2128837" y="3228029"/>
            <a:ext cx="309673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1908094D-C305-A26A-6E1B-59E04E0D782D}"/>
              </a:ext>
            </a:extLst>
          </p:cNvPr>
          <p:cNvPicPr>
            <a:picLocks noChangeAspect="1"/>
          </p:cNvPicPr>
          <p:nvPr/>
        </p:nvPicPr>
        <p:blipFill>
          <a:blip r:embed="rId4"/>
          <a:stretch>
            <a:fillRect/>
          </a:stretch>
        </p:blipFill>
        <p:spPr>
          <a:xfrm>
            <a:off x="1334530" y="4064231"/>
            <a:ext cx="28577762" cy="7328697"/>
          </a:xfrm>
          <a:prstGeom prst="rect">
            <a:avLst/>
          </a:prstGeom>
        </p:spPr>
      </p:pic>
      <p:sp>
        <p:nvSpPr>
          <p:cNvPr id="7" name="Rectangle 6">
            <a:extLst>
              <a:ext uri="{FF2B5EF4-FFF2-40B4-BE49-F238E27FC236}">
                <a16:creationId xmlns:a16="http://schemas.microsoft.com/office/drawing/2014/main" id="{B2A02A80-FC4A-256E-8105-E6232A04B700}"/>
              </a:ext>
            </a:extLst>
          </p:cNvPr>
          <p:cNvSpPr/>
          <p:nvPr/>
        </p:nvSpPr>
        <p:spPr>
          <a:xfrm>
            <a:off x="1334530" y="13074490"/>
            <a:ext cx="28577762" cy="18893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latin typeface="Roboto" panose="02000000000000000000" pitchFamily="2" charset="0"/>
                <a:ea typeface="Roboto" panose="02000000000000000000" pitchFamily="2" charset="0"/>
                <a:cs typeface="Roboto" panose="02000000000000000000" pitchFamily="2" charset="0"/>
              </a:rPr>
              <a:t>In case the official project kick off happens in Apr. 2026, the </a:t>
            </a:r>
            <a:r>
              <a:rPr lang="en-US" sz="4000" dirty="0" err="1">
                <a:latin typeface="Roboto" panose="02000000000000000000" pitchFamily="2" charset="0"/>
                <a:ea typeface="Roboto" panose="02000000000000000000" pitchFamily="2" charset="0"/>
                <a:cs typeface="Roboto" panose="02000000000000000000" pitchFamily="2" charset="0"/>
              </a:rPr>
              <a:t>Vietsol</a:t>
            </a:r>
            <a:r>
              <a:rPr lang="en-US" sz="4000" dirty="0">
                <a:latin typeface="Roboto" panose="02000000000000000000" pitchFamily="2" charset="0"/>
                <a:ea typeface="Roboto" panose="02000000000000000000" pitchFamily="2" charset="0"/>
                <a:cs typeface="Roboto" panose="02000000000000000000" pitchFamily="2" charset="0"/>
              </a:rPr>
              <a:t> Edge AI box to be installed at Nitto Denko new manufacturing from Aug.2026</a:t>
            </a:r>
          </a:p>
        </p:txBody>
      </p:sp>
    </p:spTree>
    <p:extLst>
      <p:ext uri="{BB962C8B-B14F-4D97-AF65-F5344CB8AC3E}">
        <p14:creationId xmlns:p14="http://schemas.microsoft.com/office/powerpoint/2010/main" val="3262951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F507B155-890B-3F7A-FBF6-7795EE10F021}"/>
            </a:ext>
          </a:extLst>
        </p:cNvPr>
        <p:cNvGrpSpPr/>
        <p:nvPr/>
      </p:nvGrpSpPr>
      <p:grpSpPr>
        <a:xfrm>
          <a:off x="0" y="0"/>
          <a:ext cx="0" cy="0"/>
          <a:chOff x="0" y="0"/>
          <a:chExt cx="0" cy="0"/>
        </a:xfrm>
      </p:grpSpPr>
      <p:grpSp>
        <p:nvGrpSpPr>
          <p:cNvPr id="298" name="Google Shape;298;p50">
            <a:extLst>
              <a:ext uri="{FF2B5EF4-FFF2-40B4-BE49-F238E27FC236}">
                <a16:creationId xmlns:a16="http://schemas.microsoft.com/office/drawing/2014/main" id="{27282CCE-EAF9-0B24-4387-4C0E3B29ECFE}"/>
              </a:ext>
            </a:extLst>
          </p:cNvPr>
          <p:cNvGrpSpPr/>
          <p:nvPr/>
        </p:nvGrpSpPr>
        <p:grpSpPr>
          <a:xfrm>
            <a:off x="-1" y="3413799"/>
            <a:ext cx="1244165" cy="1592130"/>
            <a:chOff x="0" y="-38100"/>
            <a:chExt cx="812800" cy="850900"/>
          </a:xfrm>
        </p:grpSpPr>
        <p:sp>
          <p:nvSpPr>
            <p:cNvPr id="299" name="Google Shape;299;p50">
              <a:extLst>
                <a:ext uri="{FF2B5EF4-FFF2-40B4-BE49-F238E27FC236}">
                  <a16:creationId xmlns:a16="http://schemas.microsoft.com/office/drawing/2014/main" id="{BB407522-1F6F-507B-26E2-E984D94612E4}"/>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BC1823"/>
            </a:solidFill>
            <a:ln>
              <a:no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4741"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50">
              <a:extLst>
                <a:ext uri="{FF2B5EF4-FFF2-40B4-BE49-F238E27FC236}">
                  <a16:creationId xmlns:a16="http://schemas.microsoft.com/office/drawing/2014/main" id="{03722757-AFEC-490F-B916-A64067D7F842}"/>
                </a:ext>
              </a:extLst>
            </p:cNvPr>
            <p:cNvSpPr txBox="1"/>
            <p:nvPr/>
          </p:nvSpPr>
          <p:spPr>
            <a:xfrm>
              <a:off x="0" y="-38100"/>
              <a:ext cx="812700" cy="850800"/>
            </a:xfrm>
            <a:prstGeom prst="rect">
              <a:avLst/>
            </a:prstGeom>
            <a:noFill/>
            <a:ln>
              <a:noFill/>
            </a:ln>
          </p:spPr>
          <p:txBody>
            <a:bodyPr spcFirstLastPara="1" wrap="square" lIns="86020" tIns="86020" rIns="86020" bIns="86020" anchor="ctr" anchorCtr="0">
              <a:noAutofit/>
            </a:bodyPr>
            <a:lstStyle/>
            <a:p>
              <a:pPr marL="0" marR="0" lvl="0" indent="0" algn="ctr" defTabSz="914400" rtl="0" eaLnBrk="1" fontAlgn="auto" latinLnBrk="0" hangingPunct="1">
                <a:lnSpc>
                  <a:spcPct val="124444"/>
                </a:lnSpc>
                <a:spcBef>
                  <a:spcPts val="0"/>
                </a:spcBef>
                <a:spcAft>
                  <a:spcPts val="0"/>
                </a:spcAft>
                <a:buClr>
                  <a:srgbClr val="000000"/>
                </a:buClr>
                <a:buSzTx/>
                <a:buFont typeface="Arial"/>
                <a:buNone/>
                <a:tabLst/>
                <a:defRPr/>
              </a:pPr>
              <a:endParaRPr kumimoji="0" sz="3048"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15" name="Footer Placeholder 14">
            <a:extLst>
              <a:ext uri="{FF2B5EF4-FFF2-40B4-BE49-F238E27FC236}">
                <a16:creationId xmlns:a16="http://schemas.microsoft.com/office/drawing/2014/main" id="{28E23317-F003-EE72-2B35-1130D41B382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19" name="Slide Number Placeholder 18">
            <a:extLst>
              <a:ext uri="{FF2B5EF4-FFF2-40B4-BE49-F238E27FC236}">
                <a16:creationId xmlns:a16="http://schemas.microsoft.com/office/drawing/2014/main" id="{91E22B9E-A1EE-338C-4342-0E87A3C9B7B2}"/>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13</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pic>
        <p:nvPicPr>
          <p:cNvPr id="21" name="Google Shape;583;p55">
            <a:extLst>
              <a:ext uri="{FF2B5EF4-FFF2-40B4-BE49-F238E27FC236}">
                <a16:creationId xmlns:a16="http://schemas.microsoft.com/office/drawing/2014/main" id="{377D4CD8-3456-9DB7-F6FB-322FCEDC004D}"/>
              </a:ext>
            </a:extLst>
          </p:cNvPr>
          <p:cNvPicPr preferRelativeResize="0"/>
          <p:nvPr/>
        </p:nvPicPr>
        <p:blipFill rotWithShape="1">
          <a:blip r:embed="rId3">
            <a:alphaModFix/>
          </a:blip>
          <a:srcRect l="11530" t="41230" r="11653" b="40863"/>
          <a:stretch/>
        </p:blipFill>
        <p:spPr>
          <a:xfrm>
            <a:off x="1712850" y="672781"/>
            <a:ext cx="3003556" cy="700101"/>
          </a:xfrm>
          <a:prstGeom prst="rect">
            <a:avLst/>
          </a:prstGeom>
          <a:noFill/>
          <a:ln>
            <a:noFill/>
          </a:ln>
        </p:spPr>
      </p:pic>
      <p:sp>
        <p:nvSpPr>
          <p:cNvPr id="6" name="Date Placeholder 6">
            <a:extLst>
              <a:ext uri="{FF2B5EF4-FFF2-40B4-BE49-F238E27FC236}">
                <a16:creationId xmlns:a16="http://schemas.microsoft.com/office/drawing/2014/main" id="{BA9BA01D-B56C-7597-4F12-C5F48774F184}"/>
              </a:ext>
            </a:extLst>
          </p:cNvPr>
          <p:cNvSpPr>
            <a:spLocks noGrp="1"/>
          </p:cNvSpPr>
          <p:nvPr>
            <p:ph type="dt" sz="half" idx="2"/>
          </p:nvPr>
        </p:nvSpPr>
        <p:spPr>
          <a:xfrm>
            <a:off x="204956" y="16606684"/>
            <a:ext cx="6967657" cy="927434"/>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EBFB2F6-82EC-4D04-9A4D-DB4FA8ED24EC}"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Google Shape;302;p50">
            <a:extLst>
              <a:ext uri="{FF2B5EF4-FFF2-40B4-BE49-F238E27FC236}">
                <a16:creationId xmlns:a16="http://schemas.microsoft.com/office/drawing/2014/main" id="{3D63FE18-FF94-1E7C-69DD-A37E0BC62A07}"/>
              </a:ext>
            </a:extLst>
          </p:cNvPr>
          <p:cNvSpPr txBox="1"/>
          <p:nvPr/>
        </p:nvSpPr>
        <p:spPr>
          <a:xfrm>
            <a:off x="12678816" y="4429046"/>
            <a:ext cx="14892393" cy="7386638"/>
          </a:xfrm>
          <a:prstGeom prst="rect">
            <a:avLst/>
          </a:prstGeom>
          <a:noFill/>
          <a:ln>
            <a:noFill/>
          </a:ln>
        </p:spPr>
        <p:txBody>
          <a:bodyPr spcFirstLastPara="1" wrap="square" lIns="0" tIns="0" rIns="0" bIns="0" anchor="t" anchorCtr="0">
            <a:spAutoFit/>
          </a:bodyPr>
          <a:lstStyle/>
          <a:p>
            <a:pPr algn="just">
              <a:lnSpc>
                <a:spcPct val="200000"/>
              </a:lnSpc>
              <a:defRPr/>
            </a:pPr>
            <a:r>
              <a:rPr lang="en-US" sz="4800" dirty="0">
                <a:solidFill>
                  <a:srgbClr val="292929"/>
                </a:solidFill>
                <a:latin typeface="Roboto"/>
                <a:ea typeface="Roboto"/>
                <a:cs typeface="Roboto"/>
                <a:sym typeface="Calibri"/>
              </a:rPr>
              <a:t>SYSTEM REQUIREMENT</a:t>
            </a:r>
          </a:p>
          <a:p>
            <a:pPr algn="just">
              <a:lnSpc>
                <a:spcPct val="200000"/>
              </a:lnSpc>
              <a:defRPr/>
            </a:pPr>
            <a:r>
              <a:rPr lang="en-US" sz="4800" dirty="0">
                <a:solidFill>
                  <a:srgbClr val="292929"/>
                </a:solidFill>
                <a:latin typeface="Roboto"/>
                <a:ea typeface="Roboto"/>
                <a:cs typeface="Roboto"/>
                <a:sym typeface="Calibri"/>
              </a:rPr>
              <a:t>EDGE AI BOX SOLUTION</a:t>
            </a:r>
          </a:p>
          <a:p>
            <a:pPr algn="just">
              <a:lnSpc>
                <a:spcPct val="200000"/>
              </a:lnSpc>
              <a:defRPr/>
            </a:pPr>
            <a:r>
              <a:rPr lang="en-US" sz="4800" dirty="0">
                <a:solidFill>
                  <a:schemeClr val="tx1"/>
                </a:solidFill>
                <a:latin typeface="Roboto"/>
                <a:ea typeface="Roboto"/>
                <a:cs typeface="Roboto"/>
                <a:sym typeface="Calibri"/>
              </a:rPr>
              <a:t>SOLUTION SYSTEM ARCHITECT</a:t>
            </a:r>
          </a:p>
          <a:p>
            <a:pPr algn="just">
              <a:lnSpc>
                <a:spcPct val="200000"/>
              </a:lnSpc>
              <a:defRPr/>
            </a:pPr>
            <a:r>
              <a:rPr lang="en-US" sz="4800" dirty="0">
                <a:solidFill>
                  <a:schemeClr val="tx1"/>
                </a:solidFill>
                <a:latin typeface="Roboto"/>
                <a:ea typeface="Roboto"/>
                <a:cs typeface="Roboto"/>
                <a:sym typeface="Calibri"/>
              </a:rPr>
              <a:t>PROJECT TIMELINE</a:t>
            </a:r>
          </a:p>
          <a:p>
            <a:pPr algn="just">
              <a:lnSpc>
                <a:spcPct val="200000"/>
              </a:lnSpc>
              <a:defRPr/>
            </a:pPr>
            <a:r>
              <a:rPr lang="en-US" sz="4800" b="1" dirty="0">
                <a:solidFill>
                  <a:srgbClr val="0070C0"/>
                </a:solidFill>
                <a:latin typeface="Roboto"/>
                <a:ea typeface="Roboto"/>
                <a:cs typeface="Roboto"/>
                <a:sym typeface="Calibri"/>
              </a:rPr>
              <a:t>COMMERCIAL</a:t>
            </a:r>
          </a:p>
        </p:txBody>
      </p:sp>
      <p:pic>
        <p:nvPicPr>
          <p:cNvPr id="3" name="Picture 2" descr="Smart City Surveillance System Modern Security Camera Providing Advanced  Surveillance Network Connectivity Data Protection Stock Illustration -  Illustration of privacy, wireless: 360303284">
            <a:extLst>
              <a:ext uri="{FF2B5EF4-FFF2-40B4-BE49-F238E27FC236}">
                <a16:creationId xmlns:a16="http://schemas.microsoft.com/office/drawing/2014/main" id="{03359AC4-D127-0FCA-0DC9-95EE48EA97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6078" y="4579952"/>
            <a:ext cx="10874214" cy="7084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520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8E2AA6-5DC9-0F85-B148-3077F56AD840}"/>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14</a:t>
            </a:fld>
            <a:r>
              <a:rPr lang="en-US">
                <a:solidFill>
                  <a:prstClr val="black">
                    <a:tint val="75000"/>
                  </a:prstClr>
                </a:solidFill>
              </a:rPr>
              <a:t>/8</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3" name="Date Placeholder 2">
            <a:extLst>
              <a:ext uri="{FF2B5EF4-FFF2-40B4-BE49-F238E27FC236}">
                <a16:creationId xmlns:a16="http://schemas.microsoft.com/office/drawing/2014/main" id="{33E3A58A-29A1-08E0-C10B-17C4273A404D}"/>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EB38A9CF-B366-4E19-8573-EE4CB3E93D21}"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4" name="Footer Placeholder 3">
            <a:extLst>
              <a:ext uri="{FF2B5EF4-FFF2-40B4-BE49-F238E27FC236}">
                <a16:creationId xmlns:a16="http://schemas.microsoft.com/office/drawing/2014/main" id="{DA397787-C8DB-4306-9904-7D3AD558659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grpSp>
        <p:nvGrpSpPr>
          <p:cNvPr id="5" name="Google Shape;358;g2cd193ef60f_0_3317">
            <a:extLst>
              <a:ext uri="{FF2B5EF4-FFF2-40B4-BE49-F238E27FC236}">
                <a16:creationId xmlns:a16="http://schemas.microsoft.com/office/drawing/2014/main" id="{85B11EEE-3195-9B82-042E-BF8625EE25D3}"/>
              </a:ext>
            </a:extLst>
          </p:cNvPr>
          <p:cNvGrpSpPr/>
          <p:nvPr/>
        </p:nvGrpSpPr>
        <p:grpSpPr>
          <a:xfrm>
            <a:off x="440" y="2225"/>
            <a:ext cx="1006480" cy="2462458"/>
            <a:chOff x="0" y="-38100"/>
            <a:chExt cx="426000" cy="1071320"/>
          </a:xfrm>
        </p:grpSpPr>
        <p:sp>
          <p:nvSpPr>
            <p:cNvPr id="6" name="Google Shape;359;g2cd193ef60f_0_3317">
              <a:extLst>
                <a:ext uri="{FF2B5EF4-FFF2-40B4-BE49-F238E27FC236}">
                  <a16:creationId xmlns:a16="http://schemas.microsoft.com/office/drawing/2014/main" id="{B88D5ADC-DF68-108D-5384-563D293F075D}"/>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kern="0"/>
            </a:p>
          </p:txBody>
        </p:sp>
        <p:sp>
          <p:nvSpPr>
            <p:cNvPr id="7" name="Google Shape;360;g2cd193ef60f_0_3317">
              <a:extLst>
                <a:ext uri="{FF2B5EF4-FFF2-40B4-BE49-F238E27FC236}">
                  <a16:creationId xmlns:a16="http://schemas.microsoft.com/office/drawing/2014/main" id="{B537A441-E36A-DA39-1D60-95ED655CB647}"/>
                </a:ext>
              </a:extLst>
            </p:cNvPr>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kern="0">
                <a:latin typeface="Calibri"/>
                <a:ea typeface="Calibri"/>
                <a:cs typeface="Calibri"/>
                <a:sym typeface="Calibri"/>
              </a:endParaRPr>
            </a:p>
          </p:txBody>
        </p:sp>
      </p:grpSp>
      <p:sp>
        <p:nvSpPr>
          <p:cNvPr id="8" name="Google Shape;361;g2cd193ef60f_0_3317">
            <a:extLst>
              <a:ext uri="{FF2B5EF4-FFF2-40B4-BE49-F238E27FC236}">
                <a16:creationId xmlns:a16="http://schemas.microsoft.com/office/drawing/2014/main" id="{1C923587-D095-EF8B-636C-4EE21631591E}"/>
              </a:ext>
            </a:extLst>
          </p:cNvPr>
          <p:cNvSpPr txBox="1"/>
          <p:nvPr/>
        </p:nvSpPr>
        <p:spPr>
          <a:xfrm>
            <a:off x="1713243" y="1571378"/>
            <a:ext cx="24195812" cy="89255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r>
              <a:rPr lang="en-US" sz="5800" b="1" dirty="0">
                <a:solidFill>
                  <a:srgbClr val="292929"/>
                </a:solidFill>
                <a:latin typeface="Roboto"/>
                <a:ea typeface="Roboto"/>
                <a:cs typeface="Roboto"/>
                <a:sym typeface="Roboto"/>
              </a:rPr>
              <a:t>COMMERCIAL</a:t>
            </a:r>
            <a:endParaRPr lang="en-US" dirty="0"/>
          </a:p>
        </p:txBody>
      </p:sp>
      <p:pic>
        <p:nvPicPr>
          <p:cNvPr id="9" name="Google Shape;362;g2cd193ef60f_0_3317">
            <a:extLst>
              <a:ext uri="{FF2B5EF4-FFF2-40B4-BE49-F238E27FC236}">
                <a16:creationId xmlns:a16="http://schemas.microsoft.com/office/drawing/2014/main" id="{1D04A6BE-8B3D-D84F-655B-C2A2569C061E}"/>
              </a:ext>
            </a:extLst>
          </p:cNvPr>
          <p:cNvPicPr preferRelativeResize="0"/>
          <p:nvPr/>
        </p:nvPicPr>
        <p:blipFill rotWithShape="1">
          <a:blip r:embed="rId2">
            <a:alphaModFix/>
          </a:blip>
          <a:srcRect l="11530" t="41230" r="11653" b="40863"/>
          <a:stretch/>
        </p:blipFill>
        <p:spPr>
          <a:xfrm>
            <a:off x="1713244" y="672779"/>
            <a:ext cx="3003465" cy="700105"/>
          </a:xfrm>
          <a:prstGeom prst="rect">
            <a:avLst/>
          </a:prstGeom>
          <a:noFill/>
          <a:ln>
            <a:noFill/>
          </a:ln>
        </p:spPr>
      </p:pic>
      <p:sp>
        <p:nvSpPr>
          <p:cNvPr id="11" name="Rectangle 1">
            <a:extLst>
              <a:ext uri="{FF2B5EF4-FFF2-40B4-BE49-F238E27FC236}">
                <a16:creationId xmlns:a16="http://schemas.microsoft.com/office/drawing/2014/main" id="{79A25515-F9AD-6417-981E-7ECB6744656B}"/>
              </a:ext>
            </a:extLst>
          </p:cNvPr>
          <p:cNvSpPr>
            <a:spLocks noChangeArrowheads="1"/>
          </p:cNvSpPr>
          <p:nvPr/>
        </p:nvSpPr>
        <p:spPr bwMode="auto">
          <a:xfrm>
            <a:off x="1418967" y="3669228"/>
            <a:ext cx="309673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69DB2387-C4E7-1CFB-0F63-7D4D7FEE1A0B}"/>
              </a:ext>
            </a:extLst>
          </p:cNvPr>
          <p:cNvSpPr>
            <a:spLocks noChangeArrowheads="1"/>
          </p:cNvSpPr>
          <p:nvPr/>
        </p:nvSpPr>
        <p:spPr bwMode="auto">
          <a:xfrm>
            <a:off x="2135402" y="10292009"/>
            <a:ext cx="309673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9">
            <a:extLst>
              <a:ext uri="{FF2B5EF4-FFF2-40B4-BE49-F238E27FC236}">
                <a16:creationId xmlns:a16="http://schemas.microsoft.com/office/drawing/2014/main" id="{86206983-4C7E-BF82-D5EC-97824A2A4076}"/>
              </a:ext>
            </a:extLst>
          </p:cNvPr>
          <p:cNvSpPr/>
          <p:nvPr/>
        </p:nvSpPr>
        <p:spPr>
          <a:xfrm>
            <a:off x="11392930" y="7127629"/>
            <a:ext cx="9832645" cy="1482809"/>
          </a:xfrm>
          <a:prstGeom prst="rect">
            <a:avLst/>
          </a:prstGeom>
          <a:noFill/>
          <a:ln>
            <a:solidFill>
              <a:srgbClr val="A91E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tx1">
                    <a:lumMod val="95000"/>
                    <a:lumOff val="5000"/>
                  </a:schemeClr>
                </a:solidFill>
              </a:rPr>
              <a:t>Input provided</a:t>
            </a:r>
          </a:p>
        </p:txBody>
      </p:sp>
    </p:spTree>
    <p:extLst>
      <p:ext uri="{BB962C8B-B14F-4D97-AF65-F5344CB8AC3E}">
        <p14:creationId xmlns:p14="http://schemas.microsoft.com/office/powerpoint/2010/main" val="3530262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2">
          <a:extLst>
            <a:ext uri="{FF2B5EF4-FFF2-40B4-BE49-F238E27FC236}">
              <a16:creationId xmlns:a16="http://schemas.microsoft.com/office/drawing/2014/main" id="{D254F341-7252-A954-B389-958246375595}"/>
            </a:ext>
          </a:extLst>
        </p:cNvPr>
        <p:cNvGrpSpPr/>
        <p:nvPr/>
      </p:nvGrpSpPr>
      <p:grpSpPr>
        <a:xfrm>
          <a:off x="0" y="0"/>
          <a:ext cx="0" cy="0"/>
          <a:chOff x="0" y="0"/>
          <a:chExt cx="0" cy="0"/>
        </a:xfrm>
      </p:grpSpPr>
      <p:grpSp>
        <p:nvGrpSpPr>
          <p:cNvPr id="358" name="Google Shape;358;g2cd193ef60f_0_3317">
            <a:extLst>
              <a:ext uri="{FF2B5EF4-FFF2-40B4-BE49-F238E27FC236}">
                <a16:creationId xmlns:a16="http://schemas.microsoft.com/office/drawing/2014/main" id="{DE7ADD7A-997E-F31C-60C7-AB7EE01EA1F5}"/>
              </a:ext>
            </a:extLst>
          </p:cNvPr>
          <p:cNvGrpSpPr/>
          <p:nvPr/>
        </p:nvGrpSpPr>
        <p:grpSpPr>
          <a:xfrm>
            <a:off x="880" y="0"/>
            <a:ext cx="1006453" cy="2464860"/>
            <a:chOff x="0" y="-38100"/>
            <a:chExt cx="426000" cy="1071320"/>
          </a:xfrm>
        </p:grpSpPr>
        <p:sp>
          <p:nvSpPr>
            <p:cNvPr id="359" name="Google Shape;359;g2cd193ef60f_0_3317">
              <a:extLst>
                <a:ext uri="{FF2B5EF4-FFF2-40B4-BE49-F238E27FC236}">
                  <a16:creationId xmlns:a16="http://schemas.microsoft.com/office/drawing/2014/main" id="{3F63E27D-0966-4DFB-0A32-F8A9FF47AD17}"/>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endParaRPr lang="en-US">
                <a:latin typeface="Arial" panose="020B0604020202020204" pitchFamily="34" charset="0"/>
                <a:cs typeface="Arial" panose="020B0604020202020204" pitchFamily="34" charset="0"/>
              </a:endParaRPr>
            </a:p>
          </p:txBody>
        </p:sp>
        <p:sp>
          <p:nvSpPr>
            <p:cNvPr id="360" name="Google Shape;360;g2cd193ef60f_0_3317">
              <a:extLst>
                <a:ext uri="{FF2B5EF4-FFF2-40B4-BE49-F238E27FC236}">
                  <a16:creationId xmlns:a16="http://schemas.microsoft.com/office/drawing/2014/main" id="{57A49AEF-D14B-F6D9-5D8B-A45A904E4164}"/>
                </a:ext>
              </a:extLst>
            </p:cNvPr>
            <p:cNvSpPr txBox="1"/>
            <p:nvPr/>
          </p:nvSpPr>
          <p:spPr>
            <a:xfrm>
              <a:off x="0" y="-38100"/>
              <a:ext cx="426000" cy="1071300"/>
            </a:xfrm>
            <a:prstGeom prst="rect">
              <a:avLst/>
            </a:prstGeom>
            <a:noFill/>
            <a:ln>
              <a:noFill/>
            </a:ln>
          </p:spPr>
          <p:txBody>
            <a:bodyPr spcFirstLastPara="1" wrap="square" lIns="86020" tIns="86020" rIns="86020" bIns="8602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3096707">
                <a:lnSpc>
                  <a:spcPct val="124444"/>
                </a:lnSpc>
              </a:pPr>
              <a:endParaRPr sz="3001">
                <a:solidFill>
                  <a:prstClr val="black"/>
                </a:solidFill>
                <a:latin typeface="Arial" panose="020B0604020202020204" pitchFamily="34" charset="0"/>
                <a:ea typeface="Calibri"/>
                <a:cs typeface="Arial" panose="020B0604020202020204" pitchFamily="34" charset="0"/>
                <a:sym typeface="Calibri"/>
              </a:endParaRPr>
            </a:p>
          </p:txBody>
        </p:sp>
      </p:grpSp>
      <p:sp>
        <p:nvSpPr>
          <p:cNvPr id="2" name="Google Shape;361;g2cd193ef60f_0_3317">
            <a:extLst>
              <a:ext uri="{FF2B5EF4-FFF2-40B4-BE49-F238E27FC236}">
                <a16:creationId xmlns:a16="http://schemas.microsoft.com/office/drawing/2014/main" id="{26B1C7DB-969D-4752-05C3-08D2FD0DFDCC}"/>
              </a:ext>
            </a:extLst>
          </p:cNvPr>
          <p:cNvSpPr txBox="1"/>
          <p:nvPr/>
        </p:nvSpPr>
        <p:spPr>
          <a:xfrm>
            <a:off x="1541011" y="1554049"/>
            <a:ext cx="13942672" cy="101579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3096707">
              <a:lnSpc>
                <a:spcPct val="110001"/>
              </a:lnSpc>
              <a:buSzPts val="1100"/>
            </a:pPr>
            <a:r>
              <a:rPr lang="en-US" sz="6001" b="1">
                <a:solidFill>
                  <a:srgbClr val="292929"/>
                </a:solidFill>
                <a:latin typeface="Roboto" panose="02000000000000000000" pitchFamily="2" charset="0"/>
                <a:ea typeface="Roboto" panose="02000000000000000000" pitchFamily="2" charset="0"/>
                <a:cs typeface="Roboto" panose="02000000000000000000" pitchFamily="2" charset="0"/>
                <a:sym typeface="Roboto"/>
              </a:rPr>
              <a:t>COMMERCIALS</a:t>
            </a:r>
          </a:p>
        </p:txBody>
      </p:sp>
      <p:pic>
        <p:nvPicPr>
          <p:cNvPr id="3" name="Google Shape;362;g2cd193ef60f_0_3317">
            <a:extLst>
              <a:ext uri="{FF2B5EF4-FFF2-40B4-BE49-F238E27FC236}">
                <a16:creationId xmlns:a16="http://schemas.microsoft.com/office/drawing/2014/main" id="{6586690A-A77A-F827-E5EE-874CE2FF56DA}"/>
              </a:ext>
            </a:extLst>
          </p:cNvPr>
          <p:cNvPicPr preferRelativeResize="0"/>
          <p:nvPr/>
        </p:nvPicPr>
        <p:blipFill rotWithShape="1">
          <a:blip r:embed="rId3">
            <a:alphaModFix/>
          </a:blip>
          <a:srcRect l="11530" t="41230" r="11653" b="40863"/>
          <a:stretch/>
        </p:blipFill>
        <p:spPr>
          <a:xfrm>
            <a:off x="1540814" y="425028"/>
            <a:ext cx="4364959" cy="1015763"/>
          </a:xfrm>
          <a:prstGeom prst="rect">
            <a:avLst/>
          </a:prstGeom>
          <a:noFill/>
          <a:ln>
            <a:noFill/>
          </a:ln>
        </p:spPr>
      </p:pic>
      <p:sp>
        <p:nvSpPr>
          <p:cNvPr id="9" name="TextBox 8">
            <a:extLst>
              <a:ext uri="{FF2B5EF4-FFF2-40B4-BE49-F238E27FC236}">
                <a16:creationId xmlns:a16="http://schemas.microsoft.com/office/drawing/2014/main" id="{0B78E3E2-757D-F964-AA04-A6446B6FAB7B}"/>
              </a:ext>
            </a:extLst>
          </p:cNvPr>
          <p:cNvSpPr txBox="1"/>
          <p:nvPr/>
        </p:nvSpPr>
        <p:spPr>
          <a:xfrm>
            <a:off x="1540812" y="2916027"/>
            <a:ext cx="26530909" cy="8425383"/>
          </a:xfrm>
          <a:prstGeom prst="rect">
            <a:avLst/>
          </a:prstGeom>
          <a:noFill/>
        </p:spPr>
        <p:txBody>
          <a:bodyPr wrap="square">
            <a:spAutoFit/>
          </a:bodyPr>
          <a:lstStyle/>
          <a:p>
            <a:pPr defTabSz="3096707">
              <a:lnSpc>
                <a:spcPct val="150000"/>
              </a:lnSpc>
            </a:pPr>
            <a:r>
              <a:rPr lang="en-US" sz="2801" b="1">
                <a:latin typeface="Roboto" panose="02000000000000000000" pitchFamily="2" charset="0"/>
                <a:ea typeface="Roboto" panose="02000000000000000000" pitchFamily="2" charset="0"/>
                <a:cs typeface="Roboto" panose="02000000000000000000" pitchFamily="2" charset="0"/>
              </a:rPr>
              <a:t>Pricing Standards </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All prices provided in the quotation are net prices in US dollar (USD), </a:t>
            </a:r>
            <a:r>
              <a:rPr lang="en-US" sz="2801" b="1">
                <a:highlight>
                  <a:srgbClr val="FFFF00"/>
                </a:highlight>
                <a:latin typeface="Roboto" panose="02000000000000000000" pitchFamily="2" charset="0"/>
                <a:ea typeface="Roboto" panose="02000000000000000000" pitchFamily="2" charset="0"/>
                <a:cs typeface="Roboto" panose="02000000000000000000" pitchFamily="2" charset="0"/>
              </a:rPr>
              <a:t>NET</a:t>
            </a:r>
            <a:r>
              <a:rPr lang="en-US" sz="2801">
                <a:latin typeface="Roboto" panose="02000000000000000000" pitchFamily="2" charset="0"/>
                <a:ea typeface="Roboto" panose="02000000000000000000" pitchFamily="2" charset="0"/>
                <a:cs typeface="Roboto" panose="02000000000000000000" pitchFamily="2" charset="0"/>
              </a:rPr>
              <a:t> price, excluding any taxes (WHT, VAT,…)</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Work shall begin after the client has confirmed the acceptance of this quotation, the correspondent Purchase Order has been received, and all technical details are clarified.</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Cost was calculated for full project scope. Cost should be revised if Phong Phu selects some parts only.</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Project deviation shall be agreed by Phong Phu and VIETSOL in advance in the agreed form of a Project Variation Request (PVR). Any project deviation shall be agreed between both parties in advance, taking into account timing and costs</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The exchange rate applicable on the actual day of the PO shall be used. </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In the event of the project's premature closure by Phong Phu, all costs will be charged on a pro-rated basis.</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If the project timeline is extended due to unforeseen events or issues from Phong Phu, Vietsol will apply an extension cost based on the actual hours deployed by Vietsol during the extended period. </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Any extra activities cost that is beyond scope if work that agreed in this quotation will be charged separately</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VIETSOL’s General Terms and Conditions will apply to this quotation.</a:t>
            </a:r>
          </a:p>
        </p:txBody>
      </p:sp>
      <p:sp>
        <p:nvSpPr>
          <p:cNvPr id="16" name="TextBox 15">
            <a:extLst>
              <a:ext uri="{FF2B5EF4-FFF2-40B4-BE49-F238E27FC236}">
                <a16:creationId xmlns:a16="http://schemas.microsoft.com/office/drawing/2014/main" id="{251CECE9-093A-3C7C-5D75-599DD841C0AC}"/>
              </a:ext>
            </a:extLst>
          </p:cNvPr>
          <p:cNvSpPr txBox="1"/>
          <p:nvPr/>
        </p:nvSpPr>
        <p:spPr>
          <a:xfrm>
            <a:off x="1540812" y="12724715"/>
            <a:ext cx="23970662" cy="2606676"/>
          </a:xfrm>
          <a:prstGeom prst="rect">
            <a:avLst/>
          </a:prstGeom>
          <a:noFill/>
        </p:spPr>
        <p:txBody>
          <a:bodyPr wrap="square">
            <a:spAutoFit/>
          </a:bodyPr>
          <a:lstStyle/>
          <a:p>
            <a:pPr defTabSz="3096707">
              <a:lnSpc>
                <a:spcPct val="150000"/>
              </a:lnSpc>
            </a:pPr>
            <a:r>
              <a:rPr lang="en-US" sz="2801" b="1">
                <a:latin typeface="Roboto" panose="02000000000000000000" pitchFamily="2" charset="0"/>
                <a:ea typeface="Roboto" panose="02000000000000000000" pitchFamily="2" charset="0"/>
                <a:cs typeface="Roboto" panose="02000000000000000000" pitchFamily="2" charset="0"/>
              </a:rPr>
              <a:t>Payment plan of Development cost: </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The 1</a:t>
            </a:r>
            <a:r>
              <a:rPr lang="en-US" sz="2801" baseline="30000">
                <a:latin typeface="Roboto" panose="02000000000000000000" pitchFamily="2" charset="0"/>
                <a:ea typeface="Roboto" panose="02000000000000000000" pitchFamily="2" charset="0"/>
                <a:cs typeface="Roboto" panose="02000000000000000000" pitchFamily="2" charset="0"/>
              </a:rPr>
              <a:t>st</a:t>
            </a:r>
            <a:r>
              <a:rPr lang="en-US" sz="2801">
                <a:latin typeface="Roboto" panose="02000000000000000000" pitchFamily="2" charset="0"/>
                <a:ea typeface="Roboto" panose="02000000000000000000" pitchFamily="2" charset="0"/>
                <a:cs typeface="Roboto" panose="02000000000000000000" pitchFamily="2" charset="0"/>
              </a:rPr>
              <a:t>  Payment: TT 40% of total price when PO releases</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The 2</a:t>
            </a:r>
            <a:r>
              <a:rPr lang="en-US" sz="2801" baseline="30000">
                <a:latin typeface="Roboto" panose="02000000000000000000" pitchFamily="2" charset="0"/>
                <a:ea typeface="Roboto" panose="02000000000000000000" pitchFamily="2" charset="0"/>
                <a:cs typeface="Roboto" panose="02000000000000000000" pitchFamily="2" charset="0"/>
              </a:rPr>
              <a:t>nd</a:t>
            </a:r>
            <a:r>
              <a:rPr lang="en-US" sz="2801">
                <a:latin typeface="Roboto" panose="02000000000000000000" pitchFamily="2" charset="0"/>
                <a:ea typeface="Roboto" panose="02000000000000000000" pitchFamily="2" charset="0"/>
                <a:cs typeface="Roboto" panose="02000000000000000000" pitchFamily="2" charset="0"/>
              </a:rPr>
              <a:t>  Payment: TT 40% of total price when B sample releases</a:t>
            </a:r>
          </a:p>
          <a:p>
            <a:pPr marL="457228" indent="-457228" defTabSz="3096707">
              <a:lnSpc>
                <a:spcPct val="150000"/>
              </a:lnSpc>
              <a:buFont typeface="Arial" panose="020B0604020202020204" pitchFamily="34" charset="0"/>
              <a:buChar char="•"/>
            </a:pPr>
            <a:r>
              <a:rPr lang="en-US" sz="2801">
                <a:latin typeface="Roboto" panose="02000000000000000000" pitchFamily="2" charset="0"/>
                <a:ea typeface="Roboto" panose="02000000000000000000" pitchFamily="2" charset="0"/>
                <a:cs typeface="Roboto" panose="02000000000000000000" pitchFamily="2" charset="0"/>
              </a:rPr>
              <a:t>The 3</a:t>
            </a:r>
            <a:r>
              <a:rPr lang="en-US" sz="2801" baseline="30000">
                <a:latin typeface="Roboto" panose="02000000000000000000" pitchFamily="2" charset="0"/>
                <a:ea typeface="Roboto" panose="02000000000000000000" pitchFamily="2" charset="0"/>
                <a:cs typeface="Roboto" panose="02000000000000000000" pitchFamily="2" charset="0"/>
              </a:rPr>
              <a:t>rd</a:t>
            </a:r>
            <a:r>
              <a:rPr lang="en-US" sz="2801">
                <a:latin typeface="Roboto" panose="02000000000000000000" pitchFamily="2" charset="0"/>
                <a:ea typeface="Roboto" panose="02000000000000000000" pitchFamily="2" charset="0"/>
                <a:cs typeface="Roboto" panose="02000000000000000000" pitchFamily="2" charset="0"/>
              </a:rPr>
              <a:t>  Payment: TT 20% total price remain after Customer (Phong Phu) Approval milestone </a:t>
            </a:r>
          </a:p>
        </p:txBody>
      </p:sp>
    </p:spTree>
    <p:extLst>
      <p:ext uri="{BB962C8B-B14F-4D97-AF65-F5344CB8AC3E}">
        <p14:creationId xmlns:p14="http://schemas.microsoft.com/office/powerpoint/2010/main" val="882079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grpSp>
        <p:nvGrpSpPr>
          <p:cNvPr id="358" name="Google Shape;358;g2cd193ef60f_0_3317"/>
          <p:cNvGrpSpPr/>
          <p:nvPr/>
        </p:nvGrpSpPr>
        <p:grpSpPr>
          <a:xfrm>
            <a:off x="441" y="-346167"/>
            <a:ext cx="1006480" cy="2810850"/>
            <a:chOff x="0" y="-38100"/>
            <a:chExt cx="426000" cy="1071320"/>
          </a:xfrm>
        </p:grpSpPr>
        <p:sp>
          <p:nvSpPr>
            <p:cNvPr id="359" name="Google Shape;359;g2cd193ef60f_0_3317"/>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defTabSz="914360">
                <a:defRPr/>
              </a:pPr>
              <a:endParaRPr lang="en-DE" sz="412"/>
            </a:p>
          </p:txBody>
        </p:sp>
        <p:sp>
          <p:nvSpPr>
            <p:cNvPr id="360" name="Google Shape;360;g2cd193ef60f_0_3317"/>
            <p:cNvSpPr txBox="1"/>
            <p:nvPr/>
          </p:nvSpPr>
          <p:spPr>
            <a:xfrm>
              <a:off x="0" y="-38100"/>
              <a:ext cx="426000" cy="1071300"/>
            </a:xfrm>
            <a:prstGeom prst="rect">
              <a:avLst/>
            </a:prstGeom>
            <a:noFill/>
            <a:ln>
              <a:noFill/>
            </a:ln>
          </p:spPr>
          <p:txBody>
            <a:bodyPr spcFirstLastPara="1" wrap="square" lIns="86024" tIns="86024" rIns="86024" bIns="8602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13" b="0" i="0" u="none" strike="noStrike" cap="none">
                  <a:solidFill>
                    <a:srgbClr val="000000"/>
                  </a:solidFill>
                  <a:latin typeface="Arial"/>
                  <a:ea typeface="Arial"/>
                  <a:cs typeface="Arial"/>
                  <a:sym typeface="Arial"/>
                </a:defRPr>
              </a:lvl9pPr>
            </a:lstStyle>
            <a:p>
              <a:pPr algn="ctr" defTabSz="914360">
                <a:lnSpc>
                  <a:spcPct val="124444"/>
                </a:lnSpc>
                <a:defRPr/>
              </a:pPr>
              <a:endParaRPr lang="en-DE" sz="3001">
                <a:latin typeface="Calibri"/>
                <a:ea typeface="Calibri"/>
                <a:cs typeface="Calibri"/>
                <a:sym typeface="Calibri"/>
              </a:endParaRPr>
            </a:p>
          </p:txBody>
        </p:sp>
      </p:grpSp>
      <p:sp>
        <p:nvSpPr>
          <p:cNvPr id="361" name="Google Shape;361;g2cd193ef60f_0_3317"/>
          <p:cNvSpPr txBox="1"/>
          <p:nvPr/>
        </p:nvSpPr>
        <p:spPr>
          <a:xfrm>
            <a:off x="1540611" y="1440582"/>
            <a:ext cx="13943070" cy="101604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defTabSz="3096707">
              <a:defRPr sz="5800" b="1">
                <a:solidFill>
                  <a:srgbClr val="292929"/>
                </a:solidFill>
                <a:latin typeface="Roboto"/>
                <a:ea typeface="Roboto"/>
                <a:cs typeface="Roboto"/>
              </a:defRPr>
            </a:lvl1pPr>
            <a:lvl2pPr>
              <a:defRPr sz="413"/>
            </a:lvl2pPr>
            <a:lvl3pPr>
              <a:defRPr sz="413"/>
            </a:lvl3pPr>
            <a:lvl4pPr>
              <a:defRPr sz="413"/>
            </a:lvl4pPr>
            <a:lvl5pPr>
              <a:defRPr sz="413"/>
            </a:lvl5pPr>
            <a:lvl6pPr>
              <a:defRPr sz="413"/>
            </a:lvl6pPr>
            <a:lvl7pPr>
              <a:defRPr sz="413"/>
            </a:lvl7pPr>
            <a:lvl8pPr>
              <a:defRPr sz="413"/>
            </a:lvl8pPr>
            <a:lvl9pPr>
              <a:defRPr sz="413"/>
            </a:lvl9pPr>
          </a:lstStyle>
          <a:p>
            <a:r>
              <a:rPr lang="en-DE">
                <a:sym typeface="Roboto"/>
              </a:rPr>
              <a:t>PRICE AND COMMERCIAL CONDITIONS</a:t>
            </a:r>
          </a:p>
        </p:txBody>
      </p:sp>
      <p:sp>
        <p:nvSpPr>
          <p:cNvPr id="12" name="TextBox 11">
            <a:extLst>
              <a:ext uri="{FF2B5EF4-FFF2-40B4-BE49-F238E27FC236}">
                <a16:creationId xmlns:a16="http://schemas.microsoft.com/office/drawing/2014/main" id="{FE2E3B69-AF7B-B52B-BACE-79A5A0696D68}"/>
              </a:ext>
            </a:extLst>
          </p:cNvPr>
          <p:cNvSpPr txBox="1"/>
          <p:nvPr/>
        </p:nvSpPr>
        <p:spPr>
          <a:xfrm>
            <a:off x="1195158" y="2854945"/>
            <a:ext cx="28577046" cy="12895838"/>
          </a:xfrm>
          <a:prstGeom prst="rect">
            <a:avLst/>
          </a:prstGeom>
          <a:noFill/>
        </p:spPr>
        <p:txBody>
          <a:bodyPr wrap="square" lIns="91439" tIns="45720" rIns="91439" bIns="45720" anchor="t">
            <a:spAutoFit/>
          </a:bodyPr>
          <a:lstStyle/>
          <a:p>
            <a:pPr algn="just" defTabSz="914360">
              <a:defRPr/>
            </a:pPr>
            <a:r>
              <a:rPr lang="en-DE" sz="4000" b="1">
                <a:latin typeface="Roboto" panose="02000000000000000000" pitchFamily="2" charset="0"/>
                <a:ea typeface="Roboto" panose="02000000000000000000" pitchFamily="2" charset="0"/>
                <a:cs typeface="Roboto" panose="02000000000000000000" pitchFamily="2" charset="0"/>
              </a:rPr>
              <a:t>Invoices and Payment Terms </a:t>
            </a:r>
          </a:p>
          <a:p>
            <a:pPr algn="just" defTabSz="914360">
              <a:defRPr/>
            </a:pPr>
            <a:endParaRPr lang="en-DE" sz="3200" b="1">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panose="05000000000000000000" pitchFamily="2" charset="2"/>
              <a:buChar char="v"/>
              <a:defRPr/>
            </a:pPr>
            <a:r>
              <a:rPr lang="en-DE" sz="3200">
                <a:latin typeface="Roboto" panose="02000000000000000000" pitchFamily="2" charset="0"/>
                <a:ea typeface="Roboto" panose="02000000000000000000" pitchFamily="2" charset="0"/>
                <a:cs typeface="Roboto" panose="02000000000000000000" pitchFamily="2" charset="0"/>
              </a:rPr>
              <a:t>Unless there is a dispute in the contents of the invoice Customer shall make payment of the invoice within thirty (30) days from the date of the receipt of invoice. In the event that Customer disputes the invoice provided by Services Provider, Customer shall provide Services Provider reasons for disputing the amount within fifteen (15) days after receipt of applicable invoice. In the foresaid situation Parties shall promptly seek to resolve the dispute by mutual discussion. If no dispute, substantiated in writing, is made by Customer within a period of fifteen (15) days of having received that invoice about any inaccuracy or any defect in the invoice, such invoice shall be deemed to have been accepted as correct by Customer. Any such dispute shall not relieve Customer from paying any undisputed portion of the invoice when due. Any invoice remaining unpaid after the aforesaid period of thirty (30) days shall be treated as a debt owed by Customer to Services Provider and Services Provider shall be, without prejudice to any other remedies that it may have in this regard, entitled to recover it as such with an accrued interest at the interest rate of 15% per annum, which will be charged to and payable by Customer, until the recovery is made in full with interest. Without prejudice to the other rights available, Services Provider also reserves the right to withhold the provision of Services till such time all the payments due to it under this Agreement have been made by Customer and any such withholding by Services Provider shall not be treated as breach by it of the provisions of this Agreement.​</a:t>
            </a:r>
            <a:endParaRPr lang="en-US"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panose="05000000000000000000" pitchFamily="2" charset="2"/>
              <a:buChar char="v"/>
              <a:defRPr/>
            </a:pPr>
            <a:endParaRPr lang="en-DE"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panose="05000000000000000000" pitchFamily="2" charset="2"/>
              <a:buChar char="v"/>
              <a:defRPr/>
            </a:pPr>
            <a:r>
              <a:rPr lang="en-DE" sz="3200">
                <a:latin typeface="Roboto" panose="02000000000000000000" pitchFamily="2" charset="0"/>
                <a:ea typeface="Roboto" panose="02000000000000000000" pitchFamily="2" charset="0"/>
                <a:cs typeface="Roboto" panose="02000000000000000000" pitchFamily="2" charset="0"/>
              </a:rPr>
              <a:t>The right to claim of a higher damage caused by default remains unaffected​</a:t>
            </a:r>
            <a:endParaRPr lang="en-US"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panose="05000000000000000000" pitchFamily="2" charset="2"/>
              <a:buChar char="v"/>
              <a:defRPr/>
            </a:pPr>
            <a:endParaRPr lang="en-DE"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a:buChar char="v"/>
              <a:defRPr/>
            </a:pPr>
            <a:r>
              <a:rPr lang="en-DE" sz="3200">
                <a:latin typeface="Roboto" panose="02000000000000000000" pitchFamily="2" charset="0"/>
                <a:ea typeface="Roboto" panose="02000000000000000000" pitchFamily="2" charset="0"/>
                <a:cs typeface="Roboto" panose="02000000000000000000" pitchFamily="2" charset="0"/>
              </a:rPr>
              <a:t>If a project is cancelled for reasons not attributable to us, we will charge the agreed-upon price up to that point, costs for irrevocable commitments, and appropriate compensation for losses incurred, capped at the agreed project price.</a:t>
            </a:r>
            <a:endParaRPr lang="en-US"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a:buChar char="v"/>
              <a:defRPr/>
            </a:pPr>
            <a:endParaRPr lang="en-DE"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a:buChar char="v"/>
              <a:defRPr/>
            </a:pPr>
            <a:r>
              <a:rPr lang="en-DE" sz="3200">
                <a:latin typeface="Roboto" panose="02000000000000000000" pitchFamily="2" charset="0"/>
                <a:ea typeface="Roboto" panose="02000000000000000000" pitchFamily="2" charset="0"/>
                <a:cs typeface="Roboto" panose="02000000000000000000" pitchFamily="2" charset="0"/>
              </a:rPr>
              <a:t>Our liability is limited to the project price or the remuneration paid at the time of loss and does not extend to incidental or consequential damages. Legal liabilities remain unaffected.</a:t>
            </a:r>
            <a:endParaRPr lang="en-US"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a:buChar char="v"/>
              <a:defRPr/>
            </a:pPr>
            <a:endParaRPr lang="en-DE"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a:buChar char="v"/>
              <a:defRPr/>
            </a:pPr>
            <a:r>
              <a:rPr lang="en-DE" sz="3200">
                <a:latin typeface="Roboto" panose="02000000000000000000" pitchFamily="2" charset="0"/>
                <a:ea typeface="Roboto" panose="02000000000000000000" pitchFamily="2" charset="0"/>
                <a:cs typeface="Roboto" panose="02000000000000000000" pitchFamily="2" charset="0"/>
              </a:rPr>
              <a:t>Legal actions or claims against us are time-barred one year after project acceptance, except where legal time limits apply.</a:t>
            </a:r>
          </a:p>
          <a:p>
            <a:pPr marL="457180" indent="-457180" algn="just" defTabSz="914360">
              <a:buFont typeface="Wingdings" panose="05000000000000000000" pitchFamily="2" charset="2"/>
              <a:buChar char="v"/>
              <a:defRPr/>
            </a:pPr>
            <a:endParaRPr lang="en-DE" sz="3200">
              <a:latin typeface="Roboto" panose="02000000000000000000" pitchFamily="2" charset="0"/>
              <a:ea typeface="Roboto" panose="02000000000000000000" pitchFamily="2" charset="0"/>
              <a:cs typeface="Roboto" panose="02000000000000000000" pitchFamily="2" charset="0"/>
            </a:endParaRPr>
          </a:p>
          <a:p>
            <a:pPr marL="457180" indent="-457180" algn="just" defTabSz="914360">
              <a:buFont typeface="Wingdings" panose="05000000000000000000" pitchFamily="2" charset="2"/>
              <a:buChar char="v"/>
              <a:defRPr/>
            </a:pPr>
            <a:r>
              <a:rPr lang="en-DE" sz="3200">
                <a:latin typeface="Roboto" panose="02000000000000000000" pitchFamily="2" charset="0"/>
                <a:ea typeface="Roboto" panose="02000000000000000000" pitchFamily="2" charset="0"/>
                <a:cs typeface="Roboto" panose="02000000000000000000" pitchFamily="2" charset="0"/>
              </a:rPr>
              <a:t>This offer remains binding for us until </a:t>
            </a:r>
            <a:r>
              <a:rPr lang="en-DE" sz="3200" b="1">
                <a:latin typeface="Roboto" panose="02000000000000000000" pitchFamily="2" charset="0"/>
                <a:ea typeface="Roboto" panose="02000000000000000000" pitchFamily="2" charset="0"/>
                <a:cs typeface="Roboto" panose="02000000000000000000" pitchFamily="2" charset="0"/>
              </a:rPr>
              <a:t>Ju</a:t>
            </a:r>
            <a:r>
              <a:rPr lang="en-US" sz="3200" b="1">
                <a:latin typeface="Roboto" panose="02000000000000000000" pitchFamily="2" charset="0"/>
                <a:ea typeface="Roboto" panose="02000000000000000000" pitchFamily="2" charset="0"/>
                <a:cs typeface="Roboto" panose="02000000000000000000" pitchFamily="2" charset="0"/>
              </a:rPr>
              <a:t>ly</a:t>
            </a:r>
            <a:r>
              <a:rPr lang="en-DE" sz="3200" b="1">
                <a:latin typeface="Roboto" panose="02000000000000000000" pitchFamily="2" charset="0"/>
                <a:ea typeface="Roboto" panose="02000000000000000000" pitchFamily="2" charset="0"/>
                <a:cs typeface="Roboto" panose="02000000000000000000" pitchFamily="2" charset="0"/>
              </a:rPr>
              <a:t> </a:t>
            </a:r>
            <a:r>
              <a:rPr lang="en-US" sz="3200" b="1">
                <a:latin typeface="Roboto" panose="02000000000000000000" pitchFamily="2" charset="0"/>
                <a:ea typeface="Roboto" panose="02000000000000000000" pitchFamily="2" charset="0"/>
                <a:cs typeface="Roboto" panose="02000000000000000000" pitchFamily="2" charset="0"/>
              </a:rPr>
              <a:t>9</a:t>
            </a:r>
            <a:r>
              <a:rPr lang="en-DE" sz="3200" b="1" baseline="30000">
                <a:latin typeface="Roboto" panose="02000000000000000000" pitchFamily="2" charset="0"/>
                <a:ea typeface="Roboto" panose="02000000000000000000" pitchFamily="2" charset="0"/>
                <a:cs typeface="Roboto" panose="02000000000000000000" pitchFamily="2" charset="0"/>
              </a:rPr>
              <a:t>th</a:t>
            </a:r>
            <a:r>
              <a:rPr lang="en-DE" sz="3200" b="1">
                <a:latin typeface="Roboto" panose="02000000000000000000" pitchFamily="2" charset="0"/>
                <a:ea typeface="Roboto" panose="02000000000000000000" pitchFamily="2" charset="0"/>
                <a:cs typeface="Roboto" panose="02000000000000000000" pitchFamily="2" charset="0"/>
              </a:rPr>
              <a:t> , 2025</a:t>
            </a:r>
            <a:r>
              <a:rPr lang="en-DE" sz="3200">
                <a:latin typeface="Roboto" panose="02000000000000000000" pitchFamily="2" charset="0"/>
                <a:ea typeface="Roboto" panose="02000000000000000000" pitchFamily="2" charset="0"/>
                <a:cs typeface="Roboto" panose="02000000000000000000" pitchFamily="2" charset="0"/>
              </a:rPr>
              <a:t>. This validity applies equally to all agreement options mentioned therein. Errors and omission within this offer are excepted.</a:t>
            </a:r>
          </a:p>
        </p:txBody>
      </p:sp>
      <p:sp>
        <p:nvSpPr>
          <p:cNvPr id="6" name="Date Placeholder 5">
            <a:extLst>
              <a:ext uri="{FF2B5EF4-FFF2-40B4-BE49-F238E27FC236}">
                <a16:creationId xmlns:a16="http://schemas.microsoft.com/office/drawing/2014/main" id="{A4AA132F-C996-EE17-7327-FFD0B67DD8E1}"/>
              </a:ext>
            </a:extLst>
          </p:cNvPr>
          <p:cNvSpPr>
            <a:spLocks noGrp="1"/>
          </p:cNvSpPr>
          <p:nvPr>
            <p:ph type="dt" sz="half" idx="2"/>
          </p:nvPr>
        </p:nvSpPr>
        <p:spPr/>
        <p:txBody>
          <a:bodyPr/>
          <a:lstStyle/>
          <a:p>
            <a:pPr lvl="0">
              <a:defRPr/>
            </a:pPr>
            <a:fld id="{D5F5ED4E-26A3-4841-8D02-5C5D03D5A9F6}" type="datetime1">
              <a:rPr lang="en-US" smtClean="0">
                <a:solidFill>
                  <a:prstClr val="black">
                    <a:tint val="75000"/>
                  </a:prstClr>
                </a:solidFill>
              </a:rPr>
              <a:t>3/16/2026</a:t>
            </a:fld>
            <a:endParaRPr lang="en-US">
              <a:solidFill>
                <a:prstClr val="black">
                  <a:tint val="75000"/>
                </a:prstClr>
              </a:solidFill>
            </a:endParaRPr>
          </a:p>
        </p:txBody>
      </p:sp>
      <p:sp>
        <p:nvSpPr>
          <p:cNvPr id="8" name="Slide Number Placeholder 7">
            <a:extLst>
              <a:ext uri="{FF2B5EF4-FFF2-40B4-BE49-F238E27FC236}">
                <a16:creationId xmlns:a16="http://schemas.microsoft.com/office/drawing/2014/main" id="{8C8414F9-F845-4AFC-3C0E-B1A1F2C998A8}"/>
              </a:ext>
            </a:extLst>
          </p:cNvPr>
          <p:cNvSpPr>
            <a:spLocks noGrp="1"/>
          </p:cNvSpPr>
          <p:nvPr>
            <p:ph type="sldNum" sz="quarter" idx="12"/>
          </p:nvPr>
        </p:nvSpPr>
        <p:spPr/>
        <p:txBody>
          <a:bodyPr/>
          <a:lstStyle/>
          <a:p>
            <a:pPr defTabSz="1548286">
              <a:defRPr/>
            </a:pPr>
            <a:fld id="{0AEEFFE0-C694-454D-83EC-E213498930A2}" type="slidenum">
              <a:rPr lang="en-DE">
                <a:solidFill>
                  <a:prstClr val="black">
                    <a:tint val="75000"/>
                  </a:prstClr>
                </a:solidFill>
              </a:rPr>
              <a:pPr defTabSz="1548286">
                <a:defRPr/>
              </a:pPr>
              <a:t>16</a:t>
            </a:fld>
            <a:r>
              <a:rPr lang="en-DE">
                <a:solidFill>
                  <a:prstClr val="black">
                    <a:tint val="75000"/>
                  </a:prstClr>
                </a:solidFill>
              </a:rPr>
              <a:t>/12</a:t>
            </a:r>
          </a:p>
        </p:txBody>
      </p:sp>
      <p:sp>
        <p:nvSpPr>
          <p:cNvPr id="2" name="Footer Placeholder 8">
            <a:extLst>
              <a:ext uri="{FF2B5EF4-FFF2-40B4-BE49-F238E27FC236}">
                <a16:creationId xmlns:a16="http://schemas.microsoft.com/office/drawing/2014/main" id="{ECB63067-99D6-229F-58E9-7F06D4757D2A}"/>
              </a:ext>
            </a:extLst>
          </p:cNvPr>
          <p:cNvSpPr>
            <a:spLocks noGrp="1"/>
          </p:cNvSpPr>
          <p:nvPr>
            <p:ph type="ftr" sz="quarter" idx="3"/>
          </p:nvPr>
        </p:nvSpPr>
        <p:spPr>
          <a:xfrm>
            <a:off x="10257939" y="16609143"/>
            <a:ext cx="10451485" cy="927433"/>
          </a:xfrm>
        </p:spPr>
        <p:txBody>
          <a:bodyPr/>
          <a:lstStyle/>
          <a:p>
            <a:r>
              <a:rPr lang="en-DE" b="1" noProof="0">
                <a:solidFill>
                  <a:srgbClr val="FF0000"/>
                </a:solidFill>
              </a:rPr>
              <a:t>Strictly Confidential</a:t>
            </a:r>
          </a:p>
        </p:txBody>
      </p:sp>
      <p:pic>
        <p:nvPicPr>
          <p:cNvPr id="3" name="Google Shape;362;g2cd193ef60f_0_3317">
            <a:extLst>
              <a:ext uri="{FF2B5EF4-FFF2-40B4-BE49-F238E27FC236}">
                <a16:creationId xmlns:a16="http://schemas.microsoft.com/office/drawing/2014/main" id="{5FDE7A3C-A621-7D62-0FA3-E4920475E6B5}"/>
              </a:ext>
            </a:extLst>
          </p:cNvPr>
          <p:cNvPicPr preferRelativeResize="0"/>
          <p:nvPr/>
        </p:nvPicPr>
        <p:blipFill rotWithShape="1">
          <a:blip r:embed="rId3">
            <a:alphaModFix/>
          </a:blip>
          <a:srcRect l="11530" t="41230" r="11653" b="40863"/>
          <a:stretch/>
        </p:blipFill>
        <p:spPr>
          <a:xfrm>
            <a:off x="1713244" y="672779"/>
            <a:ext cx="3003465" cy="700105"/>
          </a:xfrm>
          <a:prstGeom prst="rect">
            <a:avLst/>
          </a:prstGeom>
          <a:noFill/>
          <a:ln>
            <a:noFill/>
          </a:ln>
        </p:spPr>
      </p:pic>
    </p:spTree>
    <p:extLst>
      <p:ext uri="{BB962C8B-B14F-4D97-AF65-F5344CB8AC3E}">
        <p14:creationId xmlns:p14="http://schemas.microsoft.com/office/powerpoint/2010/main" val="2896141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7CC06397-E5AE-9D72-6782-9C95801FA733}"/>
            </a:ext>
          </a:extLst>
        </p:cNvPr>
        <p:cNvGrpSpPr/>
        <p:nvPr/>
      </p:nvGrpSpPr>
      <p:grpSpPr>
        <a:xfrm>
          <a:off x="0" y="0"/>
          <a:ext cx="0" cy="0"/>
          <a:chOff x="0" y="0"/>
          <a:chExt cx="0" cy="0"/>
        </a:xfrm>
      </p:grpSpPr>
      <p:sp>
        <p:nvSpPr>
          <p:cNvPr id="466" name="Google Shape;466;p11">
            <a:extLst>
              <a:ext uri="{FF2B5EF4-FFF2-40B4-BE49-F238E27FC236}">
                <a16:creationId xmlns:a16="http://schemas.microsoft.com/office/drawing/2014/main" id="{EAF68E1B-408F-2DF2-1409-1B952D2AC664}"/>
              </a:ext>
            </a:extLst>
          </p:cNvPr>
          <p:cNvSpPr/>
          <p:nvPr/>
        </p:nvSpPr>
        <p:spPr>
          <a:xfrm>
            <a:off x="-1" y="249"/>
            <a:ext cx="30967363" cy="17419141"/>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7" b="-92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sp>
        <p:nvSpPr>
          <p:cNvPr id="467" name="Google Shape;467;p11">
            <a:hlinkClick r:id="" action="ppaction://noaction"/>
            <a:extLst>
              <a:ext uri="{FF2B5EF4-FFF2-40B4-BE49-F238E27FC236}">
                <a16:creationId xmlns:a16="http://schemas.microsoft.com/office/drawing/2014/main" id="{44AE6F9E-CB41-B9C6-FCCC-12A7A7471B64}"/>
              </a:ext>
            </a:extLst>
          </p:cNvPr>
          <p:cNvSpPr/>
          <p:nvPr/>
        </p:nvSpPr>
        <p:spPr>
          <a:xfrm rot="-5400000" flipH="1">
            <a:off x="25835626" y="16096091"/>
            <a:ext cx="467782" cy="405217"/>
          </a:xfrm>
          <a:custGeom>
            <a:avLst/>
            <a:gdLst/>
            <a:ahLst/>
            <a:cxnLst/>
            <a:rect l="l" t="t" r="r" b="b"/>
            <a:pathLst>
              <a:path w="276252" h="239304" extrusionOk="0">
                <a:moveTo>
                  <a:pt x="276252" y="0"/>
                </a:moveTo>
                <a:lnTo>
                  <a:pt x="0" y="0"/>
                </a:lnTo>
                <a:lnTo>
                  <a:pt x="0" y="239304"/>
                </a:lnTo>
                <a:lnTo>
                  <a:pt x="276252" y="239304"/>
                </a:lnTo>
                <a:lnTo>
                  <a:pt x="276252"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pic>
        <p:nvPicPr>
          <p:cNvPr id="468" name="Google Shape;468;p11">
            <a:extLst>
              <a:ext uri="{FF2B5EF4-FFF2-40B4-BE49-F238E27FC236}">
                <a16:creationId xmlns:a16="http://schemas.microsoft.com/office/drawing/2014/main" id="{B4AD00C1-1070-96F0-A91D-1E489822CB3E}"/>
              </a:ext>
            </a:extLst>
          </p:cNvPr>
          <p:cNvPicPr preferRelativeResize="0"/>
          <p:nvPr/>
        </p:nvPicPr>
        <p:blipFill rotWithShape="1">
          <a:blip r:embed="rId5">
            <a:alphaModFix/>
          </a:blip>
          <a:srcRect l="28689" t="22508" r="30960" b="13832"/>
          <a:stretch/>
        </p:blipFill>
        <p:spPr>
          <a:xfrm>
            <a:off x="1741916" y="3168363"/>
            <a:ext cx="10736453" cy="11082912"/>
          </a:xfrm>
          <a:prstGeom prst="rect">
            <a:avLst/>
          </a:prstGeom>
          <a:noFill/>
          <a:ln>
            <a:noFill/>
          </a:ln>
        </p:spPr>
      </p:pic>
      <p:sp>
        <p:nvSpPr>
          <p:cNvPr id="469" name="Google Shape;469;p11">
            <a:extLst>
              <a:ext uri="{FF2B5EF4-FFF2-40B4-BE49-F238E27FC236}">
                <a16:creationId xmlns:a16="http://schemas.microsoft.com/office/drawing/2014/main" id="{E0304DFB-D676-AA43-9335-178A1C2C103E}"/>
              </a:ext>
            </a:extLst>
          </p:cNvPr>
          <p:cNvSpPr txBox="1"/>
          <p:nvPr/>
        </p:nvSpPr>
        <p:spPr>
          <a:xfrm>
            <a:off x="26530187" y="16069409"/>
            <a:ext cx="2028900" cy="583686"/>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Font typeface="Arial"/>
              <a:buNone/>
            </a:pPr>
            <a:r>
              <a:rPr lang="en-US" sz="2709">
                <a:solidFill>
                  <a:srgbClr val="FAFAFA"/>
                </a:solidFill>
                <a:latin typeface="DM Sans"/>
                <a:ea typeface="DM Sans"/>
                <a:cs typeface="DM Sans"/>
                <a:sym typeface="DM Sans"/>
              </a:rPr>
              <a:t>END</a:t>
            </a:r>
            <a:endParaRPr sz="4741" b="0" i="0" u="none" strike="noStrike" cap="none">
              <a:solidFill>
                <a:srgbClr val="000000"/>
              </a:solidFill>
              <a:latin typeface="Arial"/>
              <a:ea typeface="Arial"/>
              <a:cs typeface="Arial"/>
              <a:sym typeface="Arial"/>
            </a:endParaRPr>
          </a:p>
        </p:txBody>
      </p:sp>
      <p:sp>
        <p:nvSpPr>
          <p:cNvPr id="470" name="Google Shape;470;p11">
            <a:extLst>
              <a:ext uri="{FF2B5EF4-FFF2-40B4-BE49-F238E27FC236}">
                <a16:creationId xmlns:a16="http://schemas.microsoft.com/office/drawing/2014/main" id="{B42AA533-D170-F2D0-AC4D-42B5DC5E55E7}"/>
              </a:ext>
            </a:extLst>
          </p:cNvPr>
          <p:cNvSpPr txBox="1"/>
          <p:nvPr/>
        </p:nvSpPr>
        <p:spPr>
          <a:xfrm>
            <a:off x="14832940" y="8118745"/>
            <a:ext cx="14392508" cy="72975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387" b="0" i="0" u="none" strike="noStrike" cap="none">
                <a:solidFill>
                  <a:srgbClr val="FFFFFF"/>
                </a:solidFill>
                <a:latin typeface="Calibri"/>
                <a:ea typeface="Calibri"/>
                <a:cs typeface="Calibri"/>
                <a:sym typeface="Calibri"/>
              </a:rPr>
              <a:t>5th Floor, </a:t>
            </a:r>
            <a:r>
              <a:rPr lang="en-US" sz="3387" b="0" i="0" u="none" strike="noStrike" cap="none" err="1">
                <a:solidFill>
                  <a:srgbClr val="FFFFFF"/>
                </a:solidFill>
                <a:latin typeface="Calibri"/>
                <a:ea typeface="Calibri"/>
                <a:cs typeface="Calibri"/>
                <a:sym typeface="Calibri"/>
              </a:rPr>
              <a:t>Everygolf</a:t>
            </a:r>
            <a:r>
              <a:rPr lang="en-US" sz="3387" b="0" i="0" u="none" strike="noStrike" cap="none">
                <a:solidFill>
                  <a:srgbClr val="FFFFFF"/>
                </a:solidFill>
                <a:latin typeface="Calibri"/>
                <a:ea typeface="Calibri"/>
                <a:cs typeface="Calibri"/>
                <a:sym typeface="Calibri"/>
              </a:rPr>
              <a:t> Building, 63 Co Linh, Thach Ban, Long Bien, Ha Noi, Vietnam</a:t>
            </a:r>
            <a:endParaRPr sz="3387" b="0" i="0" u="none" strike="noStrike" cap="none">
              <a:solidFill>
                <a:srgbClr val="FFFFFF"/>
              </a:solidFill>
              <a:latin typeface="Calibri"/>
              <a:ea typeface="Calibri"/>
              <a:cs typeface="Calibri"/>
              <a:sym typeface="Calibri"/>
            </a:endParaRPr>
          </a:p>
        </p:txBody>
      </p:sp>
      <p:sp>
        <p:nvSpPr>
          <p:cNvPr id="471" name="Google Shape;471;p11">
            <a:extLst>
              <a:ext uri="{FF2B5EF4-FFF2-40B4-BE49-F238E27FC236}">
                <a16:creationId xmlns:a16="http://schemas.microsoft.com/office/drawing/2014/main" id="{24F9F15F-BCF8-99AC-ABCC-0E1879FF10C7}"/>
              </a:ext>
            </a:extLst>
          </p:cNvPr>
          <p:cNvSpPr txBox="1"/>
          <p:nvPr/>
        </p:nvSpPr>
        <p:spPr>
          <a:xfrm>
            <a:off x="14832940" y="9122333"/>
            <a:ext cx="14392508" cy="72975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387" b="0" i="0" u="none" strike="noStrike" cap="none">
                <a:solidFill>
                  <a:srgbClr val="FFFFFF"/>
                </a:solidFill>
                <a:latin typeface="Calibri"/>
                <a:ea typeface="Calibri"/>
                <a:cs typeface="Calibri"/>
                <a:sym typeface="Calibri"/>
              </a:rPr>
              <a:t> (+84) 888 255 522</a:t>
            </a:r>
            <a:endParaRPr sz="3387" b="0" i="0" u="none" strike="noStrike" cap="none">
              <a:solidFill>
                <a:srgbClr val="FFFFFF"/>
              </a:solidFill>
              <a:latin typeface="Calibri"/>
              <a:ea typeface="Calibri"/>
              <a:cs typeface="Calibri"/>
              <a:sym typeface="Calibri"/>
            </a:endParaRPr>
          </a:p>
        </p:txBody>
      </p:sp>
      <p:sp>
        <p:nvSpPr>
          <p:cNvPr id="472" name="Google Shape;472;p11">
            <a:extLst>
              <a:ext uri="{FF2B5EF4-FFF2-40B4-BE49-F238E27FC236}">
                <a16:creationId xmlns:a16="http://schemas.microsoft.com/office/drawing/2014/main" id="{53A07395-2A2B-455A-A07E-0CC2D44A982B}"/>
              </a:ext>
            </a:extLst>
          </p:cNvPr>
          <p:cNvSpPr txBox="1"/>
          <p:nvPr/>
        </p:nvSpPr>
        <p:spPr>
          <a:xfrm>
            <a:off x="14832940" y="10181314"/>
            <a:ext cx="14392508" cy="72975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387" b="0" i="0" u="none" strike="noStrike" cap="none">
                <a:solidFill>
                  <a:srgbClr val="FFFFFF"/>
                </a:solidFill>
                <a:latin typeface="Calibri"/>
                <a:ea typeface="Calibri"/>
                <a:cs typeface="Calibri"/>
                <a:sym typeface="Calibri"/>
              </a:rPr>
              <a:t>www.vietsol.com.vn</a:t>
            </a:r>
            <a:endParaRPr sz="2371" b="0" i="0" u="none" strike="noStrike" cap="none">
              <a:solidFill>
                <a:srgbClr val="000000"/>
              </a:solidFill>
              <a:latin typeface="Calibri"/>
              <a:ea typeface="Calibri"/>
              <a:cs typeface="Calibri"/>
              <a:sym typeface="Calibri"/>
            </a:endParaRPr>
          </a:p>
        </p:txBody>
      </p:sp>
      <p:grpSp>
        <p:nvGrpSpPr>
          <p:cNvPr id="473" name="Google Shape;473;p11">
            <a:extLst>
              <a:ext uri="{FF2B5EF4-FFF2-40B4-BE49-F238E27FC236}">
                <a16:creationId xmlns:a16="http://schemas.microsoft.com/office/drawing/2014/main" id="{2749A819-4700-CFC4-A9CA-F2261495A8C1}"/>
              </a:ext>
            </a:extLst>
          </p:cNvPr>
          <p:cNvGrpSpPr/>
          <p:nvPr/>
        </p:nvGrpSpPr>
        <p:grpSpPr>
          <a:xfrm>
            <a:off x="30170508" y="4352575"/>
            <a:ext cx="796949" cy="2004561"/>
            <a:chOff x="0" y="-38100"/>
            <a:chExt cx="426000" cy="1071320"/>
          </a:xfrm>
        </p:grpSpPr>
        <p:sp>
          <p:nvSpPr>
            <p:cNvPr id="474" name="Google Shape;474;p11">
              <a:extLst>
                <a:ext uri="{FF2B5EF4-FFF2-40B4-BE49-F238E27FC236}">
                  <a16:creationId xmlns:a16="http://schemas.microsoft.com/office/drawing/2014/main" id="{3C26101F-B2BB-0E85-7CE4-730A3A86C493}"/>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sp>
          <p:nvSpPr>
            <p:cNvPr id="475" name="Google Shape;475;p11">
              <a:extLst>
                <a:ext uri="{FF2B5EF4-FFF2-40B4-BE49-F238E27FC236}">
                  <a16:creationId xmlns:a16="http://schemas.microsoft.com/office/drawing/2014/main" id="{D2ADC3B3-3A67-2E77-E978-727E24A1DB78}"/>
                </a:ext>
              </a:extLst>
            </p:cNvPr>
            <p:cNvSpPr txBox="1"/>
            <p:nvPr/>
          </p:nvSpPr>
          <p:spPr>
            <a:xfrm>
              <a:off x="0" y="-38100"/>
              <a:ext cx="426000" cy="1071300"/>
            </a:xfrm>
            <a:prstGeom prst="rect">
              <a:avLst/>
            </a:prstGeom>
            <a:noFill/>
            <a:ln>
              <a:noFill/>
            </a:ln>
          </p:spPr>
          <p:txBody>
            <a:bodyPr spcFirstLastPara="1" wrap="square" lIns="86000" tIns="86000" rIns="86000" bIns="86000" anchor="ctr" anchorCtr="0">
              <a:noAutofit/>
            </a:bodyPr>
            <a:lstStyle/>
            <a:p>
              <a:pPr marL="0" marR="0" lvl="0" indent="0" algn="ctr" rtl="0">
                <a:lnSpc>
                  <a:spcPct val="124444"/>
                </a:lnSpc>
                <a:spcBef>
                  <a:spcPts val="0"/>
                </a:spcBef>
                <a:spcAft>
                  <a:spcPts val="0"/>
                </a:spcAft>
                <a:buNone/>
              </a:pPr>
              <a:endParaRPr sz="3048" b="0" i="0" u="none" strike="noStrike" cap="none">
                <a:solidFill>
                  <a:schemeClr val="dk1"/>
                </a:solidFill>
                <a:latin typeface="Calibri"/>
                <a:ea typeface="Calibri"/>
                <a:cs typeface="Calibri"/>
                <a:sym typeface="Calibri"/>
              </a:endParaRPr>
            </a:p>
          </p:txBody>
        </p:sp>
      </p:grpSp>
      <p:grpSp>
        <p:nvGrpSpPr>
          <p:cNvPr id="476" name="Google Shape;476;p11">
            <a:extLst>
              <a:ext uri="{FF2B5EF4-FFF2-40B4-BE49-F238E27FC236}">
                <a16:creationId xmlns:a16="http://schemas.microsoft.com/office/drawing/2014/main" id="{D2FBCFD4-0F30-D825-A79C-EC6C16F79A7F}"/>
              </a:ext>
            </a:extLst>
          </p:cNvPr>
          <p:cNvGrpSpPr/>
          <p:nvPr/>
        </p:nvGrpSpPr>
        <p:grpSpPr>
          <a:xfrm>
            <a:off x="0" y="12246916"/>
            <a:ext cx="796949" cy="2004561"/>
            <a:chOff x="0" y="-38100"/>
            <a:chExt cx="426000" cy="1071320"/>
          </a:xfrm>
        </p:grpSpPr>
        <p:sp>
          <p:nvSpPr>
            <p:cNvPr id="477" name="Google Shape;477;p11">
              <a:extLst>
                <a:ext uri="{FF2B5EF4-FFF2-40B4-BE49-F238E27FC236}">
                  <a16:creationId xmlns:a16="http://schemas.microsoft.com/office/drawing/2014/main" id="{C9B53900-7DB7-A4B4-4690-6732A4AB6527}"/>
                </a:ext>
              </a:extLst>
            </p:cNvPr>
            <p:cNvSpPr/>
            <p:nvPr/>
          </p:nvSpPr>
          <p:spPr>
            <a:xfrm>
              <a:off x="0" y="0"/>
              <a:ext cx="425917" cy="1033220"/>
            </a:xfrm>
            <a:custGeom>
              <a:avLst/>
              <a:gdLst/>
              <a:ahLst/>
              <a:cxnLst/>
              <a:rect l="l" t="t" r="r" b="b"/>
              <a:pathLst>
                <a:path w="425917" h="1033220" extrusionOk="0">
                  <a:moveTo>
                    <a:pt x="0" y="0"/>
                  </a:moveTo>
                  <a:lnTo>
                    <a:pt x="425917" y="0"/>
                  </a:lnTo>
                  <a:lnTo>
                    <a:pt x="425917" y="1033220"/>
                  </a:lnTo>
                  <a:lnTo>
                    <a:pt x="0" y="1033220"/>
                  </a:lnTo>
                  <a:close/>
                </a:path>
              </a:pathLst>
            </a:custGeom>
            <a:solidFill>
              <a:srgbClr val="BC182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sp>
          <p:nvSpPr>
            <p:cNvPr id="478" name="Google Shape;478;p11">
              <a:extLst>
                <a:ext uri="{FF2B5EF4-FFF2-40B4-BE49-F238E27FC236}">
                  <a16:creationId xmlns:a16="http://schemas.microsoft.com/office/drawing/2014/main" id="{8E954FC9-6AFE-0BDC-4CF5-B294B0CD346A}"/>
                </a:ext>
              </a:extLst>
            </p:cNvPr>
            <p:cNvSpPr txBox="1"/>
            <p:nvPr/>
          </p:nvSpPr>
          <p:spPr>
            <a:xfrm>
              <a:off x="0" y="-38100"/>
              <a:ext cx="426000" cy="1071300"/>
            </a:xfrm>
            <a:prstGeom prst="rect">
              <a:avLst/>
            </a:prstGeom>
            <a:noFill/>
            <a:ln>
              <a:noFill/>
            </a:ln>
          </p:spPr>
          <p:txBody>
            <a:bodyPr spcFirstLastPara="1" wrap="square" lIns="86000" tIns="86000" rIns="86000" bIns="86000" anchor="ctr" anchorCtr="0">
              <a:noAutofit/>
            </a:bodyPr>
            <a:lstStyle/>
            <a:p>
              <a:pPr marL="0" marR="0" lvl="0" indent="0" algn="ctr" rtl="0">
                <a:lnSpc>
                  <a:spcPct val="124444"/>
                </a:lnSpc>
                <a:spcBef>
                  <a:spcPts val="0"/>
                </a:spcBef>
                <a:spcAft>
                  <a:spcPts val="0"/>
                </a:spcAft>
                <a:buNone/>
              </a:pPr>
              <a:endParaRPr sz="3048" b="0" i="0" u="none" strike="noStrike" cap="none">
                <a:solidFill>
                  <a:schemeClr val="dk1"/>
                </a:solidFill>
                <a:latin typeface="Calibri"/>
                <a:ea typeface="Calibri"/>
                <a:cs typeface="Calibri"/>
                <a:sym typeface="Calibri"/>
              </a:endParaRPr>
            </a:p>
          </p:txBody>
        </p:sp>
      </p:grpSp>
      <p:pic>
        <p:nvPicPr>
          <p:cNvPr id="479" name="Google Shape;479;p11">
            <a:extLst>
              <a:ext uri="{FF2B5EF4-FFF2-40B4-BE49-F238E27FC236}">
                <a16:creationId xmlns:a16="http://schemas.microsoft.com/office/drawing/2014/main" id="{217D92C8-E426-55DE-1DC2-109E92E811FC}"/>
              </a:ext>
            </a:extLst>
          </p:cNvPr>
          <p:cNvPicPr preferRelativeResize="0"/>
          <p:nvPr/>
        </p:nvPicPr>
        <p:blipFill rotWithShape="1">
          <a:blip r:embed="rId6">
            <a:alphaModFix/>
          </a:blip>
          <a:srcRect l="10769" t="43142" r="11752" b="42425"/>
          <a:stretch/>
        </p:blipFill>
        <p:spPr>
          <a:xfrm>
            <a:off x="13624329" y="5363586"/>
            <a:ext cx="10736463" cy="1999650"/>
          </a:xfrm>
          <a:prstGeom prst="rect">
            <a:avLst/>
          </a:prstGeom>
          <a:noFill/>
          <a:ln>
            <a:noFill/>
          </a:ln>
        </p:spPr>
      </p:pic>
      <p:sp>
        <p:nvSpPr>
          <p:cNvPr id="480" name="Google Shape;480;p11">
            <a:extLst>
              <a:ext uri="{FF2B5EF4-FFF2-40B4-BE49-F238E27FC236}">
                <a16:creationId xmlns:a16="http://schemas.microsoft.com/office/drawing/2014/main" id="{E9AFCEF4-DE4B-BDEB-D917-67C9941A05F5}"/>
              </a:ext>
            </a:extLst>
          </p:cNvPr>
          <p:cNvSpPr/>
          <p:nvPr/>
        </p:nvSpPr>
        <p:spPr>
          <a:xfrm>
            <a:off x="14097618" y="8194229"/>
            <a:ext cx="404598" cy="584147"/>
          </a:xfrm>
          <a:custGeom>
            <a:avLst/>
            <a:gdLst/>
            <a:ahLst/>
            <a:cxnLst/>
            <a:rect l="l" t="t" r="r" b="b"/>
            <a:pathLst>
              <a:path w="254190" h="363129" extrusionOk="0">
                <a:moveTo>
                  <a:pt x="0" y="0"/>
                </a:moveTo>
                <a:lnTo>
                  <a:pt x="254190" y="0"/>
                </a:lnTo>
                <a:lnTo>
                  <a:pt x="254190" y="363129"/>
                </a:lnTo>
                <a:lnTo>
                  <a:pt x="0" y="363129"/>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sp>
        <p:nvSpPr>
          <p:cNvPr id="481" name="Google Shape;481;p11">
            <a:extLst>
              <a:ext uri="{FF2B5EF4-FFF2-40B4-BE49-F238E27FC236}">
                <a16:creationId xmlns:a16="http://schemas.microsoft.com/office/drawing/2014/main" id="{C96985C0-9EF3-26DE-82F5-B746789FBB21}"/>
              </a:ext>
            </a:extLst>
          </p:cNvPr>
          <p:cNvSpPr/>
          <p:nvPr/>
        </p:nvSpPr>
        <p:spPr>
          <a:xfrm>
            <a:off x="14142525" y="9255768"/>
            <a:ext cx="405834" cy="577922"/>
          </a:xfrm>
          <a:custGeom>
            <a:avLst/>
            <a:gdLst/>
            <a:ahLst/>
            <a:cxnLst/>
            <a:rect l="l" t="t" r="r" b="b"/>
            <a:pathLst>
              <a:path w="261932" h="359258" extrusionOk="0">
                <a:moveTo>
                  <a:pt x="0" y="0"/>
                </a:moveTo>
                <a:lnTo>
                  <a:pt x="261932" y="0"/>
                </a:lnTo>
                <a:lnTo>
                  <a:pt x="261932" y="359258"/>
                </a:lnTo>
                <a:lnTo>
                  <a:pt x="0" y="359258"/>
                </a:lnTo>
                <a:lnTo>
                  <a:pt x="0" y="0"/>
                </a:lnTo>
                <a:close/>
              </a:path>
            </a:pathLst>
          </a:cu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sp>
        <p:nvSpPr>
          <p:cNvPr id="482" name="Google Shape;482;p11">
            <a:extLst>
              <a:ext uri="{FF2B5EF4-FFF2-40B4-BE49-F238E27FC236}">
                <a16:creationId xmlns:a16="http://schemas.microsoft.com/office/drawing/2014/main" id="{4469D227-2D8C-7898-C5AC-21F56E43D3FA}"/>
              </a:ext>
            </a:extLst>
          </p:cNvPr>
          <p:cNvSpPr/>
          <p:nvPr/>
        </p:nvSpPr>
        <p:spPr>
          <a:xfrm>
            <a:off x="14109022" y="10359161"/>
            <a:ext cx="447557" cy="467731"/>
          </a:xfrm>
          <a:custGeom>
            <a:avLst/>
            <a:gdLst/>
            <a:ahLst/>
            <a:cxnLst/>
            <a:rect l="l" t="t" r="r" b="b"/>
            <a:pathLst>
              <a:path w="285739" h="290761" extrusionOk="0">
                <a:moveTo>
                  <a:pt x="0" y="0"/>
                </a:moveTo>
                <a:lnTo>
                  <a:pt x="285739" y="0"/>
                </a:lnTo>
                <a:lnTo>
                  <a:pt x="285739" y="290761"/>
                </a:lnTo>
                <a:lnTo>
                  <a:pt x="0" y="290761"/>
                </a:lnTo>
                <a:lnTo>
                  <a:pt x="0" y="0"/>
                </a:lnTo>
                <a:close/>
              </a:path>
            </a:pathLst>
          </a:cu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sp>
        <p:nvSpPr>
          <p:cNvPr id="483" name="Google Shape;483;p11">
            <a:extLst>
              <a:ext uri="{FF2B5EF4-FFF2-40B4-BE49-F238E27FC236}">
                <a16:creationId xmlns:a16="http://schemas.microsoft.com/office/drawing/2014/main" id="{5D895121-DA3F-4B58-3FA8-F0E90401EDDA}"/>
              </a:ext>
            </a:extLst>
          </p:cNvPr>
          <p:cNvSpPr/>
          <p:nvPr/>
        </p:nvSpPr>
        <p:spPr>
          <a:xfrm>
            <a:off x="14075968" y="11425206"/>
            <a:ext cx="463803" cy="407138"/>
          </a:xfrm>
          <a:custGeom>
            <a:avLst/>
            <a:gdLst/>
            <a:ahLst/>
            <a:cxnLst/>
            <a:rect l="l" t="t" r="r" b="b"/>
            <a:pathLst>
              <a:path w="297720" h="253092" extrusionOk="0">
                <a:moveTo>
                  <a:pt x="0" y="0"/>
                </a:moveTo>
                <a:lnTo>
                  <a:pt x="297719" y="0"/>
                </a:lnTo>
                <a:lnTo>
                  <a:pt x="297719" y="253092"/>
                </a:lnTo>
                <a:lnTo>
                  <a:pt x="0" y="253092"/>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741" b="0" i="0" u="none" strike="noStrike" cap="none">
              <a:solidFill>
                <a:srgbClr val="000000"/>
              </a:solidFill>
              <a:latin typeface="Arial"/>
              <a:ea typeface="Arial"/>
              <a:cs typeface="Arial"/>
              <a:sym typeface="Arial"/>
            </a:endParaRPr>
          </a:p>
        </p:txBody>
      </p:sp>
      <p:sp>
        <p:nvSpPr>
          <p:cNvPr id="485" name="Google Shape;485;p11">
            <a:extLst>
              <a:ext uri="{FF2B5EF4-FFF2-40B4-BE49-F238E27FC236}">
                <a16:creationId xmlns:a16="http://schemas.microsoft.com/office/drawing/2014/main" id="{0869BDFF-6D33-C676-982C-0C10FA4C733C}"/>
              </a:ext>
            </a:extLst>
          </p:cNvPr>
          <p:cNvSpPr txBox="1"/>
          <p:nvPr/>
        </p:nvSpPr>
        <p:spPr>
          <a:xfrm>
            <a:off x="14830021" y="11245865"/>
            <a:ext cx="14392508" cy="72975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350">
                <a:solidFill>
                  <a:srgbClr val="FFFFFF"/>
                </a:solidFill>
                <a:latin typeface="Calibri"/>
                <a:ea typeface="Calibri"/>
                <a:cs typeface="Calibri"/>
                <a:sym typeface="Calibri"/>
              </a:rPr>
              <a:t>bod</a:t>
            </a:r>
            <a:r>
              <a:rPr lang="en-US" sz="3350" b="0" i="0" u="none" strike="noStrike" cap="none">
                <a:solidFill>
                  <a:srgbClr val="FFFFFF"/>
                </a:solidFill>
                <a:latin typeface="Calibri"/>
                <a:ea typeface="Calibri"/>
                <a:cs typeface="Calibri"/>
                <a:sym typeface="Calibri"/>
              </a:rPr>
              <a:t>@vietsol.com.vn</a:t>
            </a:r>
            <a:endParaRPr sz="3350" b="0" i="0" u="none" strike="noStrike" cap="none">
              <a:solidFill>
                <a:srgbClr val="000000"/>
              </a:solidFill>
              <a:latin typeface="Arial"/>
              <a:ea typeface="Arial"/>
              <a:cs typeface="Arial"/>
              <a:sym typeface="Arial"/>
            </a:endParaRPr>
          </a:p>
        </p:txBody>
      </p:sp>
      <p:pic>
        <p:nvPicPr>
          <p:cNvPr id="1026" name="Picture 2">
            <a:extLst>
              <a:ext uri="{FF2B5EF4-FFF2-40B4-BE49-F238E27FC236}">
                <a16:creationId xmlns:a16="http://schemas.microsoft.com/office/drawing/2014/main" id="{E48597B5-1D2C-0152-A265-B6B9F985EC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42966" y="12252670"/>
            <a:ext cx="4046029" cy="4046029"/>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A6D140F7-F83B-2902-0551-72C173CE4D0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48" b="0" i="0" u="none" strike="noStrike" kern="0" cap="none" spc="0" normalizeH="0" baseline="0" noProof="0">
                <a:ln>
                  <a:noFill/>
                </a:ln>
                <a:solidFill>
                  <a:srgbClr val="FF0000"/>
                </a:solidFill>
                <a:effectLst/>
                <a:uLnTx/>
                <a:uFillTx/>
                <a:latin typeface="Arial"/>
                <a:cs typeface="Arial"/>
                <a:sym typeface="Arial"/>
              </a:rPr>
              <a:t>Strictly Confidential</a:t>
            </a:r>
          </a:p>
        </p:txBody>
      </p:sp>
      <p:sp>
        <p:nvSpPr>
          <p:cNvPr id="6" name="Slide Number Placeholder 5">
            <a:extLst>
              <a:ext uri="{FF2B5EF4-FFF2-40B4-BE49-F238E27FC236}">
                <a16:creationId xmlns:a16="http://schemas.microsoft.com/office/drawing/2014/main" id="{6B2E6E98-A44D-02CC-C3E3-B2A8D7C45F52}"/>
              </a:ext>
            </a:extLst>
          </p:cNvPr>
          <p:cNvSpPr>
            <a:spLocks noGrp="1"/>
          </p:cNvSpPr>
          <p:nvPr>
            <p:ph type="sldNum" sz="quarter" idx="12"/>
          </p:nvPr>
        </p:nvSpPr>
        <p:spPr/>
        <p:txBody>
          <a:bodyPr/>
          <a:lstStyle/>
          <a:p>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fld id="{0AEEFFE0-C694-454D-83EC-E213498930A2}" type="slidenum">
              <a:rPr lang="en-US" smtClean="0">
                <a:solidFill>
                  <a:prstClr val="black">
                    <a:tint val="75000"/>
                  </a:prstClr>
                </a:solidFill>
              </a:rPr>
              <a:pPr marL="0" marR="0" lvl="0" indent="0" algn="r" defTabSz="1548354" rtl="0" eaLnBrk="1" fontAlgn="auto" latinLnBrk="0" hangingPunct="1">
                <a:lnSpc>
                  <a:spcPct val="100000"/>
                </a:lnSpc>
                <a:spcBef>
                  <a:spcPts val="0"/>
                </a:spcBef>
                <a:spcAft>
                  <a:spcPts val="0"/>
                </a:spcAft>
                <a:buClr>
                  <a:srgbClr val="000000"/>
                </a:buClr>
                <a:buSzTx/>
                <a:buFont typeface="Arial"/>
                <a:buNone/>
                <a:tabLst/>
                <a:defRPr/>
              </a:pPr>
              <a:t>17</a:t>
            </a:fld>
            <a:r>
              <a:rPr lang="en-US">
                <a:solidFill>
                  <a:prstClr val="black">
                    <a:tint val="75000"/>
                  </a:prstClr>
                </a:solidFill>
              </a:rPr>
              <a:t>/16</a:t>
            </a:r>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2" name="Date Placeholder 1">
            <a:extLst>
              <a:ext uri="{FF2B5EF4-FFF2-40B4-BE49-F238E27FC236}">
                <a16:creationId xmlns:a16="http://schemas.microsoft.com/office/drawing/2014/main" id="{3141CEA0-3FE2-2D9B-64B5-911796E05FA4}"/>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350C277D-C011-426A-AB30-40E04A3F0F7F}" type="datetime1">
              <a:rPr kumimoji="0" lang="en-US" sz="3048" b="0" i="0" u="none" strike="noStrike" kern="0" cap="none" spc="0" normalizeH="0" baseline="0" noProof="0" smtClean="0">
                <a:ln>
                  <a:noFill/>
                </a:ln>
                <a:solidFill>
                  <a:prstClr val="black">
                    <a:tint val="75000"/>
                  </a:prstClr>
                </a:solidFill>
                <a:effectLst/>
                <a:uLnTx/>
                <a:uFillTx/>
                <a:latin typeface="Arial"/>
                <a:cs typeface="Arial"/>
                <a:sym typeface="Arial"/>
              </a:rPr>
              <a:t>3/16/2026</a:t>
            </a:fld>
            <a:endParaRPr kumimoji="0" lang="en-US" sz="3048" b="0" i="0" u="none" strike="noStrike" kern="0" cap="none" spc="0" normalizeH="0" baseline="0" noProof="0">
              <a:ln>
                <a:noFill/>
              </a:ln>
              <a:solidFill>
                <a:prstClr val="black">
                  <a:tint val="75000"/>
                </a:prstClr>
              </a:solidFill>
              <a:effectLst/>
              <a:uLnTx/>
              <a:uFillTx/>
              <a:latin typeface="Arial"/>
              <a:cs typeface="Arial"/>
              <a:sym typeface="Arial"/>
            </a:endParaRPr>
          </a:p>
        </p:txBody>
      </p:sp>
    </p:spTree>
    <p:extLst>
      <p:ext uri="{BB962C8B-B14F-4D97-AF65-F5344CB8AC3E}">
        <p14:creationId xmlns:p14="http://schemas.microsoft.com/office/powerpoint/2010/main" val="1115760262"/>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DA1D9B35B40A43A69C1F2CADC377C7" ma:contentTypeVersion="17" ma:contentTypeDescription="Create a new document." ma:contentTypeScope="" ma:versionID="ec6ac902e5da83830651a4ec4a20a72d">
  <xsd:schema xmlns:xsd="http://www.w3.org/2001/XMLSchema" xmlns:xs="http://www.w3.org/2001/XMLSchema" xmlns:p="http://schemas.microsoft.com/office/2006/metadata/properties" xmlns:ns3="3192b55b-fad6-4826-a1ec-5c6fbd97f20b" xmlns:ns4="a56ed7d8-a1a9-4f6b-95cf-4bdde525d2ef" targetNamespace="http://schemas.microsoft.com/office/2006/metadata/properties" ma:root="true" ma:fieldsID="95589f4565c39e6d0b49a729f7cd4d03" ns3:_="" ns4:_="">
    <xsd:import namespace="3192b55b-fad6-4826-a1ec-5c6fbd97f20b"/>
    <xsd:import namespace="a56ed7d8-a1a9-4f6b-95cf-4bdde525d2e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LengthInSeconds" minOccurs="0"/>
                <xsd:element ref="ns4:SharedWithUsers" minOccurs="0"/>
                <xsd:element ref="ns4:SharedWithDetails" minOccurs="0"/>
                <xsd:element ref="ns4:SharingHintHash" minOccurs="0"/>
                <xsd:element ref="ns3:_activity" minOccurs="0"/>
                <xsd:element ref="ns3:MediaServiceOCR" minOccurs="0"/>
                <xsd:element ref="ns3:MediaServiceGenerationTime" minOccurs="0"/>
                <xsd:element ref="ns3:MediaServiceEventHashCode" minOccurs="0"/>
                <xsd:element ref="ns3:MediaServiceLocation" minOccurs="0"/>
                <xsd:element ref="ns3:MediaServiceObjectDetectorVersions" minOccurs="0"/>
                <xsd:element ref="ns3:MediaServiceSearchProperties" minOccurs="0"/>
                <xsd:element ref="ns3:MediaServiceSystemTag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92b55b-fad6-4826-a1ec-5c6fbd97f2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56ed7d8-a1a9-4f6b-95cf-4bdde525d2ef"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192b55b-fad6-4826-a1ec-5c6fbd97f20b" xsi:nil="true"/>
  </documentManagement>
</p:properties>
</file>

<file path=customXml/itemProps1.xml><?xml version="1.0" encoding="utf-8"?>
<ds:datastoreItem xmlns:ds="http://schemas.openxmlformats.org/officeDocument/2006/customXml" ds:itemID="{7736478A-A102-4D2B-8EB6-6FE0E8635916}">
  <ds:schemaRefs>
    <ds:schemaRef ds:uri="3192b55b-fad6-4826-a1ec-5c6fbd97f20b"/>
    <ds:schemaRef ds:uri="a56ed7d8-a1a9-4f6b-95cf-4bdde525d2e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A99EAE7-60D8-479F-8912-F251071610E9}">
  <ds:schemaRefs>
    <ds:schemaRef ds:uri="http://schemas.microsoft.com/sharepoint/v3/contenttype/forms"/>
  </ds:schemaRefs>
</ds:datastoreItem>
</file>

<file path=customXml/itemProps3.xml><?xml version="1.0" encoding="utf-8"?>
<ds:datastoreItem xmlns:ds="http://schemas.openxmlformats.org/officeDocument/2006/customXml" ds:itemID="{579B3DF2-0272-48AD-880B-E4A2BE1E53A1}">
  <ds:schemaRefs>
    <ds:schemaRef ds:uri="http://purl.org/dc/terms/"/>
    <ds:schemaRef ds:uri="http://purl.org/dc/elements/1.1/"/>
    <ds:schemaRef ds:uri="http://schemas.microsoft.com/office/2006/metadata/properties"/>
    <ds:schemaRef ds:uri="3192b55b-fad6-4826-a1ec-5c6fbd97f20b"/>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a56ed7d8-a1a9-4f6b-95cf-4bdde525d2ef"/>
  </ds:schemaRefs>
</ds:datastoreItem>
</file>

<file path=docMetadata/LabelInfo.xml><?xml version="1.0" encoding="utf-8"?>
<clbl:labelList xmlns:clbl="http://schemas.microsoft.com/office/2020/mipLabelMetadata">
  <clbl:label id="{72dd8213-d7fc-4bc4-bab2-02bd01661107}" enabled="0" method="" siteId="{72dd8213-d7fc-4bc4-bab2-02bd01661107}" removed="1"/>
</clbl:labelList>
</file>

<file path=docProps/app.xml><?xml version="1.0" encoding="utf-8"?>
<Properties xmlns="http://schemas.openxmlformats.org/officeDocument/2006/extended-properties" xmlns:vt="http://schemas.openxmlformats.org/officeDocument/2006/docPropsVTypes">
  <Template/>
  <TotalTime>586</TotalTime>
  <Words>1867</Words>
  <Application>Microsoft Office PowerPoint</Application>
  <PresentationFormat>Custom</PresentationFormat>
  <Paragraphs>230</Paragraphs>
  <Slides>17</Slides>
  <Notes>13</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Nguyễn Đức Anh</dc:creator>
  <cp:lastModifiedBy>Diem Vo Tuan Ngoc</cp:lastModifiedBy>
  <cp:revision>49</cp:revision>
  <dcterms:created xsi:type="dcterms:W3CDTF">2023-04-09T12:14:50Z</dcterms:created>
  <dcterms:modified xsi:type="dcterms:W3CDTF">2026-03-16T23:11:10Z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0x01010060DA1D9B35B40A43A69C1F2CADC377C7</vt:lpwstr>
  </property>
</Properties>
</file>