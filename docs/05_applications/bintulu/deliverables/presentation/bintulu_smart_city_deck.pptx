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Bintulu Smart City
AI-Powered Urban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CCDD"/>
                </a:solidFill>
                <a:latin typeface="Calibri"/>
              </a:rPr>
              <a:t>Prepared for Bintulu Development Authority (BDA) | March 2026</a:t>
            </a:r>
          </a:p>
          <a:p>
            <a:pPr algn="ctr">
              <a:spcBef>
                <a:spcPts val="1200"/>
              </a:spcBef>
            </a:pPr>
            <a:r>
              <a:rPr sz="2000" b="1" i="0">
                <a:solidFill>
                  <a:srgbClr val="4472C4"/>
                </a:solidFill>
                <a:latin typeface="Calibri"/>
              </a:rPr>
              <a:t>VIETSOL + ESP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3520440"/>
            <a:ext cx="274320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Today's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❶  Smart Parking Solution (UC2) — 7,000 bays, AI-powered occupancy &amp; ANPR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❷  AI Traffic Light Solution (UC1) — adaptive signal control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❸  Shared Platform Architecture — unified management across use cases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❹  Investment &amp; Timeline — cost breakdown, phased delivery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❺  Next Steps — pilot selection, project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7,000 parking bays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managed with AI-powered camera-based detection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$450K total investment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for full parking solution — 3-5x cheaper than sensor-based alternatives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$20K per intersection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for AI traffic light — 55% below market median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95% detection accuracy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using proven AI detection algorithms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10-month delivery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from kickoff to full operational handover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Zero AI licensing fees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open-source models, no per-device charges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Edge processing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all AI runs locally, only metadata sent to cloud (privacy by design)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Challenge — Parking in Bintulu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7,000 parking bays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across multiple zones with no real-time visibility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Manual enforcement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labour-intensive patrols, inconsistent coverage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No occupancy data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drivers circle looking for bays, increasing congestion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Revenue leakage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MYR 0.50/hr rate with limited compliance monitoring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Safety blind spots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no automated detection of incidents in parking areas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No analytics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city planners lack data for capacity and 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Our Solution — Smart Parking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38447" y="164592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IP Cameras
140 Occupancy + 30 ANPR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35827" y="2560320"/>
            <a:ext cx="320040" cy="50292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447" y="2560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2E5090"/>
                </a:solidFill>
                <a:latin typeface="Calibri"/>
              </a:rPr>
              <a:t>RTSP Video Streams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8447" y="310896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Edge AI Boxes
15 Units — Local AI Processing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35827" y="4023360"/>
            <a:ext cx="320040" cy="50292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4023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2E5090"/>
                </a:solidFill>
                <a:latin typeface="Calibri"/>
              </a:rPr>
              <a:t>Metadata Only (MQTT)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38447" y="457200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Central Platform
Dashboard • Analytics • 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Smart Parking —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Bay Occupancy Detection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95% accuracy, real-time status per bay using AI vision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ANPR (Automatic Number Plate Recognition)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95%+ recognition, entry/exit logging, violation tracking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Safety Monitoring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loitering detection, zone intrusion alerts, fall detection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Violation Detection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double parking, obstruction, unauthorised zone usage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Real-Time Guidance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LED signage with available bay counts, mobile app wayfinding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Analytics Dashboard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occupancy trends, peak-hour analysis, revenue reports, exportable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How It Works — Detection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3767" y="2926080"/>
            <a:ext cx="1828800" cy="118872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Camera
Captures
Frame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12567" y="3383280"/>
            <a:ext cx="3200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32607" y="2926080"/>
            <a:ext cx="1828800" cy="118872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Edge AI
Detects
Vehicles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1407" y="3383280"/>
            <a:ext cx="3200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1447" y="2926080"/>
            <a:ext cx="1828800" cy="118872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Bay ROI
Matching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10247" y="3383280"/>
            <a:ext cx="3200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30287" y="2926080"/>
            <a:ext cx="1828800" cy="118872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Occupancy
Status
Published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59087" y="3383280"/>
            <a:ext cx="3200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79127" y="2926080"/>
            <a:ext cx="1828800" cy="11887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Dashboard +
LED Signs
Updated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Cost Comparison — Camera-Based AI vs. Sensor-Based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Camera-Based (Ours)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Sensor-Based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Detection Hardware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$115K (170 cameras)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$2.1–$3.5M (7,000 sensors)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Edge AI Compute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$37.5K (15 AI boxes)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$20–$50K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Installation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$700K–$1.4M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Software &amp; Platform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$180K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$50–$200K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D8B4E"/>
                          </a:solidFill>
                          <a:latin typeface="Calibri"/>
                        </a:rPr>
                        <a:t>Year 1 Total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D8B4E"/>
                          </a:solidFill>
                          <a:latin typeface="Calibri"/>
                        </a:rPr>
                        <a:t>$450K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D8B4E"/>
                          </a:solidFill>
                          <a:latin typeface="Calibri"/>
                        </a:rPr>
                        <a:t>$2.97–$5.45M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D8B4E"/>
                          </a:solidFill>
                          <a:latin typeface="Calibri"/>
                        </a:rPr>
                        <a:t>Per-Bay Cost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D8B4E"/>
                          </a:solidFill>
                          <a:latin typeface="Calibri"/>
                        </a:rPr>
                        <a:t>~$64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D8B4E"/>
                          </a:solidFill>
                          <a:latin typeface="Calibri"/>
                        </a:rPr>
                        <a:t>$400–$750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8B4E"/>
                </a:solidFill>
                <a:latin typeface="Calibri"/>
              </a:rPr>
              <a:t>⭐  3–5x cost advantage with camera-based AI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Smart Parking — Deployment Timeline (10 Months)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7772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Key Activities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1–4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AI model training &amp; validation, platform development, ANPR pipeline, hardware 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Pilot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5–6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500–1,000 bay pilot zone, real-world testing, accuracy fine-tuning, stakeholder feedback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Full Rollout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7–8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All 7,000 bays operational, LED signage installed, mobile app launch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Acceptance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9–10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30-day acceptance testing, staff training, documentation, formal handover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Smart Parking — Acceptance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62179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Measurement Method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Bay Occupancy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≥95%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Ground truth audit — 500+ bays sampled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ANPR Recognition (Day)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≥95%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Manual plate verification — 1,000+ plates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Detection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≤5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Timestamp logs — camera frame to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Safety Alert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≥85%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Reviewed alert samples over 30-day period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Violation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≥80%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Spot checks vs. manual patrol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System Uptime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≥99.5%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Server monitoring — 30-day rolling window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Revenue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≥98%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Reconciliation with manual collection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Challenge — Traffic Congestion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Growing vehicle volume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Bintulu's development is increasing road traffic year-on-year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Fixed-time signals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no responsiveness to real-time traffic conditions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Global ATCS market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growing from $7B to $14B — proven demand for adaptive solutions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No real-time visibility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traffic engineers lack live data for decision-making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Incident response delays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no automated detection of stalled vehicles or accidents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Pedestrian safety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fixed timing does not account for pedestrian flow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AI Traffic Light — Solution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047" y="22860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 Cameras
Per Intersection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24047" y="2606040"/>
            <a:ext cx="45720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81247" y="22860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Edge AI Box
Detection +
Classification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7247" y="2606040"/>
            <a:ext cx="45720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4447" y="22860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Signal
Controller
Phase Optimiser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10447" y="2606040"/>
            <a:ext cx="45720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67647" y="22860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Traffic
Signals
Adaptive Timing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047" y="1965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2E5090"/>
                </a:solidFill>
                <a:latin typeface="Calibri"/>
              </a:rPr>
              <a:t>RTSP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7247" y="1965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2E5090"/>
                </a:solidFill>
                <a:latin typeface="Calibri"/>
              </a:rPr>
              <a:t>Queue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0447" y="1965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2E5090"/>
                </a:solidFill>
                <a:latin typeface="Calibri"/>
              </a:rPr>
              <a:t>NTCIP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404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⚠  Failsafe: automatic revert to fixed timing on any AI component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AI Traffic Light —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Vehicle Detection &amp; Classification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6 vehicle classes, 90%+ detection accuracy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Adaptive Signal Timing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real-time phase adjustment based on queue length, &lt;2s response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Multi-Lane Monitoring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per-lane queue measurement, flow rate, turning counts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Incident Detection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stalled vehicles, wrong-way driving, abnormal congestion alerts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Emergency Vehicle Priority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signal preemption for ambulances, fire trucks, police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Central Dashboard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all intersections on one screen, historical analytics,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AI Traffic Control — Proven Results Worldwide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City / Region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Documented Result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Pittsburgh, PA (USA)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25% reduction in travel time across corridors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Tucson, AZ (USA)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23% delay reduction, 1.25M+ driver hours saved annually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London (UK)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30% travel time reduction on managed corridors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Las Vegas, NV (USA)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17% crash reduction at AI-managed intersections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Florida (USA, statewide)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State DOT-approved AI traffic deployment across multiple districts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AI Traffic Light — Cost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$20,000 per intersection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55% below the $45K global market median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Shared platform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from Smart Parking reduces incremental software investment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Standard industrial hardware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no proprietary lock-in, same edge AI boxes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NTCIP protocol compatible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integrates with existing signal controllers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Phase 2 deployment: months 8–14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overlaps with parking full rollout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Scalable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add intersections incrementally at $20K each, no platform changes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Failsafe design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automatic revert to fixed timing if any AI component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Shared 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743200" cy="82296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Parking Zones
7,000 Bays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2743200" cy="82296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Intersections
Traffic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28600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Edge AI Boxes
Local Processing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2103120"/>
            <a:ext cx="5486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291840" y="3383280"/>
            <a:ext cx="5486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60" y="18288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Central Management
Platform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00800" y="2743200"/>
            <a:ext cx="5486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0" y="320040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84048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Mobile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48056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LED Signs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512064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Signal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Why VIETSOL + ESP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VIETSOL + ESP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Typical Competitor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AI Licensing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Zero fees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Per-device annual fees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Standard industrial processors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Proprietary lock-in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CCTV Reuse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Any RTSP/ONVIF camera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Requires proprietary cameras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Parking Cost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$450K for 7,000 bays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$2–$5M (sensor-based)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Traffic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$20K/intersection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$45K median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Privacy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Edge processing, metadata only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Cloud video processing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Local Presence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ESP (Bintulu) + VIETSOL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Foreign vendor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Customisation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Fully configurable &amp; open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Calibri"/>
                        </a:rPr>
                        <a:t>Black box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Investment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34747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Investment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anchor="ctr">
                    <a:solidFill>
                      <a:srgbClr val="2E509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Smart Parking (UC2)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$450,000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7,000 bays end-to-end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Months 1–10</a:t>
                      </a:r>
                    </a:p>
                  </a:txBody>
                  <a:tcPr anchor="ctr">
                    <a:solidFill>
                      <a:srgbClr val="E8F4E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AI Traffic Light (UC1)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$20,000 / intersection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Per intersection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Months 8–14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Shared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Backend + Dashboard + Mobile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333333"/>
                          </a:solidFill>
                          <a:latin typeface="Calibri"/>
                        </a:rPr>
                        <a:t>Months 3–4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2860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❶  </a:t>
            </a:r>
            <a:r>
              <a:rPr sz="2000" b="1" i="0">
                <a:solidFill>
                  <a:srgbClr val="1B2A4A"/>
                </a:solidFill>
                <a:latin typeface="Calibri"/>
              </a:rPr>
              <a:t>Site survey and infrastructure assessment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camera mounting points, network, power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❷  </a:t>
            </a:r>
            <a:r>
              <a:rPr sz="2000" b="1" i="0">
                <a:solidFill>
                  <a:srgbClr val="1B2A4A"/>
                </a:solidFill>
                <a:latin typeface="Calibri"/>
              </a:rPr>
              <a:t>Pilot zone selection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500–1,000 bays for initial deployment and validation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❸  </a:t>
            </a:r>
            <a:r>
              <a:rPr sz="2000" b="1" i="0">
                <a:solidFill>
                  <a:srgbClr val="1B2A4A"/>
                </a:solidFill>
                <a:latin typeface="Calibri"/>
              </a:rPr>
              <a:t>Detailed project plan and agreement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scope, milestones, acceptance criteria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❹  </a:t>
            </a:r>
            <a:r>
              <a:rPr sz="2000" b="1" i="0">
                <a:solidFill>
                  <a:srgbClr val="1B2A4A"/>
                </a:solidFill>
                <a:latin typeface="Calibri"/>
              </a:rPr>
              <a:t>Kickoff within 4 weeks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of agreement — hardware ordering, AI training begins</a:t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We are ready to begin immediately.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Strictly Confidential | VIETSOL + ESP | March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CCDD"/>
                </a:solidFill>
                <a:latin typeface="Calibri"/>
              </a:rPr>
              <a:t>VIETSOL + ESP</a:t>
            </a:r>
          </a:p>
          <a:p>
            <a:pPr algn="ctr">
              <a:spcBef>
                <a:spcPts val="1200"/>
              </a:spcBef>
            </a:pPr>
            <a:r>
              <a:rPr sz="2000" b="1" i="0">
                <a:solidFill>
                  <a:srgbClr val="4472C4"/>
                </a:solidFill>
                <a:latin typeface="Calibri"/>
              </a:rPr>
              <a:t>Contact: [Name] | [Email] | [Phone]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3520440"/>
            <a:ext cx="274320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